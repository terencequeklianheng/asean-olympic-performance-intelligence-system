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8.xml" ContentType="application/vnd.openxmlformats-officedocument.presentationml.notesSlide+xml"/>
  <Override PartName="/ppt/charts/chart6.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563" autoAdjust="0"/>
    <p:restoredTop sz="94660"/>
  </p:normalViewPr>
  <p:slideViewPr>
    <p:cSldViewPr snapToGrid="0">
      <p:cViewPr varScale="1">
        <p:scale>
          <a:sx n="105" d="100"/>
          <a:sy n="105" d="100"/>
        </p:scale>
        <p:origin x="34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200" b="1">
                <a:solidFill>
                  <a:srgbClr val="071B33"/>
                </a:solidFill>
                <a:latin typeface="Carlito"/>
                <a:ea typeface="Carlito"/>
                <a:cs typeface="Carlito"/>
              </a:rPr>
              <a:t>Summer athlete-event participation by gender</a:t>
            </a:r>
          </a:p>
        </c:rich>
      </c:tx>
      <c:overlay val="0"/>
    </c:title>
    <c:autoTitleDeleted val="0"/>
    <c:plotArea>
      <c:layout/>
      <c:lineChart>
        <c:grouping val="standard"/>
        <c:varyColors val="0"/>
        <c:ser>
          <c:idx val="0"/>
          <c:order val="0"/>
          <c:tx>
            <c:v>Female</c:v>
          </c:tx>
          <c:spPr>
            <a:ln w="28575">
              <a:solidFill>
                <a:srgbClr val="D4AF37"/>
              </a:solidFill>
              <a:prstDash val="solid"/>
            </a:ln>
          </c:spPr>
          <c:marker>
            <c:symbol val="circle"/>
            <c:size val="4"/>
            <c:spPr>
              <a:solidFill>
                <a:srgbClr val="D4AF37"/>
              </a:solidFill>
            </c:spPr>
          </c:marker>
          <c:cat>
            <c:numLit>
              <c:formatCode>General</c:formatCode>
              <c:ptCount val="22"/>
              <c:pt idx="0">
                <c:v>1924</c:v>
              </c:pt>
              <c:pt idx="1">
                <c:v>1928</c:v>
              </c:pt>
              <c:pt idx="2">
                <c:v>1932</c:v>
              </c:pt>
              <c:pt idx="3">
                <c:v>1936</c:v>
              </c:pt>
              <c:pt idx="4">
                <c:v>1948</c:v>
              </c:pt>
              <c:pt idx="5">
                <c:v>1952</c:v>
              </c:pt>
              <c:pt idx="6">
                <c:v>1956</c:v>
              </c:pt>
              <c:pt idx="7">
                <c:v>1960</c:v>
              </c:pt>
              <c:pt idx="8">
                <c:v>1964</c:v>
              </c:pt>
              <c:pt idx="9">
                <c:v>1968</c:v>
              </c:pt>
              <c:pt idx="10">
                <c:v>1972</c:v>
              </c:pt>
              <c:pt idx="11">
                <c:v>1976</c:v>
              </c:pt>
              <c:pt idx="12">
                <c:v>1980</c:v>
              </c:pt>
              <c:pt idx="13">
                <c:v>1984</c:v>
              </c:pt>
              <c:pt idx="14">
                <c:v>1988</c:v>
              </c:pt>
              <c:pt idx="15">
                <c:v>1992</c:v>
              </c:pt>
              <c:pt idx="16">
                <c:v>1996</c:v>
              </c:pt>
              <c:pt idx="17">
                <c:v>2000</c:v>
              </c:pt>
              <c:pt idx="18">
                <c:v>2004</c:v>
              </c:pt>
              <c:pt idx="19">
                <c:v>2008</c:v>
              </c:pt>
              <c:pt idx="20">
                <c:v>2012</c:v>
              </c:pt>
              <c:pt idx="21">
                <c:v>2016</c:v>
              </c:pt>
            </c:numLit>
          </c:cat>
          <c:val>
            <c:numLit>
              <c:formatCode>General</c:formatCode>
              <c:ptCount val="22"/>
              <c:pt idx="0">
                <c:v>0</c:v>
              </c:pt>
              <c:pt idx="1">
                <c:v>0</c:v>
              </c:pt>
              <c:pt idx="2">
                <c:v>0</c:v>
              </c:pt>
              <c:pt idx="3">
                <c:v>0</c:v>
              </c:pt>
              <c:pt idx="4">
                <c:v>0</c:v>
              </c:pt>
              <c:pt idx="5">
                <c:v>2</c:v>
              </c:pt>
              <c:pt idx="6">
                <c:v>11</c:v>
              </c:pt>
              <c:pt idx="7">
                <c:v>7</c:v>
              </c:pt>
              <c:pt idx="8">
                <c:v>30</c:v>
              </c:pt>
              <c:pt idx="9">
                <c:v>12</c:v>
              </c:pt>
              <c:pt idx="10">
                <c:v>23</c:v>
              </c:pt>
              <c:pt idx="11">
                <c:v>14</c:v>
              </c:pt>
              <c:pt idx="12">
                <c:v>12</c:v>
              </c:pt>
              <c:pt idx="13">
                <c:v>27</c:v>
              </c:pt>
              <c:pt idx="14">
                <c:v>34</c:v>
              </c:pt>
              <c:pt idx="15">
                <c:v>87</c:v>
              </c:pt>
              <c:pt idx="16">
                <c:v>68</c:v>
              </c:pt>
              <c:pt idx="17">
                <c:v>96</c:v>
              </c:pt>
              <c:pt idx="18">
                <c:v>80</c:v>
              </c:pt>
              <c:pt idx="19">
                <c:v>102</c:v>
              </c:pt>
              <c:pt idx="20">
                <c:v>98</c:v>
              </c:pt>
              <c:pt idx="21">
                <c:v>112</c:v>
              </c:pt>
            </c:numLit>
          </c:val>
          <c:smooth val="1"/>
          <c:extLst>
            <c:ext xmlns:c16="http://schemas.microsoft.com/office/drawing/2014/chart" uri="{C3380CC4-5D6E-409C-BE32-E72D297353CC}">
              <c16:uniqueId val="{00000000-A959-4B46-A4B2-6883F7C81F7C}"/>
            </c:ext>
          </c:extLst>
        </c:ser>
        <c:ser>
          <c:idx val="1"/>
          <c:order val="1"/>
          <c:tx>
            <c:v>Male</c:v>
          </c:tx>
          <c:spPr>
            <a:ln w="28575">
              <a:solidFill>
                <a:srgbClr val="0E2B4D"/>
              </a:solidFill>
              <a:prstDash val="solid"/>
            </a:ln>
          </c:spPr>
          <c:marker>
            <c:symbol val="none"/>
          </c:marker>
          <c:cat>
            <c:numLit>
              <c:formatCode>General</c:formatCode>
              <c:ptCount val="22"/>
              <c:pt idx="0">
                <c:v>1924</c:v>
              </c:pt>
              <c:pt idx="1">
                <c:v>1928</c:v>
              </c:pt>
              <c:pt idx="2">
                <c:v>1932</c:v>
              </c:pt>
              <c:pt idx="3">
                <c:v>1936</c:v>
              </c:pt>
              <c:pt idx="4">
                <c:v>1948</c:v>
              </c:pt>
              <c:pt idx="5">
                <c:v>1952</c:v>
              </c:pt>
              <c:pt idx="6">
                <c:v>1956</c:v>
              </c:pt>
              <c:pt idx="7">
                <c:v>1960</c:v>
              </c:pt>
              <c:pt idx="8">
                <c:v>1964</c:v>
              </c:pt>
              <c:pt idx="9">
                <c:v>1968</c:v>
              </c:pt>
              <c:pt idx="10">
                <c:v>1972</c:v>
              </c:pt>
              <c:pt idx="11">
                <c:v>1976</c:v>
              </c:pt>
              <c:pt idx="12">
                <c:v>1980</c:v>
              </c:pt>
              <c:pt idx="13">
                <c:v>1984</c:v>
              </c:pt>
              <c:pt idx="14">
                <c:v>1988</c:v>
              </c:pt>
              <c:pt idx="15">
                <c:v>1992</c:v>
              </c:pt>
              <c:pt idx="16">
                <c:v>1996</c:v>
              </c:pt>
              <c:pt idx="17">
                <c:v>2000</c:v>
              </c:pt>
              <c:pt idx="18">
                <c:v>2004</c:v>
              </c:pt>
              <c:pt idx="19">
                <c:v>2008</c:v>
              </c:pt>
              <c:pt idx="20">
                <c:v>2012</c:v>
              </c:pt>
              <c:pt idx="21">
                <c:v>2016</c:v>
              </c:pt>
            </c:numLit>
          </c:cat>
          <c:val>
            <c:numLit>
              <c:formatCode>General</c:formatCode>
              <c:ptCount val="22"/>
              <c:pt idx="0">
                <c:v>2</c:v>
              </c:pt>
              <c:pt idx="1">
                <c:v>6</c:v>
              </c:pt>
              <c:pt idx="2">
                <c:v>8</c:v>
              </c:pt>
              <c:pt idx="3">
                <c:v>40</c:v>
              </c:pt>
              <c:pt idx="4">
                <c:v>37</c:v>
              </c:pt>
              <c:pt idx="5">
                <c:v>69</c:v>
              </c:pt>
              <c:pt idx="6">
                <c:v>213</c:v>
              </c:pt>
              <c:pt idx="7">
                <c:v>124</c:v>
              </c:pt>
              <c:pt idx="8">
                <c:v>238</c:v>
              </c:pt>
              <c:pt idx="9">
                <c:v>183</c:v>
              </c:pt>
              <c:pt idx="10">
                <c:v>207</c:v>
              </c:pt>
              <c:pt idx="11">
                <c:v>110</c:v>
              </c:pt>
              <c:pt idx="12">
                <c:v>47</c:v>
              </c:pt>
              <c:pt idx="13">
                <c:v>110</c:v>
              </c:pt>
              <c:pt idx="14">
                <c:v>128</c:v>
              </c:pt>
              <c:pt idx="15">
                <c:v>155</c:v>
              </c:pt>
              <c:pt idx="16">
                <c:v>151</c:v>
              </c:pt>
              <c:pt idx="17">
                <c:v>149</c:v>
              </c:pt>
              <c:pt idx="18">
                <c:v>114</c:v>
              </c:pt>
              <c:pt idx="19">
                <c:v>105</c:v>
              </c:pt>
              <c:pt idx="20">
                <c:v>94</c:v>
              </c:pt>
              <c:pt idx="21">
                <c:v>114</c:v>
              </c:pt>
            </c:numLit>
          </c:val>
          <c:smooth val="1"/>
          <c:extLst>
            <c:ext xmlns:c16="http://schemas.microsoft.com/office/drawing/2014/chart" uri="{C3380CC4-5D6E-409C-BE32-E72D297353CC}">
              <c16:uniqueId val="{00000001-A959-4B46-A4B2-6883F7C81F7C}"/>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8E1EA"/>
            </a:solidFill>
            <a:prstDash val="solid"/>
          </a:ln>
        </c:spPr>
        <c:txPr>
          <a:bodyPr anchorCtr="1"/>
          <a:lstStyle/>
          <a:p>
            <a:pPr>
              <a:defRPr sz="675">
                <a:solidFill>
                  <a:srgbClr val="5F6F7F"/>
                </a:solidFill>
                <a:latin typeface="Carlito"/>
                <a:ea typeface="Carlito"/>
                <a:cs typeface="Carlito"/>
              </a:defRPr>
            </a:pPr>
            <a:endParaRPr lang="en-US"/>
          </a:p>
        </c:txPr>
        <c:crossAx val="48672768"/>
        <c:crosses val="autoZero"/>
        <c:auto val="1"/>
        <c:lblAlgn val="ctr"/>
        <c:lblOffset val="100"/>
        <c:noMultiLvlLbl val="1"/>
      </c:catAx>
      <c:valAx>
        <c:axId val="48672768"/>
        <c:scaling>
          <c:orientation val="minMax"/>
          <c:max val="300"/>
          <c:min val="0"/>
        </c:scaling>
        <c:delete val="0"/>
        <c:axPos val="l"/>
        <c:majorGridlines>
          <c:spPr>
            <a:ln w="9525">
              <a:solidFill>
                <a:srgbClr val="D8E1EA"/>
              </a:solidFill>
              <a:prstDash val="solid"/>
            </a:ln>
          </c:spPr>
        </c:majorGridlines>
        <c:title>
          <c:tx>
            <c:rich>
              <a:bodyPr/>
              <a:lstStyle/>
              <a:p>
                <a:r>
                  <a:rPr lang="en-SG" sz="750">
                    <a:solidFill>
                      <a:srgbClr val="5F6F7F"/>
                    </a:solidFill>
                    <a:latin typeface="Carlito"/>
                    <a:ea typeface="Carlito"/>
                    <a:cs typeface="Carlito"/>
                  </a:rPr>
                  <a:t>Participations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750">
                <a:solidFill>
                  <a:srgbClr val="5F6F7F"/>
                </a:solidFill>
                <a:latin typeface="Carlito"/>
                <a:ea typeface="Carlito"/>
                <a:cs typeface="Carlito"/>
              </a:defRPr>
            </a:pPr>
            <a:endParaRPr lang="en-US"/>
          </a:p>
        </c:txPr>
        <c:crossAx val="48650112"/>
        <c:crosses val="autoZero"/>
        <c:crossBetween val="between"/>
        <c:majorUnit val="50"/>
      </c:valAx>
      <c:spPr>
        <a:solidFill>
          <a:srgbClr val="FFFFFF"/>
        </a:solidFill>
      </c:spPr>
    </c:plotArea>
    <c:legend>
      <c:legendPos val="b"/>
      <c:overlay val="0"/>
      <c:txPr>
        <a:bodyPr anchorCtr="1"/>
        <a:lstStyle/>
        <a:p>
          <a:pPr>
            <a:defRPr sz="825">
              <a:solidFill>
                <a:srgbClr val="5F6F7F"/>
              </a:solidFill>
              <a:latin typeface="Carlito"/>
              <a:ea typeface="Carlito"/>
              <a:cs typeface="Carlito"/>
            </a:defRPr>
          </a:pPr>
          <a:endParaRPr lang="en-US"/>
        </a:p>
      </c:txPr>
    </c:legend>
    <c:plotVisOnly val="1"/>
    <c:dispBlanksAs val="zero"/>
    <c:showDLblsOverMax val="1"/>
  </c:chart>
  <c:spPr>
    <a:solidFill>
      <a:srgbClr val="FFFFFF"/>
    </a:solid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125" b="1">
                <a:solidFill>
                  <a:srgbClr val="071B33"/>
                </a:solidFill>
                <a:latin typeface="Carlito"/>
                <a:ea typeface="Carlito"/>
                <a:cs typeface="Carlito"/>
              </a:rPr>
              <a:t>Official medals by Summer edition</a:t>
            </a:r>
          </a:p>
        </c:rich>
      </c:tx>
      <c:overlay val="0"/>
    </c:title>
    <c:autoTitleDeleted val="0"/>
    <c:plotArea>
      <c:layout/>
      <c:lineChart>
        <c:grouping val="standard"/>
        <c:varyColors val="0"/>
        <c:ser>
          <c:idx val="0"/>
          <c:order val="0"/>
          <c:tx>
            <c:v>Official medals</c:v>
          </c:tx>
          <c:spPr>
            <a:ln w="28575">
              <a:solidFill>
                <a:srgbClr val="CD7F32"/>
              </a:solidFill>
              <a:prstDash val="solid"/>
            </a:ln>
          </c:spPr>
          <c:marker>
            <c:symbol val="circle"/>
            <c:size val="5"/>
            <c:spPr>
              <a:solidFill>
                <a:srgbClr val="CD7F32"/>
              </a:solidFill>
            </c:spPr>
          </c:marker>
          <c:cat>
            <c:numLit>
              <c:formatCode>General</c:formatCode>
              <c:ptCount val="22"/>
              <c:pt idx="0">
                <c:v>1924</c:v>
              </c:pt>
              <c:pt idx="1">
                <c:v>1928</c:v>
              </c:pt>
              <c:pt idx="2">
                <c:v>1932</c:v>
              </c:pt>
              <c:pt idx="3">
                <c:v>1936</c:v>
              </c:pt>
              <c:pt idx="4">
                <c:v>1948</c:v>
              </c:pt>
              <c:pt idx="5">
                <c:v>1952</c:v>
              </c:pt>
              <c:pt idx="6">
                <c:v>1956</c:v>
              </c:pt>
              <c:pt idx="7">
                <c:v>1960</c:v>
              </c:pt>
              <c:pt idx="8">
                <c:v>1964</c:v>
              </c:pt>
              <c:pt idx="9">
                <c:v>1968</c:v>
              </c:pt>
              <c:pt idx="10">
                <c:v>1972</c:v>
              </c:pt>
              <c:pt idx="11">
                <c:v>1976</c:v>
              </c:pt>
              <c:pt idx="12">
                <c:v>1980</c:v>
              </c:pt>
              <c:pt idx="13">
                <c:v>1984</c:v>
              </c:pt>
              <c:pt idx="14">
                <c:v>1988</c:v>
              </c:pt>
              <c:pt idx="15">
                <c:v>1992</c:v>
              </c:pt>
              <c:pt idx="16">
                <c:v>1996</c:v>
              </c:pt>
              <c:pt idx="17">
                <c:v>2000</c:v>
              </c:pt>
              <c:pt idx="18">
                <c:v>2004</c:v>
              </c:pt>
              <c:pt idx="19">
                <c:v>2008</c:v>
              </c:pt>
              <c:pt idx="20">
                <c:v>2012</c:v>
              </c:pt>
              <c:pt idx="21">
                <c:v>2016</c:v>
              </c:pt>
            </c:numLit>
          </c:cat>
          <c:val>
            <c:numLit>
              <c:formatCode>General</c:formatCode>
              <c:ptCount val="22"/>
              <c:pt idx="0">
                <c:v>0</c:v>
              </c:pt>
              <c:pt idx="1">
                <c:v>1</c:v>
              </c:pt>
              <c:pt idx="2">
                <c:v>3</c:v>
              </c:pt>
              <c:pt idx="3">
                <c:v>1</c:v>
              </c:pt>
              <c:pt idx="4">
                <c:v>0</c:v>
              </c:pt>
              <c:pt idx="5">
                <c:v>0</c:v>
              </c:pt>
              <c:pt idx="6">
                <c:v>0</c:v>
              </c:pt>
              <c:pt idx="7">
                <c:v>1</c:v>
              </c:pt>
              <c:pt idx="8">
                <c:v>1</c:v>
              </c:pt>
              <c:pt idx="9">
                <c:v>0</c:v>
              </c:pt>
              <c:pt idx="10">
                <c:v>0</c:v>
              </c:pt>
              <c:pt idx="11">
                <c:v>1</c:v>
              </c:pt>
              <c:pt idx="12">
                <c:v>0</c:v>
              </c:pt>
              <c:pt idx="13">
                <c:v>1</c:v>
              </c:pt>
              <c:pt idx="14">
                <c:v>3</c:v>
              </c:pt>
              <c:pt idx="15">
                <c:v>8</c:v>
              </c:pt>
              <c:pt idx="16">
                <c:v>9</c:v>
              </c:pt>
              <c:pt idx="17">
                <c:v>10</c:v>
              </c:pt>
              <c:pt idx="18">
                <c:v>12</c:v>
              </c:pt>
              <c:pt idx="19">
                <c:v>12</c:v>
              </c:pt>
              <c:pt idx="20">
                <c:v>9</c:v>
              </c:pt>
              <c:pt idx="21">
                <c:v>18</c:v>
              </c:pt>
            </c:numLit>
          </c:val>
          <c:smooth val="1"/>
          <c:extLst>
            <c:ext xmlns:c16="http://schemas.microsoft.com/office/drawing/2014/chart" uri="{C3380CC4-5D6E-409C-BE32-E72D297353CC}">
              <c16:uniqueId val="{00000000-908A-4AF2-ACA8-4AF48A217471}"/>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8E1EA"/>
            </a:solidFill>
            <a:prstDash val="solid"/>
          </a:ln>
        </c:spPr>
        <c:txPr>
          <a:bodyPr anchorCtr="1"/>
          <a:lstStyle/>
          <a:p>
            <a:pPr>
              <a:defRPr sz="600">
                <a:solidFill>
                  <a:srgbClr val="5F6F7F"/>
                </a:solidFill>
                <a:latin typeface="Carlito"/>
                <a:ea typeface="Carlito"/>
                <a:cs typeface="Carlito"/>
              </a:defRPr>
            </a:pPr>
            <a:endParaRPr lang="en-US"/>
          </a:p>
        </c:txPr>
        <c:crossAx val="48672768"/>
        <c:crosses val="autoZero"/>
        <c:auto val="1"/>
        <c:lblAlgn val="ctr"/>
        <c:lblOffset val="100"/>
        <c:noMultiLvlLbl val="1"/>
      </c:catAx>
      <c:valAx>
        <c:axId val="48672768"/>
        <c:scaling>
          <c:orientation val="minMax"/>
          <c:max val="20"/>
          <c:min val="0"/>
        </c:scaling>
        <c:delete val="0"/>
        <c:axPos val="l"/>
        <c:majorGridlines>
          <c:spPr>
            <a:ln w="9525">
              <a:solidFill>
                <a:srgbClr val="D8E1EA"/>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675">
                <a:solidFill>
                  <a:srgbClr val="5F6F7F"/>
                </a:solidFill>
                <a:latin typeface="Carlito"/>
                <a:ea typeface="Carlito"/>
                <a:cs typeface="Carlito"/>
              </a:defRPr>
            </a:pPr>
            <a:endParaRPr lang="en-US"/>
          </a:p>
        </c:txPr>
        <c:crossAx val="48650112"/>
        <c:crosses val="autoZero"/>
        <c:crossBetween val="between"/>
        <c:majorUnit val="5"/>
      </c:valAx>
      <c:spPr>
        <a:solidFill>
          <a:srgbClr val="FFFFFF"/>
        </a:solidFill>
      </c:spPr>
    </c:plotArea>
    <c:plotVisOnly val="1"/>
    <c:dispBlanksAs val="zero"/>
    <c:showDLblsOverMax val="1"/>
  </c:chart>
  <c:spPr>
    <a:solidFill>
      <a:srgbClr val="FFFFFF"/>
    </a:solidFill>
    <a:ln w="0">
      <a:no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200" b="1">
                <a:solidFill>
                  <a:srgbClr val="071B33"/>
                </a:solidFill>
                <a:latin typeface="Carlito"/>
                <a:ea typeface="Carlito"/>
                <a:cs typeface="Carlito"/>
              </a:rPr>
              <a:t>Official medal composition by country</a:t>
            </a:r>
          </a:p>
        </c:rich>
      </c:tx>
      <c:overlay val="0"/>
    </c:title>
    <c:autoTitleDeleted val="0"/>
    <c:plotArea>
      <c:layout/>
      <c:barChart>
        <c:barDir val="col"/>
        <c:grouping val="stacked"/>
        <c:varyColors val="0"/>
        <c:ser>
          <c:idx val="0"/>
          <c:order val="0"/>
          <c:tx>
            <c:v>Gold</c:v>
          </c:tx>
          <c:spPr>
            <a:solidFill>
              <a:srgbClr val="D4AF37"/>
            </a:solidFill>
          </c:spPr>
          <c:invertIfNegative val="0"/>
          <c:dLbls>
            <c:spPr>
              <a:noFill/>
              <a:ln>
                <a:noFill/>
              </a:ln>
              <a:effectLst/>
            </c:spPr>
            <c:txPr>
              <a:bodyPr anchorCtr="1"/>
              <a:lstStyle/>
              <a:p>
                <a:pPr>
                  <a:defRPr sz="750" b="1">
                    <a:solidFill>
                      <a:srgbClr val="FFFFFF"/>
                    </a:solidFill>
                    <a:latin typeface="Carlito"/>
                    <a:ea typeface="Carlito"/>
                    <a:cs typeface="Carli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Indonesia</c:v>
              </c:pt>
              <c:pt idx="1">
                <c:v>Thailand</c:v>
              </c:pt>
              <c:pt idx="2">
                <c:v>Malaysia</c:v>
              </c:pt>
              <c:pt idx="3">
                <c:v>Philippines</c:v>
              </c:pt>
              <c:pt idx="4">
                <c:v>Singapore</c:v>
              </c:pt>
              <c:pt idx="5">
                <c:v>Vietnam</c:v>
              </c:pt>
            </c:strLit>
          </c:cat>
          <c:val>
            <c:numLit>
              <c:formatCode>General</c:formatCode>
              <c:ptCount val="6"/>
              <c:pt idx="0">
                <c:v>7</c:v>
              </c:pt>
              <c:pt idx="1">
                <c:v>9</c:v>
              </c:pt>
              <c:pt idx="2">
                <c:v>0</c:v>
              </c:pt>
              <c:pt idx="3">
                <c:v>0</c:v>
              </c:pt>
              <c:pt idx="4">
                <c:v>1</c:v>
              </c:pt>
              <c:pt idx="5">
                <c:v>1</c:v>
              </c:pt>
            </c:numLit>
          </c:val>
          <c:extLst>
            <c:ext xmlns:c16="http://schemas.microsoft.com/office/drawing/2014/chart" uri="{C3380CC4-5D6E-409C-BE32-E72D297353CC}">
              <c16:uniqueId val="{00000000-C0B9-45A0-A463-3B6FE8197543}"/>
            </c:ext>
          </c:extLst>
        </c:ser>
        <c:ser>
          <c:idx val="1"/>
          <c:order val="1"/>
          <c:tx>
            <c:v>Silver</c:v>
          </c:tx>
          <c:spPr>
            <a:solidFill>
              <a:srgbClr val="A7A9AC"/>
            </a:solidFill>
          </c:spPr>
          <c:invertIfNegative val="0"/>
          <c:dLbls>
            <c:spPr>
              <a:noFill/>
              <a:ln>
                <a:noFill/>
              </a:ln>
              <a:effectLst/>
            </c:spPr>
            <c:txPr>
              <a:bodyPr anchorCtr="1"/>
              <a:lstStyle/>
              <a:p>
                <a:pPr>
                  <a:defRPr sz="750" b="1">
                    <a:solidFill>
                      <a:srgbClr val="FFFFFF"/>
                    </a:solidFill>
                    <a:latin typeface="Carlito"/>
                    <a:ea typeface="Carlito"/>
                    <a:cs typeface="Carli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Indonesia</c:v>
              </c:pt>
              <c:pt idx="1">
                <c:v>Thailand</c:v>
              </c:pt>
              <c:pt idx="2">
                <c:v>Malaysia</c:v>
              </c:pt>
              <c:pt idx="3">
                <c:v>Philippines</c:v>
              </c:pt>
              <c:pt idx="4">
                <c:v>Singapore</c:v>
              </c:pt>
              <c:pt idx="5">
                <c:v>Vietnam</c:v>
              </c:pt>
            </c:strLit>
          </c:cat>
          <c:val>
            <c:numLit>
              <c:formatCode>General</c:formatCode>
              <c:ptCount val="6"/>
              <c:pt idx="0">
                <c:v>12</c:v>
              </c:pt>
              <c:pt idx="1">
                <c:v>8</c:v>
              </c:pt>
              <c:pt idx="2">
                <c:v>7</c:v>
              </c:pt>
              <c:pt idx="3">
                <c:v>3</c:v>
              </c:pt>
              <c:pt idx="4">
                <c:v>2</c:v>
              </c:pt>
              <c:pt idx="5">
                <c:v>3</c:v>
              </c:pt>
            </c:numLit>
          </c:val>
          <c:extLst>
            <c:ext xmlns:c16="http://schemas.microsoft.com/office/drawing/2014/chart" uri="{C3380CC4-5D6E-409C-BE32-E72D297353CC}">
              <c16:uniqueId val="{00000001-C0B9-45A0-A463-3B6FE8197543}"/>
            </c:ext>
          </c:extLst>
        </c:ser>
        <c:ser>
          <c:idx val="2"/>
          <c:order val="2"/>
          <c:tx>
            <c:v>Bronze</c:v>
          </c:tx>
          <c:spPr>
            <a:solidFill>
              <a:srgbClr val="CD7F32"/>
            </a:solidFill>
          </c:spPr>
          <c:invertIfNegative val="0"/>
          <c:dLbls>
            <c:spPr>
              <a:noFill/>
              <a:ln>
                <a:noFill/>
              </a:ln>
              <a:effectLst/>
            </c:spPr>
            <c:txPr>
              <a:bodyPr anchorCtr="1"/>
              <a:lstStyle/>
              <a:p>
                <a:pPr>
                  <a:defRPr sz="750" b="1">
                    <a:solidFill>
                      <a:srgbClr val="FFFFFF"/>
                    </a:solidFill>
                    <a:latin typeface="Carlito"/>
                    <a:ea typeface="Carlito"/>
                    <a:cs typeface="Carli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Indonesia</c:v>
              </c:pt>
              <c:pt idx="1">
                <c:v>Thailand</c:v>
              </c:pt>
              <c:pt idx="2">
                <c:v>Malaysia</c:v>
              </c:pt>
              <c:pt idx="3">
                <c:v>Philippines</c:v>
              </c:pt>
              <c:pt idx="4">
                <c:v>Singapore</c:v>
              </c:pt>
              <c:pt idx="5">
                <c:v>Vietnam</c:v>
              </c:pt>
            </c:strLit>
          </c:cat>
          <c:val>
            <c:numLit>
              <c:formatCode>General</c:formatCode>
              <c:ptCount val="6"/>
              <c:pt idx="0">
                <c:v>11</c:v>
              </c:pt>
              <c:pt idx="1">
                <c:v>13</c:v>
              </c:pt>
              <c:pt idx="2">
                <c:v>4</c:v>
              </c:pt>
              <c:pt idx="3">
                <c:v>7</c:v>
              </c:pt>
              <c:pt idx="4">
                <c:v>2</c:v>
              </c:pt>
              <c:pt idx="5">
                <c:v>0</c:v>
              </c:pt>
            </c:numLit>
          </c:val>
          <c:extLst>
            <c:ext xmlns:c16="http://schemas.microsoft.com/office/drawing/2014/chart" uri="{C3380CC4-5D6E-409C-BE32-E72D297353CC}">
              <c16:uniqueId val="{00000002-C0B9-45A0-A463-3B6FE8197543}"/>
            </c:ext>
          </c:extLst>
        </c:ser>
        <c:dLbls>
          <c:dLblPos val="ctr"/>
          <c:showLegendKey val="0"/>
          <c:showVal val="1"/>
          <c:showCatName val="0"/>
          <c:showSerName val="0"/>
          <c:showPercent val="0"/>
          <c:showBubbleSize val="0"/>
        </c:dLbls>
        <c:gapWidth val="55"/>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E1EA"/>
            </a:solidFill>
            <a:prstDash val="solid"/>
          </a:ln>
        </c:spPr>
        <c:txPr>
          <a:bodyPr anchorCtr="1"/>
          <a:lstStyle/>
          <a:p>
            <a:pPr>
              <a:defRPr sz="825">
                <a:solidFill>
                  <a:srgbClr val="5F6F7F"/>
                </a:solidFill>
                <a:latin typeface="Carlito"/>
                <a:ea typeface="Carlito"/>
                <a:cs typeface="Carlito"/>
              </a:defRPr>
            </a:pPr>
            <a:endParaRPr lang="en-US"/>
          </a:p>
        </c:txPr>
        <c:crossAx val="48672768"/>
        <c:crosses val="autoZero"/>
        <c:auto val="1"/>
        <c:lblAlgn val="ctr"/>
        <c:lblOffset val="100"/>
        <c:noMultiLvlLbl val="1"/>
      </c:catAx>
      <c:valAx>
        <c:axId val="48672768"/>
        <c:scaling>
          <c:orientation val="minMax"/>
          <c:max val="35"/>
          <c:min val="0"/>
        </c:scaling>
        <c:delete val="0"/>
        <c:axPos val="l"/>
        <c:majorGridlines>
          <c:spPr>
            <a:ln w="9525">
              <a:solidFill>
                <a:srgbClr val="D8E1EA"/>
              </a:solidFill>
              <a:prstDash val="solid"/>
            </a:ln>
          </c:spPr>
        </c:majorGridlines>
        <c:title>
          <c:tx>
            <c:rich>
              <a:bodyPr/>
              <a:lstStyle/>
              <a:p>
                <a:r>
                  <a:rPr lang="en-SG" sz="750">
                    <a:solidFill>
                      <a:srgbClr val="5F6F7F"/>
                    </a:solidFill>
                    <a:latin typeface="Carlito"/>
                    <a:ea typeface="Carlito"/>
                    <a:cs typeface="Carlito"/>
                  </a:rPr>
                  <a:t>Official medals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750">
                <a:solidFill>
                  <a:srgbClr val="5F6F7F"/>
                </a:solidFill>
                <a:latin typeface="Carlito"/>
                <a:ea typeface="Carlito"/>
                <a:cs typeface="Carlito"/>
              </a:defRPr>
            </a:pPr>
            <a:endParaRPr lang="en-US"/>
          </a:p>
        </c:txPr>
        <c:crossAx val="48650112"/>
        <c:crosses val="autoZero"/>
        <c:crossBetween val="between"/>
        <c:majorUnit val="5"/>
      </c:valAx>
      <c:spPr>
        <a:solidFill>
          <a:srgbClr val="FFFFFF"/>
        </a:solidFill>
      </c:spPr>
    </c:plotArea>
    <c:legend>
      <c:legendPos val="b"/>
      <c:overlay val="0"/>
      <c:txPr>
        <a:bodyPr anchorCtr="1"/>
        <a:lstStyle/>
        <a:p>
          <a:pPr>
            <a:defRPr sz="825">
              <a:solidFill>
                <a:srgbClr val="5F6F7F"/>
              </a:solidFill>
              <a:latin typeface="Carlito"/>
              <a:ea typeface="Carlito"/>
              <a:cs typeface="Carlito"/>
            </a:defRPr>
          </a:pPr>
          <a:endParaRPr lang="en-US"/>
        </a:p>
      </c:txPr>
    </c:legend>
    <c:plotVisOnly val="1"/>
    <c:dispBlanksAs val="zero"/>
    <c:showDLblsOverMax val="1"/>
  </c:chart>
  <c:spPr>
    <a:solidFill>
      <a:srgbClr val="FFFFFF"/>
    </a:solidFill>
    <a:ln w="0">
      <a:noFill/>
      <a:prstDash val="solid"/>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SG" sz="1200" b="1">
                <a:solidFill>
                  <a:srgbClr val="071B33"/>
                </a:solidFill>
                <a:latin typeface="Carlito"/>
                <a:ea typeface="Carlito"/>
                <a:cs typeface="Carlito"/>
              </a:rPr>
              <a:t>Leading medal-producing sports</a:t>
            </a:r>
          </a:p>
        </c:rich>
      </c:tx>
      <c:overlay val="0"/>
    </c:title>
    <c:autoTitleDeleted val="0"/>
    <c:plotArea>
      <c:layout/>
      <c:barChart>
        <c:barDir val="bar"/>
        <c:grouping val="clustered"/>
        <c:varyColors val="0"/>
        <c:ser>
          <c:idx val="0"/>
          <c:order val="0"/>
          <c:tx>
            <c:v>Official medals</c:v>
          </c:tx>
          <c:spPr>
            <a:solidFill>
              <a:srgbClr val="0E2B4D"/>
            </a:solidFill>
          </c:spPr>
          <c:invertIfNegative val="0"/>
          <c:dLbls>
            <c:spPr>
              <a:noFill/>
              <a:ln>
                <a:noFill/>
              </a:ln>
              <a:effectLst/>
            </c:spPr>
            <c:txPr>
              <a:bodyPr anchorCtr="1"/>
              <a:lstStyle/>
              <a:p>
                <a:pPr>
                  <a:defRPr sz="825" b="1">
                    <a:solidFill>
                      <a:srgbClr val="152536"/>
                    </a:solidFill>
                    <a:latin typeface="Carlito"/>
                    <a:ea typeface="Carlito"/>
                    <a:cs typeface="Carli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Badminton</c:v>
              </c:pt>
              <c:pt idx="1">
                <c:v>Weightlifting</c:v>
              </c:pt>
              <c:pt idx="2">
                <c:v>Boxing</c:v>
              </c:pt>
              <c:pt idx="3">
                <c:v>Taekwondo</c:v>
              </c:pt>
              <c:pt idx="4">
                <c:v>Swimming</c:v>
              </c:pt>
              <c:pt idx="5">
                <c:v>Table Tennis</c:v>
              </c:pt>
            </c:strLit>
          </c:cat>
          <c:val>
            <c:numLit>
              <c:formatCode>General</c:formatCode>
              <c:ptCount val="6"/>
              <c:pt idx="0">
                <c:v>27</c:v>
              </c:pt>
              <c:pt idx="1">
                <c:v>24</c:v>
              </c:pt>
              <c:pt idx="2">
                <c:v>19</c:v>
              </c:pt>
              <c:pt idx="3">
                <c:v>6</c:v>
              </c:pt>
              <c:pt idx="4">
                <c:v>3</c:v>
              </c:pt>
              <c:pt idx="5">
                <c:v>3</c:v>
              </c:pt>
            </c:numLit>
          </c:val>
          <c:extLst>
            <c:ext xmlns:c16="http://schemas.microsoft.com/office/drawing/2014/chart" uri="{C3380CC4-5D6E-409C-BE32-E72D297353CC}">
              <c16:uniqueId val="{00000000-36DD-4116-8399-453BD5DD05D3}"/>
            </c:ext>
          </c:extLst>
        </c:ser>
        <c:dLbls>
          <c:dLblPos val="outEnd"/>
          <c:showLegendKey val="0"/>
          <c:showVal val="1"/>
          <c:showCatName val="0"/>
          <c:showSerName val="0"/>
          <c:showPercent val="0"/>
          <c:showBubbleSize val="0"/>
        </c:dLbls>
        <c:gapWidth val="50"/>
        <c:axId val="48650112"/>
        <c:axId val="48672768"/>
      </c:barChart>
      <c:catAx>
        <c:axId val="48650112"/>
        <c:scaling>
          <c:orientation val="minMax"/>
        </c:scaling>
        <c:delete val="0"/>
        <c:axPos val="l"/>
        <c:majorGridlines>
          <c:spPr>
            <a:ln w="9525">
              <a:solidFill>
                <a:srgbClr val="D8E1EA"/>
              </a:solidFill>
              <a:prstDash val="solid"/>
            </a:ln>
          </c:spPr>
        </c:majorGridlines>
        <c:title>
          <c:tx>
            <c:rich>
              <a:bodyPr/>
              <a:lstStyle/>
              <a:p>
                <a:r>
                  <a:rPr lang="en-SG" sz="750">
                    <a:solidFill>
                      <a:srgbClr val="5F6F7F"/>
                    </a:solidFill>
                    <a:latin typeface="Carlito"/>
                    <a:ea typeface="Carlito"/>
                    <a:cs typeface="Carlito"/>
                  </a:rPr>
                  <a:t>Official medals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750">
                <a:solidFill>
                  <a:srgbClr val="5F6F7F"/>
                </a:solidFill>
                <a:latin typeface="Carlito"/>
                <a:ea typeface="Carlito"/>
                <a:cs typeface="Carlito"/>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0">
            <a:noFill/>
            <a:prstDash val="solid"/>
          </a:ln>
        </c:spPr>
        <c:txPr>
          <a:bodyPr anchorCtr="1"/>
          <a:lstStyle/>
          <a:p>
            <a:pPr>
              <a:defRPr sz="825">
                <a:solidFill>
                  <a:srgbClr val="5F6F7F"/>
                </a:solidFill>
                <a:latin typeface="Carlito"/>
                <a:ea typeface="Carlito"/>
                <a:cs typeface="Carlito"/>
              </a:defRPr>
            </a:pPr>
            <a:endParaRPr lang="en-US"/>
          </a:p>
        </c:txPr>
        <c:crossAx val="48650112"/>
        <c:crosses val="autoZero"/>
        <c:crossBetween val="between"/>
      </c:valAx>
      <c:spPr>
        <a:solidFill>
          <a:srgbClr val="FFFFFF"/>
        </a:solidFill>
      </c:spPr>
    </c:plotArea>
    <c:plotVisOnly val="1"/>
    <c:dispBlanksAs val="zero"/>
    <c:showDLblsOverMax val="1"/>
  </c:chart>
  <c:spPr>
    <a:solidFill>
      <a:srgbClr val="FFFFFF"/>
    </a:solidFill>
    <a:ln w="0">
      <a:noFill/>
      <a:prstDash val="solid"/>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200" b="1">
                <a:solidFill>
                  <a:srgbClr val="071B33"/>
                </a:solidFill>
                <a:latin typeface="Carlito"/>
                <a:ea typeface="Carlito"/>
                <a:cs typeface="Carlito"/>
              </a:rPr>
              <a:t>Medals across two four-edition periods</a:t>
            </a:r>
          </a:p>
        </c:rich>
      </c:tx>
      <c:overlay val="0"/>
    </c:title>
    <c:autoTitleDeleted val="0"/>
    <c:plotArea>
      <c:layout/>
      <c:barChart>
        <c:barDir val="bar"/>
        <c:grouping val="clustered"/>
        <c:varyColors val="0"/>
        <c:ser>
          <c:idx val="0"/>
          <c:order val="0"/>
          <c:tx>
            <c:v>1988–2000</c:v>
          </c:tx>
          <c:spPr>
            <a:solidFill>
              <a:srgbClr val="A7A9AC"/>
            </a:solidFill>
          </c:spPr>
          <c:invertIfNegative val="0"/>
          <c:dLbls>
            <c:spPr>
              <a:noFill/>
              <a:ln>
                <a:noFill/>
              </a:ln>
              <a:effectLst/>
            </c:spPr>
            <c:txPr>
              <a:bodyPr anchorCtr="1"/>
              <a:lstStyle/>
              <a:p>
                <a:pPr>
                  <a:defRPr sz="675" b="1">
                    <a:solidFill>
                      <a:srgbClr val="152536"/>
                    </a:solidFill>
                    <a:latin typeface="Carlito"/>
                    <a:ea typeface="Carlito"/>
                    <a:cs typeface="Carli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Weightlifting</c:v>
              </c:pt>
              <c:pt idx="1">
                <c:v>Taekwondo</c:v>
              </c:pt>
              <c:pt idx="2">
                <c:v>Table Tennis</c:v>
              </c:pt>
              <c:pt idx="3">
                <c:v>Badminton</c:v>
              </c:pt>
              <c:pt idx="4">
                <c:v>Boxing</c:v>
              </c:pt>
              <c:pt idx="5">
                <c:v>Archery</c:v>
              </c:pt>
            </c:strLit>
          </c:cat>
          <c:val>
            <c:numLit>
              <c:formatCode>General</c:formatCode>
              <c:ptCount val="6"/>
              <c:pt idx="0">
                <c:v>4</c:v>
              </c:pt>
              <c:pt idx="1">
                <c:v>1</c:v>
              </c:pt>
              <c:pt idx="2">
                <c:v>0</c:v>
              </c:pt>
              <c:pt idx="3">
                <c:v>15</c:v>
              </c:pt>
              <c:pt idx="4">
                <c:v>9</c:v>
              </c:pt>
              <c:pt idx="5">
                <c:v>1</c:v>
              </c:pt>
            </c:numLit>
          </c:val>
          <c:extLst>
            <c:ext xmlns:c16="http://schemas.microsoft.com/office/drawing/2014/chart" uri="{C3380CC4-5D6E-409C-BE32-E72D297353CC}">
              <c16:uniqueId val="{00000000-F304-47D9-9D81-4FDB5A5F9FE5}"/>
            </c:ext>
          </c:extLst>
        </c:ser>
        <c:ser>
          <c:idx val="1"/>
          <c:order val="1"/>
          <c:tx>
            <c:v>2004–2016</c:v>
          </c:tx>
          <c:spPr>
            <a:solidFill>
              <a:srgbClr val="D4AF37"/>
            </a:solidFill>
          </c:spPr>
          <c:invertIfNegative val="0"/>
          <c:dLbls>
            <c:spPr>
              <a:noFill/>
              <a:ln>
                <a:noFill/>
              </a:ln>
              <a:effectLst/>
            </c:spPr>
            <c:txPr>
              <a:bodyPr anchorCtr="1"/>
              <a:lstStyle/>
              <a:p>
                <a:pPr>
                  <a:defRPr sz="675" b="1">
                    <a:solidFill>
                      <a:srgbClr val="152536"/>
                    </a:solidFill>
                    <a:latin typeface="Carlito"/>
                    <a:ea typeface="Carlito"/>
                    <a:cs typeface="Carli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Weightlifting</c:v>
              </c:pt>
              <c:pt idx="1">
                <c:v>Taekwondo</c:v>
              </c:pt>
              <c:pt idx="2">
                <c:v>Table Tennis</c:v>
              </c:pt>
              <c:pt idx="3">
                <c:v>Badminton</c:v>
              </c:pt>
              <c:pt idx="4">
                <c:v>Boxing</c:v>
              </c:pt>
              <c:pt idx="5">
                <c:v>Archery</c:v>
              </c:pt>
            </c:strLit>
          </c:cat>
          <c:val>
            <c:numLit>
              <c:formatCode>General</c:formatCode>
              <c:ptCount val="6"/>
              <c:pt idx="0">
                <c:v>19</c:v>
              </c:pt>
              <c:pt idx="1">
                <c:v>5</c:v>
              </c:pt>
              <c:pt idx="2">
                <c:v>3</c:v>
              </c:pt>
              <c:pt idx="3">
                <c:v>12</c:v>
              </c:pt>
              <c:pt idx="4">
                <c:v>6</c:v>
              </c:pt>
              <c:pt idx="5">
                <c:v>0</c:v>
              </c:pt>
            </c:numLit>
          </c:val>
          <c:extLst>
            <c:ext xmlns:c16="http://schemas.microsoft.com/office/drawing/2014/chart" uri="{C3380CC4-5D6E-409C-BE32-E72D297353CC}">
              <c16:uniqueId val="{00000001-F304-47D9-9D81-4FDB5A5F9FE5}"/>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w="9525">
              <a:solidFill>
                <a:srgbClr val="D8E1EA"/>
              </a:solidFill>
              <a:prstDash val="solid"/>
            </a:ln>
          </c:spPr>
        </c:majorGridlines>
        <c:title>
          <c:tx>
            <c:rich>
              <a:bodyPr/>
              <a:lstStyle/>
              <a:p>
                <a:r>
                  <a:rPr lang="en-SG" sz="750">
                    <a:solidFill>
                      <a:srgbClr val="5F6F7F"/>
                    </a:solidFill>
                    <a:latin typeface="Carlito"/>
                    <a:ea typeface="Carlito"/>
                    <a:cs typeface="Carlito"/>
                  </a:rPr>
                  <a:t>Official medals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750">
                <a:solidFill>
                  <a:srgbClr val="5F6F7F"/>
                </a:solidFill>
                <a:latin typeface="Carlito"/>
                <a:ea typeface="Carlito"/>
                <a:cs typeface="Carlito"/>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0">
            <a:noFill/>
            <a:prstDash val="solid"/>
          </a:ln>
        </c:spPr>
        <c:txPr>
          <a:bodyPr anchorCtr="1"/>
          <a:lstStyle/>
          <a:p>
            <a:pPr>
              <a:defRPr sz="750">
                <a:solidFill>
                  <a:srgbClr val="5F6F7F"/>
                </a:solidFill>
                <a:latin typeface="Carlito"/>
                <a:ea typeface="Carlito"/>
                <a:cs typeface="Carlito"/>
              </a:defRPr>
            </a:pPr>
            <a:endParaRPr lang="en-US"/>
          </a:p>
        </c:txPr>
        <c:crossAx val="48650112"/>
        <c:crosses val="autoZero"/>
        <c:crossBetween val="between"/>
      </c:valAx>
      <c:spPr>
        <a:solidFill>
          <a:srgbClr val="FFFFFF"/>
        </a:solidFill>
      </c:spPr>
    </c:plotArea>
    <c:legend>
      <c:legendPos val="b"/>
      <c:overlay val="0"/>
      <c:txPr>
        <a:bodyPr anchorCtr="1"/>
        <a:lstStyle/>
        <a:p>
          <a:pPr>
            <a:defRPr sz="750">
              <a:solidFill>
                <a:srgbClr val="5F6F7F"/>
              </a:solidFill>
              <a:latin typeface="Carlito"/>
              <a:ea typeface="Carlito"/>
              <a:cs typeface="Carlito"/>
            </a:defRPr>
          </a:pPr>
          <a:endParaRPr lang="en-US"/>
        </a:p>
      </c:txPr>
    </c:legend>
    <c:plotVisOnly val="1"/>
    <c:dispBlanksAs val="zero"/>
    <c:showDLblsOverMax val="1"/>
  </c:chart>
  <c:spPr>
    <a:solidFill>
      <a:srgbClr val="FFFFFF"/>
    </a:solidFill>
    <a:ln w="0">
      <a:noFill/>
      <a:prstDash val="solid"/>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SG" sz="1125" b="1">
                <a:solidFill>
                  <a:srgbClr val="071B33"/>
                </a:solidFill>
                <a:latin typeface="Carlito"/>
                <a:ea typeface="Carlito"/>
                <a:cs typeface="Carlito"/>
              </a:rPr>
              <a:t>Official medals per 100 participations</a:t>
            </a:r>
          </a:p>
        </c:rich>
      </c:tx>
      <c:overlay val="0"/>
    </c:title>
    <c:autoTitleDeleted val="0"/>
    <c:plotArea>
      <c:layout/>
      <c:barChart>
        <c:barDir val="bar"/>
        <c:grouping val="clustered"/>
        <c:varyColors val="0"/>
        <c:ser>
          <c:idx val="0"/>
          <c:order val="0"/>
          <c:tx>
            <c:v>Medals per 100</c:v>
          </c:tx>
          <c:spPr>
            <a:solidFill>
              <a:srgbClr val="CD7F32"/>
            </a:solidFill>
          </c:spPr>
          <c:invertIfNegative val="0"/>
          <c:dLbls>
            <c:numFmt formatCode="0.00" sourceLinked="0"/>
            <c:spPr>
              <a:noFill/>
              <a:ln>
                <a:noFill/>
              </a:ln>
              <a:effectLst/>
            </c:spPr>
            <c:txPr>
              <a:bodyPr anchorCtr="1"/>
              <a:lstStyle/>
              <a:p>
                <a:pPr>
                  <a:defRPr sz="750" b="1">
                    <a:solidFill>
                      <a:srgbClr val="152536"/>
                    </a:solidFill>
                    <a:latin typeface="Carlito"/>
                    <a:ea typeface="Carlito"/>
                    <a:cs typeface="Carli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Indonesia</c:v>
              </c:pt>
              <c:pt idx="1">
                <c:v>Thailand</c:v>
              </c:pt>
              <c:pt idx="2">
                <c:v>Malaysia</c:v>
              </c:pt>
              <c:pt idx="3">
                <c:v>Vietnam</c:v>
              </c:pt>
              <c:pt idx="4">
                <c:v>Philippines</c:v>
              </c:pt>
              <c:pt idx="5">
                <c:v>Singapore</c:v>
              </c:pt>
            </c:strLit>
          </c:cat>
          <c:val>
            <c:numLit>
              <c:formatCode>General</c:formatCode>
              <c:ptCount val="6"/>
              <c:pt idx="0">
                <c:v>7.28</c:v>
              </c:pt>
              <c:pt idx="1">
                <c:v>4.05</c:v>
              </c:pt>
              <c:pt idx="2">
                <c:v>1.91</c:v>
              </c:pt>
              <c:pt idx="3">
                <c:v>1.85</c:v>
              </c:pt>
              <c:pt idx="4">
                <c:v>1.46</c:v>
              </c:pt>
              <c:pt idx="5">
                <c:v>1.43</c:v>
              </c:pt>
            </c:numLit>
          </c:val>
          <c:extLst>
            <c:ext xmlns:c16="http://schemas.microsoft.com/office/drawing/2014/chart" uri="{C3380CC4-5D6E-409C-BE32-E72D297353CC}">
              <c16:uniqueId val="{00000000-A50C-4A27-9F28-E6AB20C05D63}"/>
            </c:ext>
          </c:extLst>
        </c:ser>
        <c:dLbls>
          <c:dLblPos val="outEnd"/>
          <c:showLegendKey val="0"/>
          <c:showVal val="1"/>
          <c:showCatName val="0"/>
          <c:showSerName val="0"/>
          <c:showPercent val="0"/>
          <c:showBubbleSize val="0"/>
        </c:dLbls>
        <c:gapWidth val="50"/>
        <c:axId val="48650112"/>
        <c:axId val="48672768"/>
      </c:barChart>
      <c:catAx>
        <c:axId val="48650112"/>
        <c:scaling>
          <c:orientation val="minMax"/>
        </c:scaling>
        <c:delete val="0"/>
        <c:axPos val="l"/>
        <c:majorGridlines>
          <c:spPr>
            <a:ln w="9525">
              <a:solidFill>
                <a:srgbClr val="D8E1EA"/>
              </a:solidFill>
              <a:prstDash val="solid"/>
            </a:ln>
          </c:spPr>
        </c:majorGridlines>
        <c:title>
          <c:tx>
            <c:rich>
              <a:bodyPr/>
              <a:lstStyle/>
              <a:p>
                <a:r>
                  <a:rPr lang="en-SG" sz="675">
                    <a:solidFill>
                      <a:srgbClr val="5F6F7F"/>
                    </a:solidFill>
                    <a:latin typeface="Carlito"/>
                    <a:ea typeface="Carlito"/>
                    <a:cs typeface="Carlito"/>
                  </a:rPr>
                  <a:t>Official medals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675">
                <a:solidFill>
                  <a:srgbClr val="5F6F7F"/>
                </a:solidFill>
                <a:latin typeface="Carlito"/>
                <a:ea typeface="Carlito"/>
                <a:cs typeface="Carlito"/>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0">
            <a:noFill/>
            <a:prstDash val="solid"/>
          </a:ln>
        </c:spPr>
        <c:txPr>
          <a:bodyPr anchorCtr="1"/>
          <a:lstStyle/>
          <a:p>
            <a:pPr>
              <a:defRPr sz="750">
                <a:solidFill>
                  <a:srgbClr val="5F6F7F"/>
                </a:solidFill>
                <a:latin typeface="Carlito"/>
                <a:ea typeface="Carlito"/>
                <a:cs typeface="Carlito"/>
              </a:defRPr>
            </a:pPr>
            <a:endParaRPr lang="en-US"/>
          </a:p>
        </c:txPr>
        <c:crossAx val="48650112"/>
        <c:crosses val="autoZero"/>
        <c:crossBetween val="between"/>
      </c:valAx>
      <c:spPr>
        <a:solidFill>
          <a:srgbClr val="FFFFFF"/>
        </a:solidFill>
      </c:spPr>
    </c:plotArea>
    <c:plotVisOnly val="1"/>
    <c:dispBlanksAs val="zero"/>
    <c:showDLblsOverMax val="1"/>
  </c:chart>
  <c:spPr>
    <a:solidFill>
      <a:srgbClr val="FFFFFF"/>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project as an analytics system for examining ASEAN Olympic participation and medal performance. The analysis covers records from 1924 to 2016 and combines Python-based preparation and exploratory analysis with an interactive Power BI dashboard.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the work as a decision-support problem. The seven objectives come from the EDA notebook. The dataset does not include funding, coaching quality or training investment, so the analysis can identify patterns and opportunity signals but cannot prove their causes. Source: 02_EDA_ASEAN_Olympics.ipynb.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the global source contained 271,116 rows. Removing 1,385 exact duplicates left 269,731 global rows, after which the ASEAN filter produced 3,233 records. Age, height and weight were retained as missing and flagged rather than imputed. Team medals were deduplicated to 90 country medal records. Sources: 01_Data_Cleaning.ipynb and ASEAN_Olympics_Cleaning_Log.md.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system as two connected layers. Python prepares and validates the data. Power BI provides an executive page and a performance analysis page. The Joseph Schooling filter test checked Singapore, swimming, gold and years after 2000, returning one record from 2016. Sources: supplied Power BI screenshots, 01_Data_Cleaning.ipynb and 02_EDA_ASEAN_Olympics.ipynb.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Participation expanded substantially over the historical period. Female participation began later and reached 49.6% of ASEAN Summer athlete-event participations in 2016. Official medal performance increased from the 1990s and reached 18 medals in 2016. The chart supports a long-term pattern but does not identify its causes. Source: calculations from 02_EDA_ASEAN_Olympics.ipynb and athlete_events.csv after the documented cleaning steps.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Indonesia and Thailand each recorded 30 official medals. Together they contributed 60 of 90 medals, or 66.7%. Malaysia recorded 11, the Philippines 10, Singapore 5 and Vietnam 4. Brunei, Cambodia, Laos and Myanmar recorded none in this dataset. This comparison describes outcomes and does not explain differences in resources or sporting systems. Source: 02_EDA_ASEAN_Olympics.ipynb.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Badminton, weightlifting and boxing generated 70 of 90 medals, or 77.8%. To examine change fairly, compare two periods containing four Summer editions each: 1988 to 2000 and 2004 to 2016. Weightlifting increased from 4 to 19 medals. Taekwondo increased from 1 to 5 and table tennis from 0 to 3. Badminton decreased from 15 to 12 and boxing from 9 to 6, but both remained major contributors. These figures describe historical change and should not be treated as forecasts. Source: calculations from the cleaned athlete-events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age analysis excludes 171 records with missing ages. Medal records have a median age of 24.5 years and an interquartile range of 22 to 27. Non-medal records have a median age of 23 and an interquartile range of 20 to 27. The overlap is substantial. The medal-yield chart divides official medals by athlete-event participations. It is a directional benchmark only because sport mix, event structure and team size differ across countries. Sources: ASEAN_Age_Medal_Boxplot.png, 01_Data_Cleaning.ipynb and calculations from the cleaned dataset.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practical recommendations that follow directly from the evidence. Proven sports deserve continued attention, but strategy should remain country-specific. Consistent edition-level monitoring will make future comparisons stronger. Emphasise that the analysis covers historical associations only and should be supplemented with current programme, funding, coaching and competition data before investment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1A4203D-A057-45BF-90AE-0017F04B9F0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8538C0E7-ABDF-4CAC-9BD9-C1EE411E149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716C1D88-7100-4C69-94F8-7931DDA60A9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57AF986-4B82-46C8-94B6-A07F932C999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8614C1F2-FA6E-4014-9F3E-1D73F93D068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2CB5E49-2CF6-48A8-869A-CA79E597D2E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00793E1-2023-4C22-9830-0225A7058AC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839DCF40-40E6-4499-B7AB-A985F3BABD9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ED6657D-17AD-4503-84DA-45940F481AE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E16C51D-5887-443B-878E-080A866EB72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chart" Target="../charts/char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B3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E5DD1FB-AFC7-4278-9A77-5D5AE4A218D9}"/>
              </a:ext>
            </a:extLst>
          </p:cNvPr>
          <p:cNvSpPr>
            <a:spLocks noGrp="1"/>
          </p:cNvSpPr>
          <p:nvPr/>
        </p:nvSpPr>
        <p:spPr>
          <a:xfrm>
            <a:off x="704850" y="866775"/>
            <a:ext cx="1143000" cy="57150"/>
          </a:xfrm>
          <a:prstGeom prst="rect">
            <a:avLst/>
          </a:prstGeom>
          <a:solidFill>
            <a:srgbClr val="D4AF37"/>
          </a:solidFill>
          <a:ln w="0">
            <a:noFill/>
            <a:prstDash val="solid"/>
          </a:ln>
        </p:spPr>
        <p:txBody>
          <a:bodyPr/>
          <a:lstStyle/>
          <a:p>
            <a:endParaRPr lang="en-SG"/>
          </a:p>
        </p:txBody>
      </p:sp>
      <p:sp>
        <p:nvSpPr>
          <p:cNvPr id="2" name="Rectangle 1">
            <a:extLst>
              <a:ext uri="{FF2B5EF4-FFF2-40B4-BE49-F238E27FC236}">
                <a16:creationId xmlns:a16="http://schemas.microsoft.com/office/drawing/2014/main" id="{2D1DD3E2-8E7F-4C5D-9717-A2160FD026A5}"/>
              </a:ext>
            </a:extLst>
          </p:cNvPr>
          <p:cNvSpPr>
            <a:spLocks noGrp="1"/>
          </p:cNvSpPr>
          <p:nvPr/>
        </p:nvSpPr>
        <p:spPr>
          <a:xfrm>
            <a:off x="704850" y="1314450"/>
            <a:ext cx="8572500" cy="1885950"/>
          </a:xfrm>
          <a:prstGeom prst="rect">
            <a:avLst/>
          </a:prstGeom>
          <a:noFill/>
          <a:ln w="0">
            <a:noFill/>
            <a:prstDash val="solid"/>
          </a:ln>
        </p:spPr>
        <p:txBody>
          <a:bodyPr wrap="square" lIns="0" tIns="0" rIns="0" bIns="0" anchor="t">
            <a:normAutofit/>
          </a:bodyPr>
          <a:lstStyle>
            <a:defPPr algn="l">
              <a:defRPr sz="4200" b="1" i="0">
                <a:solidFill>
                  <a:srgbClr val="FFFFFF"/>
                </a:solidFill>
                <a:latin typeface="Carlito"/>
                <a:ea typeface="Carlito"/>
                <a:cs typeface="Carlito"/>
              </a:defRPr>
            </a:defPPr>
            <a:lvl1pPr algn="l">
              <a:defRPr sz="4200" b="1" i="0">
                <a:solidFill>
                  <a:srgbClr val="FFFFFF"/>
                </a:solidFill>
                <a:latin typeface="Carlito"/>
                <a:ea typeface="Carlito"/>
                <a:cs typeface="Carlito"/>
              </a:defRPr>
            </a:lvl1pPr>
            <a:lvl2pPr algn="l">
              <a:defRPr sz="4200" b="1" i="0">
                <a:solidFill>
                  <a:srgbClr val="FFFFFF"/>
                </a:solidFill>
                <a:latin typeface="Carlito"/>
                <a:ea typeface="Carlito"/>
                <a:cs typeface="Carlito"/>
              </a:defRPr>
            </a:lvl2pPr>
            <a:lvl3pPr algn="l">
              <a:defRPr sz="4200" b="1" i="0">
                <a:solidFill>
                  <a:srgbClr val="FFFFFF"/>
                </a:solidFill>
                <a:latin typeface="Carlito"/>
                <a:ea typeface="Carlito"/>
                <a:cs typeface="Carlito"/>
              </a:defRPr>
            </a:lvl3pPr>
            <a:lvl4pPr algn="l">
              <a:defRPr sz="4200" b="1" i="0">
                <a:solidFill>
                  <a:srgbClr val="FFFFFF"/>
                </a:solidFill>
                <a:latin typeface="Carlito"/>
                <a:ea typeface="Carlito"/>
                <a:cs typeface="Carlito"/>
              </a:defRPr>
            </a:lvl4pPr>
            <a:lvl5pPr algn="l">
              <a:defRPr sz="4200" b="1" i="0">
                <a:solidFill>
                  <a:srgbClr val="FFFFFF"/>
                </a:solidFill>
                <a:latin typeface="Carlito"/>
                <a:ea typeface="Carlito"/>
                <a:cs typeface="Carlito"/>
              </a:defRPr>
            </a:lvl5pPr>
            <a:lvl6pPr algn="l">
              <a:defRPr sz="4200" b="1" i="0">
                <a:solidFill>
                  <a:srgbClr val="FFFFFF"/>
                </a:solidFill>
                <a:latin typeface="Carlito"/>
                <a:ea typeface="Carlito"/>
                <a:cs typeface="Carlito"/>
              </a:defRPr>
            </a:lvl6pPr>
            <a:lvl7pPr algn="l">
              <a:defRPr sz="4200" b="1" i="0">
                <a:solidFill>
                  <a:srgbClr val="FFFFFF"/>
                </a:solidFill>
                <a:latin typeface="Carlito"/>
                <a:ea typeface="Carlito"/>
                <a:cs typeface="Carlito"/>
              </a:defRPr>
            </a:lvl7pPr>
            <a:lvl8pPr algn="l">
              <a:defRPr sz="4200" b="1" i="0">
                <a:solidFill>
                  <a:srgbClr val="FFFFFF"/>
                </a:solidFill>
                <a:latin typeface="Carlito"/>
                <a:ea typeface="Carlito"/>
                <a:cs typeface="Carlito"/>
              </a:defRPr>
            </a:lvl8pPr>
            <a:lvl9pPr algn="l">
              <a:defRPr sz="4200" b="1" i="0">
                <a:solidFill>
                  <a:srgbClr val="FFFFFF"/>
                </a:solidFill>
                <a:latin typeface="Carlito"/>
                <a:ea typeface="Carlito"/>
                <a:cs typeface="Carlito"/>
              </a:defRPr>
            </a:lvl9pPr>
          </a:lstStyle>
          <a:p>
            <a:pPr algn="l">
              <a:defRPr sz="4200" b="1" i="0">
                <a:solidFill>
                  <a:srgbClr val="FFFFFF"/>
                </a:solidFill>
                <a:latin typeface="Carlito"/>
                <a:ea typeface="Carlito"/>
                <a:cs typeface="Carlito"/>
              </a:defRPr>
            </a:pPr>
            <a:r>
              <a:rPr sz="4200" b="1" i="0">
                <a:solidFill>
                  <a:srgbClr val="FFFFFF"/>
                </a:solidFill>
                <a:latin typeface="Carlito"/>
                <a:ea typeface="Carlito"/>
                <a:cs typeface="Carlito"/>
              </a:rPr>
              <a:t>ASEAN Olympic</a:t>
            </a:r>
          </a:p>
          <a:p>
            <a:pPr algn="l">
              <a:defRPr sz="4200" b="1" i="0">
                <a:solidFill>
                  <a:srgbClr val="FFFFFF"/>
                </a:solidFill>
                <a:latin typeface="Carlito"/>
                <a:ea typeface="Carlito"/>
                <a:cs typeface="Carlito"/>
              </a:defRPr>
            </a:pPr>
            <a:r>
              <a:rPr sz="4200" b="1" i="0">
                <a:solidFill>
                  <a:srgbClr val="FFFFFF"/>
                </a:solidFill>
                <a:latin typeface="Carlito"/>
                <a:ea typeface="Carlito"/>
                <a:cs typeface="Carlito"/>
              </a:rPr>
              <a:t>Performance Intelligence System</a:t>
            </a:r>
          </a:p>
        </p:txBody>
      </p:sp>
      <p:sp>
        <p:nvSpPr>
          <p:cNvPr id="3" name="Rectangle 2">
            <a:extLst>
              <a:ext uri="{FF2B5EF4-FFF2-40B4-BE49-F238E27FC236}">
                <a16:creationId xmlns:a16="http://schemas.microsoft.com/office/drawing/2014/main" id="{3D9142E0-0DFB-4082-837A-B27FE8AC7433}"/>
              </a:ext>
            </a:extLst>
          </p:cNvPr>
          <p:cNvSpPr>
            <a:spLocks noGrp="1"/>
          </p:cNvSpPr>
          <p:nvPr/>
        </p:nvSpPr>
        <p:spPr>
          <a:xfrm>
            <a:off x="742950" y="3448050"/>
            <a:ext cx="7620000" cy="590550"/>
          </a:xfrm>
          <a:prstGeom prst="rect">
            <a:avLst/>
          </a:prstGeom>
          <a:noFill/>
          <a:ln w="0">
            <a:noFill/>
            <a:prstDash val="solid"/>
          </a:ln>
        </p:spPr>
        <p:txBody>
          <a:bodyPr wrap="square" lIns="0" tIns="0" rIns="0" bIns="0" anchor="t">
            <a:normAutofit fontScale="96875"/>
          </a:bodyPr>
          <a:lstStyle>
            <a:defPPr algn="l">
              <a:defRPr sz="2000" b="0" i="0">
                <a:solidFill>
                  <a:srgbClr val="D8E4F0"/>
                </a:solidFill>
                <a:latin typeface="Carlito"/>
                <a:ea typeface="Carlito"/>
                <a:cs typeface="Carlito"/>
              </a:defRPr>
            </a:defPPr>
            <a:lvl1pPr algn="l">
              <a:defRPr sz="2000" b="0" i="0">
                <a:solidFill>
                  <a:srgbClr val="D8E4F0"/>
                </a:solidFill>
                <a:latin typeface="Carlito"/>
                <a:ea typeface="Carlito"/>
                <a:cs typeface="Carlito"/>
              </a:defRPr>
            </a:lvl1pPr>
            <a:lvl2pPr algn="l">
              <a:defRPr sz="2000" b="0" i="0">
                <a:solidFill>
                  <a:srgbClr val="D8E4F0"/>
                </a:solidFill>
                <a:latin typeface="Carlito"/>
                <a:ea typeface="Carlito"/>
                <a:cs typeface="Carlito"/>
              </a:defRPr>
            </a:lvl2pPr>
            <a:lvl3pPr algn="l">
              <a:defRPr sz="2000" b="0" i="0">
                <a:solidFill>
                  <a:srgbClr val="D8E4F0"/>
                </a:solidFill>
                <a:latin typeface="Carlito"/>
                <a:ea typeface="Carlito"/>
                <a:cs typeface="Carlito"/>
              </a:defRPr>
            </a:lvl3pPr>
            <a:lvl4pPr algn="l">
              <a:defRPr sz="2000" b="0" i="0">
                <a:solidFill>
                  <a:srgbClr val="D8E4F0"/>
                </a:solidFill>
                <a:latin typeface="Carlito"/>
                <a:ea typeface="Carlito"/>
                <a:cs typeface="Carlito"/>
              </a:defRPr>
            </a:lvl4pPr>
            <a:lvl5pPr algn="l">
              <a:defRPr sz="2000" b="0" i="0">
                <a:solidFill>
                  <a:srgbClr val="D8E4F0"/>
                </a:solidFill>
                <a:latin typeface="Carlito"/>
                <a:ea typeface="Carlito"/>
                <a:cs typeface="Carlito"/>
              </a:defRPr>
            </a:lvl5pPr>
            <a:lvl6pPr algn="l">
              <a:defRPr sz="2000" b="0" i="0">
                <a:solidFill>
                  <a:srgbClr val="D8E4F0"/>
                </a:solidFill>
                <a:latin typeface="Carlito"/>
                <a:ea typeface="Carlito"/>
                <a:cs typeface="Carlito"/>
              </a:defRPr>
            </a:lvl6pPr>
            <a:lvl7pPr algn="l">
              <a:defRPr sz="2000" b="0" i="0">
                <a:solidFill>
                  <a:srgbClr val="D8E4F0"/>
                </a:solidFill>
                <a:latin typeface="Carlito"/>
                <a:ea typeface="Carlito"/>
                <a:cs typeface="Carlito"/>
              </a:defRPr>
            </a:lvl7pPr>
            <a:lvl8pPr algn="l">
              <a:defRPr sz="2000" b="0" i="0">
                <a:solidFill>
                  <a:srgbClr val="D8E4F0"/>
                </a:solidFill>
                <a:latin typeface="Carlito"/>
                <a:ea typeface="Carlito"/>
                <a:cs typeface="Carlito"/>
              </a:defRPr>
            </a:lvl8pPr>
            <a:lvl9pPr algn="l">
              <a:defRPr sz="2000" b="0" i="0">
                <a:solidFill>
                  <a:srgbClr val="D8E4F0"/>
                </a:solidFill>
                <a:latin typeface="Carlito"/>
                <a:ea typeface="Carlito"/>
                <a:cs typeface="Carlito"/>
              </a:defRPr>
            </a:lvl9pPr>
          </a:lstStyle>
          <a:p>
            <a:pPr algn="l">
              <a:defRPr sz="2000" b="0" i="0">
                <a:solidFill>
                  <a:srgbClr val="D8E4F0"/>
                </a:solidFill>
                <a:latin typeface="Carlito"/>
                <a:ea typeface="Carlito"/>
                <a:cs typeface="Carlito"/>
              </a:defRPr>
            </a:pPr>
            <a:r>
              <a:rPr sz="2000" b="0" i="0">
                <a:solidFill>
                  <a:srgbClr val="D8E4F0"/>
                </a:solidFill>
                <a:latin typeface="Carlito"/>
                <a:ea typeface="Carlito"/>
                <a:cs typeface="Carlito"/>
              </a:rPr>
              <a:t>Historical analysis of ASEAN participation and medal performance, 1924–2016</a:t>
            </a:r>
          </a:p>
        </p:txBody>
      </p:sp>
      <p:sp>
        <p:nvSpPr>
          <p:cNvPr id="4" name="Rectangle 3">
            <a:extLst>
              <a:ext uri="{FF2B5EF4-FFF2-40B4-BE49-F238E27FC236}">
                <a16:creationId xmlns:a16="http://schemas.microsoft.com/office/drawing/2014/main" id="{E0463185-B0F7-44BA-8E83-085891BF0511}"/>
              </a:ext>
            </a:extLst>
          </p:cNvPr>
          <p:cNvSpPr>
            <a:spLocks noGrp="1"/>
          </p:cNvSpPr>
          <p:nvPr/>
        </p:nvSpPr>
        <p:spPr>
          <a:xfrm>
            <a:off x="742950" y="4914900"/>
            <a:ext cx="3810000" cy="304800"/>
          </a:xfrm>
          <a:prstGeom prst="rect">
            <a:avLst/>
          </a:prstGeom>
          <a:noFill/>
          <a:ln w="0">
            <a:noFill/>
            <a:prstDash val="solid"/>
          </a:ln>
        </p:spPr>
        <p:txBody>
          <a:bodyPr wrap="square" lIns="0" tIns="0" rIns="0" bIns="0" anchor="t">
            <a:normAutofit/>
          </a:bodyPr>
          <a:lstStyle>
            <a:defPPr algn="l">
              <a:defRPr sz="1700" b="1" i="0">
                <a:solidFill>
                  <a:srgbClr val="D4AF37"/>
                </a:solidFill>
                <a:latin typeface="Carlito"/>
                <a:ea typeface="Carlito"/>
                <a:cs typeface="Carlito"/>
              </a:defRPr>
            </a:defPPr>
            <a:lvl1pPr algn="l">
              <a:defRPr sz="1700" b="1" i="0">
                <a:solidFill>
                  <a:srgbClr val="D4AF37"/>
                </a:solidFill>
                <a:latin typeface="Carlito"/>
                <a:ea typeface="Carlito"/>
                <a:cs typeface="Carlito"/>
              </a:defRPr>
            </a:lvl1pPr>
            <a:lvl2pPr algn="l">
              <a:defRPr sz="1700" b="1" i="0">
                <a:solidFill>
                  <a:srgbClr val="D4AF37"/>
                </a:solidFill>
                <a:latin typeface="Carlito"/>
                <a:ea typeface="Carlito"/>
                <a:cs typeface="Carlito"/>
              </a:defRPr>
            </a:lvl2pPr>
            <a:lvl3pPr algn="l">
              <a:defRPr sz="1700" b="1" i="0">
                <a:solidFill>
                  <a:srgbClr val="D4AF37"/>
                </a:solidFill>
                <a:latin typeface="Carlito"/>
                <a:ea typeface="Carlito"/>
                <a:cs typeface="Carlito"/>
              </a:defRPr>
            </a:lvl3pPr>
            <a:lvl4pPr algn="l">
              <a:defRPr sz="1700" b="1" i="0">
                <a:solidFill>
                  <a:srgbClr val="D4AF37"/>
                </a:solidFill>
                <a:latin typeface="Carlito"/>
                <a:ea typeface="Carlito"/>
                <a:cs typeface="Carlito"/>
              </a:defRPr>
            </a:lvl4pPr>
            <a:lvl5pPr algn="l">
              <a:defRPr sz="1700" b="1" i="0">
                <a:solidFill>
                  <a:srgbClr val="D4AF37"/>
                </a:solidFill>
                <a:latin typeface="Carlito"/>
                <a:ea typeface="Carlito"/>
                <a:cs typeface="Carlito"/>
              </a:defRPr>
            </a:lvl5pPr>
            <a:lvl6pPr algn="l">
              <a:defRPr sz="1700" b="1" i="0">
                <a:solidFill>
                  <a:srgbClr val="D4AF37"/>
                </a:solidFill>
                <a:latin typeface="Carlito"/>
                <a:ea typeface="Carlito"/>
                <a:cs typeface="Carlito"/>
              </a:defRPr>
            </a:lvl6pPr>
            <a:lvl7pPr algn="l">
              <a:defRPr sz="1700" b="1" i="0">
                <a:solidFill>
                  <a:srgbClr val="D4AF37"/>
                </a:solidFill>
                <a:latin typeface="Carlito"/>
                <a:ea typeface="Carlito"/>
                <a:cs typeface="Carlito"/>
              </a:defRPr>
            </a:lvl7pPr>
            <a:lvl8pPr algn="l">
              <a:defRPr sz="1700" b="1" i="0">
                <a:solidFill>
                  <a:srgbClr val="D4AF37"/>
                </a:solidFill>
                <a:latin typeface="Carlito"/>
                <a:ea typeface="Carlito"/>
                <a:cs typeface="Carlito"/>
              </a:defRPr>
            </a:lvl8pPr>
            <a:lvl9pPr algn="l">
              <a:defRPr sz="1700" b="1" i="0">
                <a:solidFill>
                  <a:srgbClr val="D4AF37"/>
                </a:solidFill>
                <a:latin typeface="Carlito"/>
                <a:ea typeface="Carlito"/>
                <a:cs typeface="Carlito"/>
              </a:defRPr>
            </a:lvl9pPr>
          </a:lstStyle>
          <a:p>
            <a:pPr algn="l">
              <a:defRPr sz="1700" b="1" i="0">
                <a:solidFill>
                  <a:srgbClr val="D4AF37"/>
                </a:solidFill>
                <a:latin typeface="Carlito"/>
                <a:ea typeface="Carlito"/>
                <a:cs typeface="Carlito"/>
              </a:defRPr>
            </a:pPr>
            <a:r>
              <a:rPr sz="1700" b="1" i="0">
                <a:solidFill>
                  <a:srgbClr val="D4AF37"/>
                </a:solidFill>
                <a:latin typeface="Carlito"/>
                <a:ea typeface="Carlito"/>
                <a:cs typeface="Carlito"/>
              </a:rPr>
              <a:t>Terence Quek</a:t>
            </a:r>
          </a:p>
        </p:txBody>
      </p:sp>
      <p:sp>
        <p:nvSpPr>
          <p:cNvPr id="5" name="Rectangle 4">
            <a:extLst>
              <a:ext uri="{FF2B5EF4-FFF2-40B4-BE49-F238E27FC236}">
                <a16:creationId xmlns:a16="http://schemas.microsoft.com/office/drawing/2014/main" id="{1C9159C4-C3A1-44E1-B5E0-534F843C1324}"/>
              </a:ext>
            </a:extLst>
          </p:cNvPr>
          <p:cNvSpPr>
            <a:spLocks noGrp="1"/>
          </p:cNvSpPr>
          <p:nvPr/>
        </p:nvSpPr>
        <p:spPr>
          <a:xfrm>
            <a:off x="742950" y="5295900"/>
            <a:ext cx="4476750" cy="647700"/>
          </a:xfrm>
          <a:prstGeom prst="rect">
            <a:avLst/>
          </a:prstGeom>
          <a:noFill/>
          <a:ln w="0">
            <a:noFill/>
            <a:prstDash val="solid"/>
          </a:ln>
        </p:spPr>
        <p:txBody>
          <a:bodyPr wrap="square" lIns="0" tIns="0" rIns="0" bIns="0" anchor="t">
            <a:normAutofit/>
          </a:bodyPr>
          <a:lstStyle>
            <a:defPPr algn="l">
              <a:defRPr sz="1400" b="0" i="0">
                <a:solidFill>
                  <a:srgbClr val="C4D0DC"/>
                </a:solidFill>
                <a:latin typeface="Carlito"/>
                <a:ea typeface="Carlito"/>
                <a:cs typeface="Carlito"/>
              </a:defRPr>
            </a:defPPr>
            <a:lvl1pPr algn="l">
              <a:defRPr sz="1400" b="0" i="0">
                <a:solidFill>
                  <a:srgbClr val="C4D0DC"/>
                </a:solidFill>
                <a:latin typeface="Carlito"/>
                <a:ea typeface="Carlito"/>
                <a:cs typeface="Carlito"/>
              </a:defRPr>
            </a:lvl1pPr>
            <a:lvl2pPr algn="l">
              <a:defRPr sz="1400" b="0" i="0">
                <a:solidFill>
                  <a:srgbClr val="C4D0DC"/>
                </a:solidFill>
                <a:latin typeface="Carlito"/>
                <a:ea typeface="Carlito"/>
                <a:cs typeface="Carlito"/>
              </a:defRPr>
            </a:lvl2pPr>
            <a:lvl3pPr algn="l">
              <a:defRPr sz="1400" b="0" i="0">
                <a:solidFill>
                  <a:srgbClr val="C4D0DC"/>
                </a:solidFill>
                <a:latin typeface="Carlito"/>
                <a:ea typeface="Carlito"/>
                <a:cs typeface="Carlito"/>
              </a:defRPr>
            </a:lvl3pPr>
            <a:lvl4pPr algn="l">
              <a:defRPr sz="1400" b="0" i="0">
                <a:solidFill>
                  <a:srgbClr val="C4D0DC"/>
                </a:solidFill>
                <a:latin typeface="Carlito"/>
                <a:ea typeface="Carlito"/>
                <a:cs typeface="Carlito"/>
              </a:defRPr>
            </a:lvl4pPr>
            <a:lvl5pPr algn="l">
              <a:defRPr sz="1400" b="0" i="0">
                <a:solidFill>
                  <a:srgbClr val="C4D0DC"/>
                </a:solidFill>
                <a:latin typeface="Carlito"/>
                <a:ea typeface="Carlito"/>
                <a:cs typeface="Carlito"/>
              </a:defRPr>
            </a:lvl5pPr>
            <a:lvl6pPr algn="l">
              <a:defRPr sz="1400" b="0" i="0">
                <a:solidFill>
                  <a:srgbClr val="C4D0DC"/>
                </a:solidFill>
                <a:latin typeface="Carlito"/>
                <a:ea typeface="Carlito"/>
                <a:cs typeface="Carlito"/>
              </a:defRPr>
            </a:lvl6pPr>
            <a:lvl7pPr algn="l">
              <a:defRPr sz="1400" b="0" i="0">
                <a:solidFill>
                  <a:srgbClr val="C4D0DC"/>
                </a:solidFill>
                <a:latin typeface="Carlito"/>
                <a:ea typeface="Carlito"/>
                <a:cs typeface="Carlito"/>
              </a:defRPr>
            </a:lvl7pPr>
            <a:lvl8pPr algn="l">
              <a:defRPr sz="1400" b="0" i="0">
                <a:solidFill>
                  <a:srgbClr val="C4D0DC"/>
                </a:solidFill>
                <a:latin typeface="Carlito"/>
                <a:ea typeface="Carlito"/>
                <a:cs typeface="Carlito"/>
              </a:defRPr>
            </a:lvl8pPr>
            <a:lvl9pPr algn="l">
              <a:defRPr sz="1400" b="0" i="0">
                <a:solidFill>
                  <a:srgbClr val="C4D0DC"/>
                </a:solidFill>
                <a:latin typeface="Carlito"/>
                <a:ea typeface="Carlito"/>
                <a:cs typeface="Carlito"/>
              </a:defRPr>
            </a:lvl9pPr>
          </a:lstStyle>
          <a:p>
            <a:pPr algn="l">
              <a:defRPr sz="1400" b="0" i="0">
                <a:solidFill>
                  <a:srgbClr val="C4D0DC"/>
                </a:solidFill>
                <a:latin typeface="Carlito"/>
                <a:ea typeface="Carlito"/>
                <a:cs typeface="Carlito"/>
              </a:defRPr>
            </a:pPr>
            <a:r>
              <a:rPr sz="1400" b="0" i="0">
                <a:solidFill>
                  <a:srgbClr val="C4D0DC"/>
                </a:solidFill>
                <a:latin typeface="Carlito"/>
                <a:ea typeface="Carlito"/>
                <a:cs typeface="Carlito"/>
              </a:rPr>
              <a:t>SCTP Associate Data Analyst Capstone Project</a:t>
            </a:r>
          </a:p>
          <a:p>
            <a:pPr algn="l">
              <a:defRPr sz="1400" b="0" i="0">
                <a:solidFill>
                  <a:srgbClr val="C4D0DC"/>
                </a:solidFill>
                <a:latin typeface="Carlito"/>
                <a:ea typeface="Carlito"/>
                <a:cs typeface="Carlito"/>
              </a:defRPr>
            </a:pPr>
            <a:r>
              <a:rPr sz="1400" b="0" i="0">
                <a:solidFill>
                  <a:srgbClr val="C4D0DC"/>
                </a:solidFill>
                <a:latin typeface="Carlito"/>
                <a:ea typeface="Carlito"/>
                <a:cs typeface="Carlito"/>
              </a:rPr>
              <a:t>October 2026</a:t>
            </a:r>
          </a:p>
        </p:txBody>
      </p:sp>
      <p:sp>
        <p:nvSpPr>
          <p:cNvPr id="6" name="Rectangle 5">
            <a:extLst>
              <a:ext uri="{FF2B5EF4-FFF2-40B4-BE49-F238E27FC236}">
                <a16:creationId xmlns:a16="http://schemas.microsoft.com/office/drawing/2014/main" id="{3872B509-0364-4DDC-8899-E7BF1EE8E446}"/>
              </a:ext>
            </a:extLst>
          </p:cNvPr>
          <p:cNvSpPr>
            <a:spLocks noGrp="1"/>
          </p:cNvSpPr>
          <p:nvPr/>
        </p:nvSpPr>
        <p:spPr>
          <a:xfrm>
            <a:off x="0" y="6705600"/>
            <a:ext cx="4057650" cy="152400"/>
          </a:xfrm>
          <a:prstGeom prst="rect">
            <a:avLst/>
          </a:prstGeom>
          <a:solidFill>
            <a:srgbClr val="D4AF37"/>
          </a:solidFill>
          <a:ln w="0">
            <a:noFill/>
            <a:prstDash val="solid"/>
          </a:ln>
        </p:spPr>
        <p:txBody>
          <a:bodyPr/>
          <a:lstStyle/>
          <a:p>
            <a:endParaRPr lang="en-SG"/>
          </a:p>
        </p:txBody>
      </p:sp>
      <p:sp>
        <p:nvSpPr>
          <p:cNvPr id="7" name="Rectangle 6">
            <a:extLst>
              <a:ext uri="{FF2B5EF4-FFF2-40B4-BE49-F238E27FC236}">
                <a16:creationId xmlns:a16="http://schemas.microsoft.com/office/drawing/2014/main" id="{D42AA4BB-E94E-4C5C-8BA0-BCE507037DED}"/>
              </a:ext>
            </a:extLst>
          </p:cNvPr>
          <p:cNvSpPr>
            <a:spLocks noGrp="1"/>
          </p:cNvSpPr>
          <p:nvPr/>
        </p:nvSpPr>
        <p:spPr>
          <a:xfrm>
            <a:off x="4057650" y="6705600"/>
            <a:ext cx="4067175" cy="152400"/>
          </a:xfrm>
          <a:prstGeom prst="rect">
            <a:avLst/>
          </a:prstGeom>
          <a:solidFill>
            <a:srgbClr val="A7A9AC"/>
          </a:solidFill>
          <a:ln w="0">
            <a:noFill/>
            <a:prstDash val="solid"/>
          </a:ln>
        </p:spPr>
        <p:txBody>
          <a:bodyPr/>
          <a:lstStyle/>
          <a:p>
            <a:endParaRPr lang="en-SG"/>
          </a:p>
        </p:txBody>
      </p:sp>
      <p:sp>
        <p:nvSpPr>
          <p:cNvPr id="8" name="Rectangle 7">
            <a:extLst>
              <a:ext uri="{FF2B5EF4-FFF2-40B4-BE49-F238E27FC236}">
                <a16:creationId xmlns:a16="http://schemas.microsoft.com/office/drawing/2014/main" id="{BF6FB37C-0E0A-48D3-9850-095E21A7387F}"/>
              </a:ext>
            </a:extLst>
          </p:cNvPr>
          <p:cNvSpPr>
            <a:spLocks noGrp="1"/>
          </p:cNvSpPr>
          <p:nvPr/>
        </p:nvSpPr>
        <p:spPr>
          <a:xfrm>
            <a:off x="8124825" y="6705600"/>
            <a:ext cx="4067175" cy="152400"/>
          </a:xfrm>
          <a:prstGeom prst="rect">
            <a:avLst/>
          </a:prstGeom>
          <a:solidFill>
            <a:srgbClr val="CD7F32"/>
          </a:solidFill>
          <a:ln w="0">
            <a:noFill/>
            <a:prstDash val="solid"/>
          </a:ln>
        </p:spPr>
        <p:txBody>
          <a:bodyPr/>
          <a:lstStyle/>
          <a:p>
            <a:endParaRPr lang="en-SG"/>
          </a:p>
        </p:txBody>
      </p:sp>
    </p:spTree>
    <p:extLst>
      <p:ext uri="{BB962C8B-B14F-4D97-AF65-F5344CB8AC3E}">
        <p14:creationId xmlns:p14="http://schemas.microsoft.com/office/powerpoint/2010/main" val="2029526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6990584A-5829-4879-AB54-52029ABF7A22}"/>
              </a:ext>
            </a:extLst>
          </p:cNvPr>
          <p:cNvSpPr>
            <a:spLocks noGrp="1"/>
          </p:cNvSpPr>
          <p:nvPr/>
        </p:nvSpPr>
        <p:spPr>
          <a:xfrm>
            <a:off x="609600" y="361950"/>
            <a:ext cx="10477500" cy="457200"/>
          </a:xfrm>
          <a:prstGeom prst="rect">
            <a:avLst/>
          </a:prstGeom>
          <a:noFill/>
          <a:ln w="0">
            <a:noFill/>
            <a:prstDash val="solid"/>
          </a:ln>
        </p:spPr>
        <p:txBody>
          <a:bodyPr wrap="square" lIns="0" tIns="0" rIns="0" bIns="0" anchor="t">
            <a:normAutofit/>
          </a:bodyPr>
          <a:lstStyle>
            <a:defPPr algn="l">
              <a:defRPr sz="2800" b="1" i="0">
                <a:solidFill>
                  <a:srgbClr val="071B33"/>
                </a:solidFill>
                <a:latin typeface="Carlito"/>
                <a:ea typeface="Carlito"/>
                <a:cs typeface="Carlito"/>
              </a:defRPr>
            </a:defPPr>
            <a:lvl1pPr algn="l">
              <a:defRPr sz="2800" b="1" i="0">
                <a:solidFill>
                  <a:srgbClr val="071B33"/>
                </a:solidFill>
                <a:latin typeface="Carlito"/>
                <a:ea typeface="Carlito"/>
                <a:cs typeface="Carlito"/>
              </a:defRPr>
            </a:lvl1pPr>
            <a:lvl2pPr algn="l">
              <a:defRPr sz="2800" b="1" i="0">
                <a:solidFill>
                  <a:srgbClr val="071B33"/>
                </a:solidFill>
                <a:latin typeface="Carlito"/>
                <a:ea typeface="Carlito"/>
                <a:cs typeface="Carlito"/>
              </a:defRPr>
            </a:lvl2pPr>
            <a:lvl3pPr algn="l">
              <a:defRPr sz="2800" b="1" i="0">
                <a:solidFill>
                  <a:srgbClr val="071B33"/>
                </a:solidFill>
                <a:latin typeface="Carlito"/>
                <a:ea typeface="Carlito"/>
                <a:cs typeface="Carlito"/>
              </a:defRPr>
            </a:lvl3pPr>
            <a:lvl4pPr algn="l">
              <a:defRPr sz="2800" b="1" i="0">
                <a:solidFill>
                  <a:srgbClr val="071B33"/>
                </a:solidFill>
                <a:latin typeface="Carlito"/>
                <a:ea typeface="Carlito"/>
                <a:cs typeface="Carlito"/>
              </a:defRPr>
            </a:lvl4pPr>
            <a:lvl5pPr algn="l">
              <a:defRPr sz="2800" b="1" i="0">
                <a:solidFill>
                  <a:srgbClr val="071B33"/>
                </a:solidFill>
                <a:latin typeface="Carlito"/>
                <a:ea typeface="Carlito"/>
                <a:cs typeface="Carlito"/>
              </a:defRPr>
            </a:lvl5pPr>
            <a:lvl6pPr algn="l">
              <a:defRPr sz="2800" b="1" i="0">
                <a:solidFill>
                  <a:srgbClr val="071B33"/>
                </a:solidFill>
                <a:latin typeface="Carlito"/>
                <a:ea typeface="Carlito"/>
                <a:cs typeface="Carlito"/>
              </a:defRPr>
            </a:lvl6pPr>
            <a:lvl7pPr algn="l">
              <a:defRPr sz="2800" b="1" i="0">
                <a:solidFill>
                  <a:srgbClr val="071B33"/>
                </a:solidFill>
                <a:latin typeface="Carlito"/>
                <a:ea typeface="Carlito"/>
                <a:cs typeface="Carlito"/>
              </a:defRPr>
            </a:lvl7pPr>
            <a:lvl8pPr algn="l">
              <a:defRPr sz="2800" b="1" i="0">
                <a:solidFill>
                  <a:srgbClr val="071B33"/>
                </a:solidFill>
                <a:latin typeface="Carlito"/>
                <a:ea typeface="Carlito"/>
                <a:cs typeface="Carlito"/>
              </a:defRPr>
            </a:lvl8pPr>
            <a:lvl9pPr algn="l">
              <a:defRPr sz="2800" b="1" i="0">
                <a:solidFill>
                  <a:srgbClr val="071B33"/>
                </a:solidFill>
                <a:latin typeface="Carlito"/>
                <a:ea typeface="Carlito"/>
                <a:cs typeface="Carlito"/>
              </a:defRPr>
            </a:lvl9pPr>
          </a:lstStyle>
          <a:p>
            <a:pPr algn="l">
              <a:defRPr sz="2800" b="1" i="0">
                <a:solidFill>
                  <a:srgbClr val="071B33"/>
                </a:solidFill>
                <a:latin typeface="Carlito"/>
                <a:ea typeface="Carlito"/>
                <a:cs typeface="Carlito"/>
              </a:defRPr>
            </a:pPr>
            <a:r>
              <a:rPr sz="2800" b="1" i="0">
                <a:solidFill>
                  <a:srgbClr val="071B33"/>
                </a:solidFill>
                <a:latin typeface="Carlito"/>
                <a:ea typeface="Carlito"/>
                <a:cs typeface="Carlito"/>
              </a:rPr>
              <a:t>Business challenge and research objectives</a:t>
            </a:r>
          </a:p>
        </p:txBody>
      </p:sp>
      <p:sp>
        <p:nvSpPr>
          <p:cNvPr id="2" name="Rectangle 1">
            <a:extLst>
              <a:ext uri="{FF2B5EF4-FFF2-40B4-BE49-F238E27FC236}">
                <a16:creationId xmlns:a16="http://schemas.microsoft.com/office/drawing/2014/main" id="{2B05D39A-AB26-44CD-8B42-F4B00F643D26}"/>
              </a:ext>
            </a:extLst>
          </p:cNvPr>
          <p:cNvSpPr>
            <a:spLocks noGrp="1"/>
          </p:cNvSpPr>
          <p:nvPr/>
        </p:nvSpPr>
        <p:spPr>
          <a:xfrm>
            <a:off x="609600" y="828675"/>
            <a:ext cx="10668000" cy="285750"/>
          </a:xfrm>
          <a:prstGeom prst="rect">
            <a:avLst/>
          </a:prstGeom>
          <a:noFill/>
          <a:ln w="0">
            <a:noFill/>
            <a:prstDash val="solid"/>
          </a:ln>
        </p:spPr>
        <p:txBody>
          <a:bodyPr wrap="square" lIns="0" tIns="0" rIns="0" bIns="0" anchor="t">
            <a:normAutofit/>
          </a:bodyPr>
          <a:lstStyle>
            <a:defPPr algn="l">
              <a:defRPr sz="1400" b="0" i="0">
                <a:solidFill>
                  <a:srgbClr val="5F6F7F"/>
                </a:solidFill>
                <a:latin typeface="Carlito"/>
                <a:ea typeface="Carlito"/>
                <a:cs typeface="Carlito"/>
              </a:defRPr>
            </a:defPPr>
            <a:lvl1pPr algn="l">
              <a:defRPr sz="1400" b="0" i="0">
                <a:solidFill>
                  <a:srgbClr val="5F6F7F"/>
                </a:solidFill>
                <a:latin typeface="Carlito"/>
                <a:ea typeface="Carlito"/>
                <a:cs typeface="Carlito"/>
              </a:defRPr>
            </a:lvl1pPr>
            <a:lvl2pPr algn="l">
              <a:defRPr sz="1400" b="0" i="0">
                <a:solidFill>
                  <a:srgbClr val="5F6F7F"/>
                </a:solidFill>
                <a:latin typeface="Carlito"/>
                <a:ea typeface="Carlito"/>
                <a:cs typeface="Carlito"/>
              </a:defRPr>
            </a:lvl2pPr>
            <a:lvl3pPr algn="l">
              <a:defRPr sz="1400" b="0" i="0">
                <a:solidFill>
                  <a:srgbClr val="5F6F7F"/>
                </a:solidFill>
                <a:latin typeface="Carlito"/>
                <a:ea typeface="Carlito"/>
                <a:cs typeface="Carlito"/>
              </a:defRPr>
            </a:lvl3pPr>
            <a:lvl4pPr algn="l">
              <a:defRPr sz="1400" b="0" i="0">
                <a:solidFill>
                  <a:srgbClr val="5F6F7F"/>
                </a:solidFill>
                <a:latin typeface="Carlito"/>
                <a:ea typeface="Carlito"/>
                <a:cs typeface="Carlito"/>
              </a:defRPr>
            </a:lvl4pPr>
            <a:lvl5pPr algn="l">
              <a:defRPr sz="1400" b="0" i="0">
                <a:solidFill>
                  <a:srgbClr val="5F6F7F"/>
                </a:solidFill>
                <a:latin typeface="Carlito"/>
                <a:ea typeface="Carlito"/>
                <a:cs typeface="Carlito"/>
              </a:defRPr>
            </a:lvl5pPr>
            <a:lvl6pPr algn="l">
              <a:defRPr sz="1400" b="0" i="0">
                <a:solidFill>
                  <a:srgbClr val="5F6F7F"/>
                </a:solidFill>
                <a:latin typeface="Carlito"/>
                <a:ea typeface="Carlito"/>
                <a:cs typeface="Carlito"/>
              </a:defRPr>
            </a:lvl6pPr>
            <a:lvl7pPr algn="l">
              <a:defRPr sz="1400" b="0" i="0">
                <a:solidFill>
                  <a:srgbClr val="5F6F7F"/>
                </a:solidFill>
                <a:latin typeface="Carlito"/>
                <a:ea typeface="Carlito"/>
                <a:cs typeface="Carlito"/>
              </a:defRPr>
            </a:lvl7pPr>
            <a:lvl8pPr algn="l">
              <a:defRPr sz="1400" b="0" i="0">
                <a:solidFill>
                  <a:srgbClr val="5F6F7F"/>
                </a:solidFill>
                <a:latin typeface="Carlito"/>
                <a:ea typeface="Carlito"/>
                <a:cs typeface="Carlito"/>
              </a:defRPr>
            </a:lvl8pPr>
            <a:lvl9pPr algn="l">
              <a:defRPr sz="1400" b="0" i="0">
                <a:solidFill>
                  <a:srgbClr val="5F6F7F"/>
                </a:solidFill>
                <a:latin typeface="Carlito"/>
                <a:ea typeface="Carlito"/>
                <a:cs typeface="Carlito"/>
              </a:defRPr>
            </a:lvl9pPr>
          </a:lstStyle>
          <a:p>
            <a:pPr algn="l">
              <a:defRPr sz="1400" b="0" i="0">
                <a:solidFill>
                  <a:srgbClr val="5F6F7F"/>
                </a:solidFill>
                <a:latin typeface="Carlito"/>
                <a:ea typeface="Carlito"/>
                <a:cs typeface="Carlito"/>
              </a:defRPr>
            </a:pPr>
            <a:r>
              <a:rPr sz="1400" b="0" i="0">
                <a:solidFill>
                  <a:srgbClr val="5F6F7F"/>
                </a:solidFill>
                <a:latin typeface="Carlito"/>
                <a:ea typeface="Carlito"/>
                <a:cs typeface="Carlito"/>
              </a:rPr>
              <a:t>A regional view is needed to turn historical Olympic records into comparable evidence</a:t>
            </a:r>
          </a:p>
        </p:txBody>
      </p:sp>
      <p:sp>
        <p:nvSpPr>
          <p:cNvPr id="3" name="Rectangle 2">
            <a:extLst>
              <a:ext uri="{FF2B5EF4-FFF2-40B4-BE49-F238E27FC236}">
                <a16:creationId xmlns:a16="http://schemas.microsoft.com/office/drawing/2014/main" id="{21DE758E-5EB0-4ABD-BBE0-40B7860AC326}"/>
              </a:ext>
            </a:extLst>
          </p:cNvPr>
          <p:cNvSpPr>
            <a:spLocks noGrp="1"/>
          </p:cNvSpPr>
          <p:nvPr/>
        </p:nvSpPr>
        <p:spPr>
          <a:xfrm>
            <a:off x="609600" y="1181100"/>
            <a:ext cx="10972800" cy="28575"/>
          </a:xfrm>
          <a:prstGeom prst="rect">
            <a:avLst/>
          </a:prstGeom>
          <a:solidFill>
            <a:srgbClr val="D4AF37"/>
          </a:solidFill>
          <a:ln w="0">
            <a:noFill/>
            <a:prstDash val="solid"/>
          </a:ln>
        </p:spPr>
        <p:txBody>
          <a:bodyPr/>
          <a:lstStyle/>
          <a:p>
            <a:endParaRPr lang="en-SG"/>
          </a:p>
        </p:txBody>
      </p:sp>
      <p:sp>
        <p:nvSpPr>
          <p:cNvPr id="4" name="Rectangle 3">
            <a:extLst>
              <a:ext uri="{FF2B5EF4-FFF2-40B4-BE49-F238E27FC236}">
                <a16:creationId xmlns:a16="http://schemas.microsoft.com/office/drawing/2014/main" id="{AF3C2A11-77BD-4C11-A027-AFE619D58893}"/>
              </a:ext>
            </a:extLst>
          </p:cNvPr>
          <p:cNvSpPr>
            <a:spLocks noGrp="1"/>
          </p:cNvSpPr>
          <p:nvPr/>
        </p:nvSpPr>
        <p:spPr>
          <a:xfrm>
            <a:off x="609600" y="1466850"/>
            <a:ext cx="2857500" cy="333375"/>
          </a:xfrm>
          <a:prstGeom prst="rect">
            <a:avLst/>
          </a:prstGeom>
          <a:noFill/>
          <a:ln w="0">
            <a:noFill/>
            <a:prstDash val="solid"/>
          </a:ln>
        </p:spPr>
        <p:txBody>
          <a:bodyPr wrap="square" lIns="0" tIns="0" rIns="0" bIns="0" anchor="t">
            <a:normAutofit/>
          </a:bodyPr>
          <a:lstStyle>
            <a:defPPr algn="l">
              <a:defRPr sz="1800" b="1" i="0">
                <a:solidFill>
                  <a:srgbClr val="CD7F32"/>
                </a:solidFill>
                <a:latin typeface="Carlito"/>
                <a:ea typeface="Carlito"/>
                <a:cs typeface="Carlito"/>
              </a:defRPr>
            </a:defPPr>
            <a:lvl1pPr algn="l">
              <a:defRPr sz="1800" b="1" i="0">
                <a:solidFill>
                  <a:srgbClr val="CD7F32"/>
                </a:solidFill>
                <a:latin typeface="Carlito"/>
                <a:ea typeface="Carlito"/>
                <a:cs typeface="Carlito"/>
              </a:defRPr>
            </a:lvl1pPr>
            <a:lvl2pPr algn="l">
              <a:defRPr sz="1800" b="1" i="0">
                <a:solidFill>
                  <a:srgbClr val="CD7F32"/>
                </a:solidFill>
                <a:latin typeface="Carlito"/>
                <a:ea typeface="Carlito"/>
                <a:cs typeface="Carlito"/>
              </a:defRPr>
            </a:lvl2pPr>
            <a:lvl3pPr algn="l">
              <a:defRPr sz="1800" b="1" i="0">
                <a:solidFill>
                  <a:srgbClr val="CD7F32"/>
                </a:solidFill>
                <a:latin typeface="Carlito"/>
                <a:ea typeface="Carlito"/>
                <a:cs typeface="Carlito"/>
              </a:defRPr>
            </a:lvl3pPr>
            <a:lvl4pPr algn="l">
              <a:defRPr sz="1800" b="1" i="0">
                <a:solidFill>
                  <a:srgbClr val="CD7F32"/>
                </a:solidFill>
                <a:latin typeface="Carlito"/>
                <a:ea typeface="Carlito"/>
                <a:cs typeface="Carlito"/>
              </a:defRPr>
            </a:lvl4pPr>
            <a:lvl5pPr algn="l">
              <a:defRPr sz="1800" b="1" i="0">
                <a:solidFill>
                  <a:srgbClr val="CD7F32"/>
                </a:solidFill>
                <a:latin typeface="Carlito"/>
                <a:ea typeface="Carlito"/>
                <a:cs typeface="Carlito"/>
              </a:defRPr>
            </a:lvl5pPr>
            <a:lvl6pPr algn="l">
              <a:defRPr sz="1800" b="1" i="0">
                <a:solidFill>
                  <a:srgbClr val="CD7F32"/>
                </a:solidFill>
                <a:latin typeface="Carlito"/>
                <a:ea typeface="Carlito"/>
                <a:cs typeface="Carlito"/>
              </a:defRPr>
            </a:lvl6pPr>
            <a:lvl7pPr algn="l">
              <a:defRPr sz="1800" b="1" i="0">
                <a:solidFill>
                  <a:srgbClr val="CD7F32"/>
                </a:solidFill>
                <a:latin typeface="Carlito"/>
                <a:ea typeface="Carlito"/>
                <a:cs typeface="Carlito"/>
              </a:defRPr>
            </a:lvl7pPr>
            <a:lvl8pPr algn="l">
              <a:defRPr sz="1800" b="1" i="0">
                <a:solidFill>
                  <a:srgbClr val="CD7F32"/>
                </a:solidFill>
                <a:latin typeface="Carlito"/>
                <a:ea typeface="Carlito"/>
                <a:cs typeface="Carlito"/>
              </a:defRPr>
            </a:lvl8pPr>
            <a:lvl9pPr algn="l">
              <a:defRPr sz="1800" b="1" i="0">
                <a:solidFill>
                  <a:srgbClr val="CD7F32"/>
                </a:solidFill>
                <a:latin typeface="Carlito"/>
                <a:ea typeface="Carlito"/>
                <a:cs typeface="Carlito"/>
              </a:defRPr>
            </a:lvl9pPr>
          </a:lstStyle>
          <a:p>
            <a:pPr algn="l">
              <a:defRPr sz="1800" b="1" i="0">
                <a:solidFill>
                  <a:srgbClr val="CD7F32"/>
                </a:solidFill>
                <a:latin typeface="Carlito"/>
                <a:ea typeface="Carlito"/>
                <a:cs typeface="Carlito"/>
              </a:defRPr>
            </a:pPr>
            <a:r>
              <a:rPr sz="1800" b="1" i="0">
                <a:solidFill>
                  <a:srgbClr val="CD7F32"/>
                </a:solidFill>
                <a:latin typeface="Carlito"/>
                <a:ea typeface="Carlito"/>
                <a:cs typeface="Carlito"/>
              </a:rPr>
              <a:t>Decision challenge</a:t>
            </a:r>
          </a:p>
        </p:txBody>
      </p:sp>
      <p:sp>
        <p:nvSpPr>
          <p:cNvPr id="5" name="Rectangle 4">
            <a:extLst>
              <a:ext uri="{FF2B5EF4-FFF2-40B4-BE49-F238E27FC236}">
                <a16:creationId xmlns:a16="http://schemas.microsoft.com/office/drawing/2014/main" id="{F6BC07BA-D510-43CF-8258-C5CA4674D983}"/>
              </a:ext>
            </a:extLst>
          </p:cNvPr>
          <p:cNvSpPr>
            <a:spLocks noGrp="1"/>
          </p:cNvSpPr>
          <p:nvPr/>
        </p:nvSpPr>
        <p:spPr>
          <a:xfrm>
            <a:off x="609600" y="1866900"/>
            <a:ext cx="4238625" cy="1428750"/>
          </a:xfrm>
          <a:prstGeom prst="rect">
            <a:avLst/>
          </a:prstGeom>
          <a:noFill/>
          <a:ln w="0">
            <a:noFill/>
            <a:prstDash val="solid"/>
          </a:ln>
        </p:spPr>
        <p:txBody>
          <a:bodyPr wrap="square" lIns="0" tIns="0" rIns="0" bIns="0" anchor="t">
            <a:normAutofit fontScale="89737" lnSpcReduction="10000"/>
          </a:bodyPr>
          <a:lstStyle>
            <a:defPPr algn="l">
              <a:defRPr sz="1900" b="0" i="0">
                <a:solidFill>
                  <a:srgbClr val="152536"/>
                </a:solidFill>
                <a:latin typeface="Carlito"/>
                <a:ea typeface="Carlito"/>
                <a:cs typeface="Carlito"/>
              </a:defRPr>
            </a:defPPr>
            <a:lvl1pPr algn="l">
              <a:defRPr sz="1900" b="0" i="0">
                <a:solidFill>
                  <a:srgbClr val="152536"/>
                </a:solidFill>
                <a:latin typeface="Carlito"/>
                <a:ea typeface="Carlito"/>
                <a:cs typeface="Carlito"/>
              </a:defRPr>
            </a:lvl1pPr>
            <a:lvl2pPr algn="l">
              <a:defRPr sz="1900" b="0" i="0">
                <a:solidFill>
                  <a:srgbClr val="152536"/>
                </a:solidFill>
                <a:latin typeface="Carlito"/>
                <a:ea typeface="Carlito"/>
                <a:cs typeface="Carlito"/>
              </a:defRPr>
            </a:lvl2pPr>
            <a:lvl3pPr algn="l">
              <a:defRPr sz="1900" b="0" i="0">
                <a:solidFill>
                  <a:srgbClr val="152536"/>
                </a:solidFill>
                <a:latin typeface="Carlito"/>
                <a:ea typeface="Carlito"/>
                <a:cs typeface="Carlito"/>
              </a:defRPr>
            </a:lvl3pPr>
            <a:lvl4pPr algn="l">
              <a:defRPr sz="1900" b="0" i="0">
                <a:solidFill>
                  <a:srgbClr val="152536"/>
                </a:solidFill>
                <a:latin typeface="Carlito"/>
                <a:ea typeface="Carlito"/>
                <a:cs typeface="Carlito"/>
              </a:defRPr>
            </a:lvl4pPr>
            <a:lvl5pPr algn="l">
              <a:defRPr sz="1900" b="0" i="0">
                <a:solidFill>
                  <a:srgbClr val="152536"/>
                </a:solidFill>
                <a:latin typeface="Carlito"/>
                <a:ea typeface="Carlito"/>
                <a:cs typeface="Carlito"/>
              </a:defRPr>
            </a:lvl5pPr>
            <a:lvl6pPr algn="l">
              <a:defRPr sz="1900" b="0" i="0">
                <a:solidFill>
                  <a:srgbClr val="152536"/>
                </a:solidFill>
                <a:latin typeface="Carlito"/>
                <a:ea typeface="Carlito"/>
                <a:cs typeface="Carlito"/>
              </a:defRPr>
            </a:lvl6pPr>
            <a:lvl7pPr algn="l">
              <a:defRPr sz="1900" b="0" i="0">
                <a:solidFill>
                  <a:srgbClr val="152536"/>
                </a:solidFill>
                <a:latin typeface="Carlito"/>
                <a:ea typeface="Carlito"/>
                <a:cs typeface="Carlito"/>
              </a:defRPr>
            </a:lvl7pPr>
            <a:lvl8pPr algn="l">
              <a:defRPr sz="1900" b="0" i="0">
                <a:solidFill>
                  <a:srgbClr val="152536"/>
                </a:solidFill>
                <a:latin typeface="Carlito"/>
                <a:ea typeface="Carlito"/>
                <a:cs typeface="Carlito"/>
              </a:defRPr>
            </a:lvl8pPr>
            <a:lvl9pPr algn="l">
              <a:defRPr sz="1900" b="0" i="0">
                <a:solidFill>
                  <a:srgbClr val="152536"/>
                </a:solidFill>
                <a:latin typeface="Carlito"/>
                <a:ea typeface="Carlito"/>
                <a:cs typeface="Carlito"/>
              </a:defRPr>
            </a:lvl9pPr>
          </a:lstStyle>
          <a:p>
            <a:pPr algn="l">
              <a:defRPr sz="1900" b="0" i="0">
                <a:solidFill>
                  <a:srgbClr val="152536"/>
                </a:solidFill>
                <a:latin typeface="Carlito"/>
                <a:ea typeface="Carlito"/>
                <a:cs typeface="Carlito"/>
              </a:defRPr>
            </a:pPr>
            <a:r>
              <a:rPr sz="1900" b="0" i="0">
                <a:solidFill>
                  <a:srgbClr val="152536"/>
                </a:solidFill>
                <a:latin typeface="Carlito"/>
                <a:ea typeface="Carlito"/>
                <a:cs typeface="Carlito"/>
              </a:rPr>
              <a:t>ASEAN performance data spans many countries, sports and Olympic editions. Without a consistent medal measure and common view, decision-makers cannot easily compare results or identify where deeper investigation is needed.</a:t>
            </a:r>
          </a:p>
        </p:txBody>
      </p:sp>
      <p:sp>
        <p:nvSpPr>
          <p:cNvPr id="6" name="Rectangle 5">
            <a:extLst>
              <a:ext uri="{FF2B5EF4-FFF2-40B4-BE49-F238E27FC236}">
                <a16:creationId xmlns:a16="http://schemas.microsoft.com/office/drawing/2014/main" id="{6A5510A6-95FD-43B5-A26D-BAB223028343}"/>
              </a:ext>
            </a:extLst>
          </p:cNvPr>
          <p:cNvSpPr>
            <a:spLocks noGrp="1"/>
          </p:cNvSpPr>
          <p:nvPr/>
        </p:nvSpPr>
        <p:spPr>
          <a:xfrm>
            <a:off x="5467350" y="1466850"/>
            <a:ext cx="4667250" cy="333375"/>
          </a:xfrm>
          <a:prstGeom prst="rect">
            <a:avLst/>
          </a:prstGeom>
          <a:noFill/>
          <a:ln w="0">
            <a:noFill/>
            <a:prstDash val="solid"/>
          </a:ln>
        </p:spPr>
        <p:txBody>
          <a:bodyPr wrap="square" lIns="0" tIns="0" rIns="0" bIns="0" anchor="t">
            <a:normAutofit/>
          </a:bodyPr>
          <a:lstStyle>
            <a:defPPr algn="l">
              <a:defRPr sz="1800" b="1" i="0">
                <a:solidFill>
                  <a:srgbClr val="071B33"/>
                </a:solidFill>
                <a:latin typeface="Carlito"/>
                <a:ea typeface="Carlito"/>
                <a:cs typeface="Carlito"/>
              </a:defRPr>
            </a:defPPr>
            <a:lvl1pPr algn="l">
              <a:defRPr sz="1800" b="1" i="0">
                <a:solidFill>
                  <a:srgbClr val="071B33"/>
                </a:solidFill>
                <a:latin typeface="Carlito"/>
                <a:ea typeface="Carlito"/>
                <a:cs typeface="Carlito"/>
              </a:defRPr>
            </a:lvl1pPr>
            <a:lvl2pPr algn="l">
              <a:defRPr sz="1800" b="1" i="0">
                <a:solidFill>
                  <a:srgbClr val="071B33"/>
                </a:solidFill>
                <a:latin typeface="Carlito"/>
                <a:ea typeface="Carlito"/>
                <a:cs typeface="Carlito"/>
              </a:defRPr>
            </a:lvl2pPr>
            <a:lvl3pPr algn="l">
              <a:defRPr sz="1800" b="1" i="0">
                <a:solidFill>
                  <a:srgbClr val="071B33"/>
                </a:solidFill>
                <a:latin typeface="Carlito"/>
                <a:ea typeface="Carlito"/>
                <a:cs typeface="Carlito"/>
              </a:defRPr>
            </a:lvl3pPr>
            <a:lvl4pPr algn="l">
              <a:defRPr sz="1800" b="1" i="0">
                <a:solidFill>
                  <a:srgbClr val="071B33"/>
                </a:solidFill>
                <a:latin typeface="Carlito"/>
                <a:ea typeface="Carlito"/>
                <a:cs typeface="Carlito"/>
              </a:defRPr>
            </a:lvl4pPr>
            <a:lvl5pPr algn="l">
              <a:defRPr sz="1800" b="1" i="0">
                <a:solidFill>
                  <a:srgbClr val="071B33"/>
                </a:solidFill>
                <a:latin typeface="Carlito"/>
                <a:ea typeface="Carlito"/>
                <a:cs typeface="Carlito"/>
              </a:defRPr>
            </a:lvl5pPr>
            <a:lvl6pPr algn="l">
              <a:defRPr sz="1800" b="1" i="0">
                <a:solidFill>
                  <a:srgbClr val="071B33"/>
                </a:solidFill>
                <a:latin typeface="Carlito"/>
                <a:ea typeface="Carlito"/>
                <a:cs typeface="Carlito"/>
              </a:defRPr>
            </a:lvl6pPr>
            <a:lvl7pPr algn="l">
              <a:defRPr sz="1800" b="1" i="0">
                <a:solidFill>
                  <a:srgbClr val="071B33"/>
                </a:solidFill>
                <a:latin typeface="Carlito"/>
                <a:ea typeface="Carlito"/>
                <a:cs typeface="Carlito"/>
              </a:defRPr>
            </a:lvl7pPr>
            <a:lvl8pPr algn="l">
              <a:defRPr sz="1800" b="1" i="0">
                <a:solidFill>
                  <a:srgbClr val="071B33"/>
                </a:solidFill>
                <a:latin typeface="Carlito"/>
                <a:ea typeface="Carlito"/>
                <a:cs typeface="Carlito"/>
              </a:defRPr>
            </a:lvl8pPr>
            <a:lvl9pPr algn="l">
              <a:defRPr sz="1800" b="1" i="0">
                <a:solidFill>
                  <a:srgbClr val="071B33"/>
                </a:solidFill>
                <a:latin typeface="Carlito"/>
                <a:ea typeface="Carlito"/>
                <a:cs typeface="Carlito"/>
              </a:defRPr>
            </a:lvl9pPr>
          </a:lstStyle>
          <a:p>
            <a:pPr algn="l">
              <a:defRPr sz="1800" b="1" i="0">
                <a:solidFill>
                  <a:srgbClr val="071B33"/>
                </a:solidFill>
                <a:latin typeface="Carlito"/>
                <a:ea typeface="Carlito"/>
                <a:cs typeface="Carlito"/>
              </a:defRPr>
            </a:pPr>
            <a:r>
              <a:rPr sz="1800" b="1" i="0" dirty="0">
                <a:solidFill>
                  <a:srgbClr val="071B33"/>
                </a:solidFill>
                <a:latin typeface="Carlito"/>
                <a:ea typeface="Carlito"/>
                <a:cs typeface="Carlito"/>
              </a:rPr>
              <a:t>Approved research objectives</a:t>
            </a:r>
          </a:p>
        </p:txBody>
      </p:sp>
      <p:sp>
        <p:nvSpPr>
          <p:cNvPr id="7" name="Rectangle 6">
            <a:extLst>
              <a:ext uri="{FF2B5EF4-FFF2-40B4-BE49-F238E27FC236}">
                <a16:creationId xmlns:a16="http://schemas.microsoft.com/office/drawing/2014/main" id="{9C7D5F4E-974A-4415-9CF6-A5F08CF7A716}"/>
              </a:ext>
            </a:extLst>
          </p:cNvPr>
          <p:cNvSpPr>
            <a:spLocks noGrp="1"/>
          </p:cNvSpPr>
          <p:nvPr/>
        </p:nvSpPr>
        <p:spPr>
          <a:xfrm>
            <a:off x="5467350" y="2000250"/>
            <a:ext cx="419100" cy="266700"/>
          </a:xfrm>
          <a:prstGeom prst="rect">
            <a:avLst/>
          </a:prstGeom>
          <a:noFill/>
          <a:ln w="0">
            <a:noFill/>
            <a:prstDash val="solid"/>
          </a:ln>
        </p:spPr>
        <p:txBody>
          <a:bodyPr wrap="square" lIns="0" tIns="0" rIns="0" bIns="0" anchor="t">
            <a:normAutofit/>
          </a:bodyPr>
          <a:lstStyle>
            <a:defPPr algn="l">
              <a:defRPr sz="1300" b="1" i="0">
                <a:solidFill>
                  <a:srgbClr val="D4AF37"/>
                </a:solidFill>
                <a:latin typeface="Carlito"/>
                <a:ea typeface="Carlito"/>
                <a:cs typeface="Carlito"/>
              </a:defRPr>
            </a:defPPr>
            <a:lvl1pPr algn="l">
              <a:defRPr sz="1300" b="1" i="0">
                <a:solidFill>
                  <a:srgbClr val="D4AF37"/>
                </a:solidFill>
                <a:latin typeface="Carlito"/>
                <a:ea typeface="Carlito"/>
                <a:cs typeface="Carlito"/>
              </a:defRPr>
            </a:lvl1pPr>
            <a:lvl2pPr algn="l">
              <a:defRPr sz="1300" b="1" i="0">
                <a:solidFill>
                  <a:srgbClr val="D4AF37"/>
                </a:solidFill>
                <a:latin typeface="Carlito"/>
                <a:ea typeface="Carlito"/>
                <a:cs typeface="Carlito"/>
              </a:defRPr>
            </a:lvl2pPr>
            <a:lvl3pPr algn="l">
              <a:defRPr sz="1300" b="1" i="0">
                <a:solidFill>
                  <a:srgbClr val="D4AF37"/>
                </a:solidFill>
                <a:latin typeface="Carlito"/>
                <a:ea typeface="Carlito"/>
                <a:cs typeface="Carlito"/>
              </a:defRPr>
            </a:lvl3pPr>
            <a:lvl4pPr algn="l">
              <a:defRPr sz="1300" b="1" i="0">
                <a:solidFill>
                  <a:srgbClr val="D4AF37"/>
                </a:solidFill>
                <a:latin typeface="Carlito"/>
                <a:ea typeface="Carlito"/>
                <a:cs typeface="Carlito"/>
              </a:defRPr>
            </a:lvl4pPr>
            <a:lvl5pPr algn="l">
              <a:defRPr sz="1300" b="1" i="0">
                <a:solidFill>
                  <a:srgbClr val="D4AF37"/>
                </a:solidFill>
                <a:latin typeface="Carlito"/>
                <a:ea typeface="Carlito"/>
                <a:cs typeface="Carlito"/>
              </a:defRPr>
            </a:lvl5pPr>
            <a:lvl6pPr algn="l">
              <a:defRPr sz="1300" b="1" i="0">
                <a:solidFill>
                  <a:srgbClr val="D4AF37"/>
                </a:solidFill>
                <a:latin typeface="Carlito"/>
                <a:ea typeface="Carlito"/>
                <a:cs typeface="Carlito"/>
              </a:defRPr>
            </a:lvl6pPr>
            <a:lvl7pPr algn="l">
              <a:defRPr sz="1300" b="1" i="0">
                <a:solidFill>
                  <a:srgbClr val="D4AF37"/>
                </a:solidFill>
                <a:latin typeface="Carlito"/>
                <a:ea typeface="Carlito"/>
                <a:cs typeface="Carlito"/>
              </a:defRPr>
            </a:lvl7pPr>
            <a:lvl8pPr algn="l">
              <a:defRPr sz="1300" b="1" i="0">
                <a:solidFill>
                  <a:srgbClr val="D4AF37"/>
                </a:solidFill>
                <a:latin typeface="Carlito"/>
                <a:ea typeface="Carlito"/>
                <a:cs typeface="Carlito"/>
              </a:defRPr>
            </a:lvl8pPr>
            <a:lvl9pPr algn="l">
              <a:defRPr sz="1300" b="1" i="0">
                <a:solidFill>
                  <a:srgbClr val="D4AF37"/>
                </a:solidFill>
                <a:latin typeface="Carlito"/>
                <a:ea typeface="Carlito"/>
                <a:cs typeface="Carlito"/>
              </a:defRPr>
            </a:lvl9pPr>
          </a:lstStyle>
          <a:p>
            <a:pPr algn="l">
              <a:defRPr sz="1300" b="1" i="0">
                <a:solidFill>
                  <a:srgbClr val="D4AF37"/>
                </a:solidFill>
                <a:latin typeface="Carlito"/>
                <a:ea typeface="Carlito"/>
                <a:cs typeface="Carlito"/>
              </a:defRPr>
            </a:pPr>
            <a:r>
              <a:rPr sz="1300" b="1" i="0">
                <a:solidFill>
                  <a:srgbClr val="D4AF37"/>
                </a:solidFill>
                <a:latin typeface="Carlito"/>
                <a:ea typeface="Carlito"/>
                <a:cs typeface="Carlito"/>
              </a:rPr>
              <a:t>01</a:t>
            </a:r>
          </a:p>
        </p:txBody>
      </p:sp>
      <p:sp>
        <p:nvSpPr>
          <p:cNvPr id="9" name="Rectangle 8">
            <a:extLst>
              <a:ext uri="{FF2B5EF4-FFF2-40B4-BE49-F238E27FC236}">
                <a16:creationId xmlns:a16="http://schemas.microsoft.com/office/drawing/2014/main" id="{82AD24B9-80C9-40F6-A771-A6A15F92D29C}"/>
              </a:ext>
            </a:extLst>
          </p:cNvPr>
          <p:cNvSpPr>
            <a:spLocks noGrp="1"/>
          </p:cNvSpPr>
          <p:nvPr/>
        </p:nvSpPr>
        <p:spPr>
          <a:xfrm>
            <a:off x="5962650" y="2466975"/>
            <a:ext cx="2095500" cy="9525"/>
          </a:xfrm>
          <a:prstGeom prst="rect">
            <a:avLst/>
          </a:prstGeom>
          <a:solidFill>
            <a:srgbClr val="D8E1EA"/>
          </a:solidFill>
          <a:ln w="0">
            <a:noFill/>
            <a:prstDash val="solid"/>
          </a:ln>
        </p:spPr>
        <p:txBody>
          <a:bodyPr/>
          <a:lstStyle/>
          <a:p>
            <a:endParaRPr lang="en-SG"/>
          </a:p>
        </p:txBody>
      </p:sp>
      <p:sp>
        <p:nvSpPr>
          <p:cNvPr id="10" name="Rectangle 9">
            <a:extLst>
              <a:ext uri="{FF2B5EF4-FFF2-40B4-BE49-F238E27FC236}">
                <a16:creationId xmlns:a16="http://schemas.microsoft.com/office/drawing/2014/main" id="{00EF6FAC-DEFF-40E7-91B5-1BC03886BA72}"/>
              </a:ext>
            </a:extLst>
          </p:cNvPr>
          <p:cNvSpPr>
            <a:spLocks noGrp="1"/>
          </p:cNvSpPr>
          <p:nvPr/>
        </p:nvSpPr>
        <p:spPr>
          <a:xfrm>
            <a:off x="5467350" y="2781300"/>
            <a:ext cx="419100" cy="266700"/>
          </a:xfrm>
          <a:prstGeom prst="rect">
            <a:avLst/>
          </a:prstGeom>
          <a:noFill/>
          <a:ln w="0">
            <a:noFill/>
            <a:prstDash val="solid"/>
          </a:ln>
        </p:spPr>
        <p:txBody>
          <a:bodyPr wrap="square" lIns="0" tIns="0" rIns="0" bIns="0" anchor="t">
            <a:normAutofit/>
          </a:bodyPr>
          <a:lstStyle>
            <a:defPPr algn="l">
              <a:defRPr sz="1300" b="1" i="0">
                <a:solidFill>
                  <a:srgbClr val="D4AF37"/>
                </a:solidFill>
                <a:latin typeface="Carlito"/>
                <a:ea typeface="Carlito"/>
                <a:cs typeface="Carlito"/>
              </a:defRPr>
            </a:defPPr>
            <a:lvl1pPr algn="l">
              <a:defRPr sz="1300" b="1" i="0">
                <a:solidFill>
                  <a:srgbClr val="D4AF37"/>
                </a:solidFill>
                <a:latin typeface="Carlito"/>
                <a:ea typeface="Carlito"/>
                <a:cs typeface="Carlito"/>
              </a:defRPr>
            </a:lvl1pPr>
            <a:lvl2pPr algn="l">
              <a:defRPr sz="1300" b="1" i="0">
                <a:solidFill>
                  <a:srgbClr val="D4AF37"/>
                </a:solidFill>
                <a:latin typeface="Carlito"/>
                <a:ea typeface="Carlito"/>
                <a:cs typeface="Carlito"/>
              </a:defRPr>
            </a:lvl2pPr>
            <a:lvl3pPr algn="l">
              <a:defRPr sz="1300" b="1" i="0">
                <a:solidFill>
                  <a:srgbClr val="D4AF37"/>
                </a:solidFill>
                <a:latin typeface="Carlito"/>
                <a:ea typeface="Carlito"/>
                <a:cs typeface="Carlito"/>
              </a:defRPr>
            </a:lvl3pPr>
            <a:lvl4pPr algn="l">
              <a:defRPr sz="1300" b="1" i="0">
                <a:solidFill>
                  <a:srgbClr val="D4AF37"/>
                </a:solidFill>
                <a:latin typeface="Carlito"/>
                <a:ea typeface="Carlito"/>
                <a:cs typeface="Carlito"/>
              </a:defRPr>
            </a:lvl4pPr>
            <a:lvl5pPr algn="l">
              <a:defRPr sz="1300" b="1" i="0">
                <a:solidFill>
                  <a:srgbClr val="D4AF37"/>
                </a:solidFill>
                <a:latin typeface="Carlito"/>
                <a:ea typeface="Carlito"/>
                <a:cs typeface="Carlito"/>
              </a:defRPr>
            </a:lvl5pPr>
            <a:lvl6pPr algn="l">
              <a:defRPr sz="1300" b="1" i="0">
                <a:solidFill>
                  <a:srgbClr val="D4AF37"/>
                </a:solidFill>
                <a:latin typeface="Carlito"/>
                <a:ea typeface="Carlito"/>
                <a:cs typeface="Carlito"/>
              </a:defRPr>
            </a:lvl6pPr>
            <a:lvl7pPr algn="l">
              <a:defRPr sz="1300" b="1" i="0">
                <a:solidFill>
                  <a:srgbClr val="D4AF37"/>
                </a:solidFill>
                <a:latin typeface="Carlito"/>
                <a:ea typeface="Carlito"/>
                <a:cs typeface="Carlito"/>
              </a:defRPr>
            </a:lvl7pPr>
            <a:lvl8pPr algn="l">
              <a:defRPr sz="1300" b="1" i="0">
                <a:solidFill>
                  <a:srgbClr val="D4AF37"/>
                </a:solidFill>
                <a:latin typeface="Carlito"/>
                <a:ea typeface="Carlito"/>
                <a:cs typeface="Carlito"/>
              </a:defRPr>
            </a:lvl8pPr>
            <a:lvl9pPr algn="l">
              <a:defRPr sz="1300" b="1" i="0">
                <a:solidFill>
                  <a:srgbClr val="D4AF37"/>
                </a:solidFill>
                <a:latin typeface="Carlito"/>
                <a:ea typeface="Carlito"/>
                <a:cs typeface="Carlito"/>
              </a:defRPr>
            </a:lvl9pPr>
          </a:lstStyle>
          <a:p>
            <a:pPr algn="l">
              <a:defRPr sz="1300" b="1" i="0">
                <a:solidFill>
                  <a:srgbClr val="D4AF37"/>
                </a:solidFill>
                <a:latin typeface="Carlito"/>
                <a:ea typeface="Carlito"/>
                <a:cs typeface="Carlito"/>
              </a:defRPr>
            </a:pPr>
            <a:r>
              <a:rPr sz="1300" b="1" i="0">
                <a:solidFill>
                  <a:srgbClr val="D4AF37"/>
                </a:solidFill>
                <a:latin typeface="Carlito"/>
                <a:ea typeface="Carlito"/>
                <a:cs typeface="Carlito"/>
              </a:rPr>
              <a:t>02</a:t>
            </a:r>
          </a:p>
        </p:txBody>
      </p:sp>
      <p:sp>
        <p:nvSpPr>
          <p:cNvPr id="11" name="Rectangle 10">
            <a:extLst>
              <a:ext uri="{FF2B5EF4-FFF2-40B4-BE49-F238E27FC236}">
                <a16:creationId xmlns:a16="http://schemas.microsoft.com/office/drawing/2014/main" id="{BEFD736B-6B61-467E-A058-C49A012D7883}"/>
              </a:ext>
            </a:extLst>
          </p:cNvPr>
          <p:cNvSpPr>
            <a:spLocks noGrp="1"/>
          </p:cNvSpPr>
          <p:nvPr/>
        </p:nvSpPr>
        <p:spPr>
          <a:xfrm>
            <a:off x="5962650" y="2762250"/>
            <a:ext cx="2381250" cy="428625"/>
          </a:xfrm>
          <a:prstGeom prst="rect">
            <a:avLst/>
          </a:prstGeom>
          <a:noFill/>
          <a:ln w="0">
            <a:noFill/>
            <a:prstDash val="solid"/>
          </a:ln>
        </p:spPr>
        <p:txBody>
          <a:bodyPr wrap="square" lIns="0" tIns="0" rIns="0" bIns="0" anchor="t">
            <a:normAutofit/>
          </a:bodyPr>
          <a:lstStyle>
            <a:defPPr algn="l">
              <a:defRPr sz="1600" b="1" i="0">
                <a:solidFill>
                  <a:srgbClr val="152536"/>
                </a:solidFill>
                <a:latin typeface="Carlito"/>
                <a:ea typeface="Carlito"/>
                <a:cs typeface="Carlito"/>
              </a:defRPr>
            </a:defPPr>
            <a:lvl1pPr algn="l">
              <a:defRPr sz="1600" b="1" i="0">
                <a:solidFill>
                  <a:srgbClr val="152536"/>
                </a:solidFill>
                <a:latin typeface="Carlito"/>
                <a:ea typeface="Carlito"/>
                <a:cs typeface="Carlito"/>
              </a:defRPr>
            </a:lvl1pPr>
            <a:lvl2pPr algn="l">
              <a:defRPr sz="1600" b="1" i="0">
                <a:solidFill>
                  <a:srgbClr val="152536"/>
                </a:solidFill>
                <a:latin typeface="Carlito"/>
                <a:ea typeface="Carlito"/>
                <a:cs typeface="Carlito"/>
              </a:defRPr>
            </a:lvl2pPr>
            <a:lvl3pPr algn="l">
              <a:defRPr sz="1600" b="1" i="0">
                <a:solidFill>
                  <a:srgbClr val="152536"/>
                </a:solidFill>
                <a:latin typeface="Carlito"/>
                <a:ea typeface="Carlito"/>
                <a:cs typeface="Carlito"/>
              </a:defRPr>
            </a:lvl3pPr>
            <a:lvl4pPr algn="l">
              <a:defRPr sz="1600" b="1" i="0">
                <a:solidFill>
                  <a:srgbClr val="152536"/>
                </a:solidFill>
                <a:latin typeface="Carlito"/>
                <a:ea typeface="Carlito"/>
                <a:cs typeface="Carlito"/>
              </a:defRPr>
            </a:lvl4pPr>
            <a:lvl5pPr algn="l">
              <a:defRPr sz="1600" b="1" i="0">
                <a:solidFill>
                  <a:srgbClr val="152536"/>
                </a:solidFill>
                <a:latin typeface="Carlito"/>
                <a:ea typeface="Carlito"/>
                <a:cs typeface="Carlito"/>
              </a:defRPr>
            </a:lvl5pPr>
            <a:lvl6pPr algn="l">
              <a:defRPr sz="1600" b="1" i="0">
                <a:solidFill>
                  <a:srgbClr val="152536"/>
                </a:solidFill>
                <a:latin typeface="Carlito"/>
                <a:ea typeface="Carlito"/>
                <a:cs typeface="Carlito"/>
              </a:defRPr>
            </a:lvl6pPr>
            <a:lvl7pPr algn="l">
              <a:defRPr sz="1600" b="1" i="0">
                <a:solidFill>
                  <a:srgbClr val="152536"/>
                </a:solidFill>
                <a:latin typeface="Carlito"/>
                <a:ea typeface="Carlito"/>
                <a:cs typeface="Carlito"/>
              </a:defRPr>
            </a:lvl7pPr>
            <a:lvl8pPr algn="l">
              <a:defRPr sz="1600" b="1" i="0">
                <a:solidFill>
                  <a:srgbClr val="152536"/>
                </a:solidFill>
                <a:latin typeface="Carlito"/>
                <a:ea typeface="Carlito"/>
                <a:cs typeface="Carlito"/>
              </a:defRPr>
            </a:lvl8pPr>
            <a:lvl9pPr algn="l">
              <a:defRPr sz="1600" b="1" i="0">
                <a:solidFill>
                  <a:srgbClr val="152536"/>
                </a:solidFill>
                <a:latin typeface="Carlito"/>
                <a:ea typeface="Carlito"/>
                <a:cs typeface="Carlito"/>
              </a:defRPr>
            </a:lvl9pPr>
          </a:lstStyle>
          <a:p>
            <a:pPr algn="l">
              <a:defRPr sz="1600" b="1" i="0">
                <a:solidFill>
                  <a:srgbClr val="152536"/>
                </a:solidFill>
                <a:latin typeface="Carlito"/>
                <a:ea typeface="Carlito"/>
                <a:cs typeface="Carlito"/>
              </a:defRPr>
            </a:pPr>
            <a:r>
              <a:rPr sz="1200" b="1" i="0" dirty="0">
                <a:solidFill>
                  <a:srgbClr val="152536"/>
                </a:solidFill>
                <a:latin typeface="Carlito"/>
                <a:ea typeface="Carlito"/>
                <a:cs typeface="Carlito"/>
              </a:rPr>
              <a:t>Country benchmarking</a:t>
            </a:r>
          </a:p>
        </p:txBody>
      </p:sp>
      <p:sp>
        <p:nvSpPr>
          <p:cNvPr id="12" name="Rectangle 11">
            <a:extLst>
              <a:ext uri="{FF2B5EF4-FFF2-40B4-BE49-F238E27FC236}">
                <a16:creationId xmlns:a16="http://schemas.microsoft.com/office/drawing/2014/main" id="{F4D2C86B-17E2-4705-A949-230753329830}"/>
              </a:ext>
            </a:extLst>
          </p:cNvPr>
          <p:cNvSpPr>
            <a:spLocks noGrp="1"/>
          </p:cNvSpPr>
          <p:nvPr/>
        </p:nvSpPr>
        <p:spPr>
          <a:xfrm>
            <a:off x="5962650" y="3248025"/>
            <a:ext cx="2095500" cy="9525"/>
          </a:xfrm>
          <a:prstGeom prst="rect">
            <a:avLst/>
          </a:prstGeom>
          <a:solidFill>
            <a:srgbClr val="D8E1EA"/>
          </a:solidFill>
          <a:ln w="0">
            <a:noFill/>
            <a:prstDash val="solid"/>
          </a:ln>
        </p:spPr>
        <p:txBody>
          <a:bodyPr/>
          <a:lstStyle/>
          <a:p>
            <a:endParaRPr lang="en-SG"/>
          </a:p>
        </p:txBody>
      </p:sp>
      <p:sp>
        <p:nvSpPr>
          <p:cNvPr id="13" name="Rectangle 12">
            <a:extLst>
              <a:ext uri="{FF2B5EF4-FFF2-40B4-BE49-F238E27FC236}">
                <a16:creationId xmlns:a16="http://schemas.microsoft.com/office/drawing/2014/main" id="{28EF92C6-52D5-41CF-B23B-A88EB9333F56}"/>
              </a:ext>
            </a:extLst>
          </p:cNvPr>
          <p:cNvSpPr>
            <a:spLocks noGrp="1"/>
          </p:cNvSpPr>
          <p:nvPr/>
        </p:nvSpPr>
        <p:spPr>
          <a:xfrm>
            <a:off x="5467350" y="3562350"/>
            <a:ext cx="419100" cy="266700"/>
          </a:xfrm>
          <a:prstGeom prst="rect">
            <a:avLst/>
          </a:prstGeom>
          <a:noFill/>
          <a:ln w="0">
            <a:noFill/>
            <a:prstDash val="solid"/>
          </a:ln>
        </p:spPr>
        <p:txBody>
          <a:bodyPr wrap="square" lIns="0" tIns="0" rIns="0" bIns="0" anchor="t">
            <a:normAutofit/>
          </a:bodyPr>
          <a:lstStyle>
            <a:defPPr algn="l">
              <a:defRPr sz="1300" b="1" i="0">
                <a:solidFill>
                  <a:srgbClr val="D4AF37"/>
                </a:solidFill>
                <a:latin typeface="Carlito"/>
                <a:ea typeface="Carlito"/>
                <a:cs typeface="Carlito"/>
              </a:defRPr>
            </a:defPPr>
            <a:lvl1pPr algn="l">
              <a:defRPr sz="1300" b="1" i="0">
                <a:solidFill>
                  <a:srgbClr val="D4AF37"/>
                </a:solidFill>
                <a:latin typeface="Carlito"/>
                <a:ea typeface="Carlito"/>
                <a:cs typeface="Carlito"/>
              </a:defRPr>
            </a:lvl1pPr>
            <a:lvl2pPr algn="l">
              <a:defRPr sz="1300" b="1" i="0">
                <a:solidFill>
                  <a:srgbClr val="D4AF37"/>
                </a:solidFill>
                <a:latin typeface="Carlito"/>
                <a:ea typeface="Carlito"/>
                <a:cs typeface="Carlito"/>
              </a:defRPr>
            </a:lvl2pPr>
            <a:lvl3pPr algn="l">
              <a:defRPr sz="1300" b="1" i="0">
                <a:solidFill>
                  <a:srgbClr val="D4AF37"/>
                </a:solidFill>
                <a:latin typeface="Carlito"/>
                <a:ea typeface="Carlito"/>
                <a:cs typeface="Carlito"/>
              </a:defRPr>
            </a:lvl3pPr>
            <a:lvl4pPr algn="l">
              <a:defRPr sz="1300" b="1" i="0">
                <a:solidFill>
                  <a:srgbClr val="D4AF37"/>
                </a:solidFill>
                <a:latin typeface="Carlito"/>
                <a:ea typeface="Carlito"/>
                <a:cs typeface="Carlito"/>
              </a:defRPr>
            </a:lvl4pPr>
            <a:lvl5pPr algn="l">
              <a:defRPr sz="1300" b="1" i="0">
                <a:solidFill>
                  <a:srgbClr val="D4AF37"/>
                </a:solidFill>
                <a:latin typeface="Carlito"/>
                <a:ea typeface="Carlito"/>
                <a:cs typeface="Carlito"/>
              </a:defRPr>
            </a:lvl5pPr>
            <a:lvl6pPr algn="l">
              <a:defRPr sz="1300" b="1" i="0">
                <a:solidFill>
                  <a:srgbClr val="D4AF37"/>
                </a:solidFill>
                <a:latin typeface="Carlito"/>
                <a:ea typeface="Carlito"/>
                <a:cs typeface="Carlito"/>
              </a:defRPr>
            </a:lvl6pPr>
            <a:lvl7pPr algn="l">
              <a:defRPr sz="1300" b="1" i="0">
                <a:solidFill>
                  <a:srgbClr val="D4AF37"/>
                </a:solidFill>
                <a:latin typeface="Carlito"/>
                <a:ea typeface="Carlito"/>
                <a:cs typeface="Carlito"/>
              </a:defRPr>
            </a:lvl7pPr>
            <a:lvl8pPr algn="l">
              <a:defRPr sz="1300" b="1" i="0">
                <a:solidFill>
                  <a:srgbClr val="D4AF37"/>
                </a:solidFill>
                <a:latin typeface="Carlito"/>
                <a:ea typeface="Carlito"/>
                <a:cs typeface="Carlito"/>
              </a:defRPr>
            </a:lvl8pPr>
            <a:lvl9pPr algn="l">
              <a:defRPr sz="1300" b="1" i="0">
                <a:solidFill>
                  <a:srgbClr val="D4AF37"/>
                </a:solidFill>
                <a:latin typeface="Carlito"/>
                <a:ea typeface="Carlito"/>
                <a:cs typeface="Carlito"/>
              </a:defRPr>
            </a:lvl9pPr>
          </a:lstStyle>
          <a:p>
            <a:pPr algn="l">
              <a:defRPr sz="1300" b="1" i="0">
                <a:solidFill>
                  <a:srgbClr val="D4AF37"/>
                </a:solidFill>
                <a:latin typeface="Carlito"/>
                <a:ea typeface="Carlito"/>
                <a:cs typeface="Carlito"/>
              </a:defRPr>
            </a:pPr>
            <a:r>
              <a:rPr sz="1300" b="1" i="0">
                <a:solidFill>
                  <a:srgbClr val="D4AF37"/>
                </a:solidFill>
                <a:latin typeface="Carlito"/>
                <a:ea typeface="Carlito"/>
                <a:cs typeface="Carlito"/>
              </a:rPr>
              <a:t>03</a:t>
            </a:r>
          </a:p>
        </p:txBody>
      </p:sp>
      <p:sp>
        <p:nvSpPr>
          <p:cNvPr id="14" name="Rectangle 13">
            <a:extLst>
              <a:ext uri="{FF2B5EF4-FFF2-40B4-BE49-F238E27FC236}">
                <a16:creationId xmlns:a16="http://schemas.microsoft.com/office/drawing/2014/main" id="{2D41161D-139A-4A45-8C9A-FDBCBD46955E}"/>
              </a:ext>
            </a:extLst>
          </p:cNvPr>
          <p:cNvSpPr>
            <a:spLocks noGrp="1"/>
          </p:cNvSpPr>
          <p:nvPr/>
        </p:nvSpPr>
        <p:spPr>
          <a:xfrm>
            <a:off x="5962650" y="3543300"/>
            <a:ext cx="2381250" cy="428625"/>
          </a:xfrm>
          <a:prstGeom prst="rect">
            <a:avLst/>
          </a:prstGeom>
          <a:noFill/>
          <a:ln w="0">
            <a:noFill/>
            <a:prstDash val="solid"/>
          </a:ln>
        </p:spPr>
        <p:txBody>
          <a:bodyPr wrap="square" lIns="0" tIns="0" rIns="0" bIns="0" anchor="t">
            <a:normAutofit/>
          </a:bodyPr>
          <a:lstStyle>
            <a:defPPr algn="l">
              <a:defRPr sz="1600" b="1" i="0">
                <a:solidFill>
                  <a:srgbClr val="152536"/>
                </a:solidFill>
                <a:latin typeface="Carlito"/>
                <a:ea typeface="Carlito"/>
                <a:cs typeface="Carlito"/>
              </a:defRPr>
            </a:defPPr>
            <a:lvl1pPr algn="l">
              <a:defRPr sz="1600" b="1" i="0">
                <a:solidFill>
                  <a:srgbClr val="152536"/>
                </a:solidFill>
                <a:latin typeface="Carlito"/>
                <a:ea typeface="Carlito"/>
                <a:cs typeface="Carlito"/>
              </a:defRPr>
            </a:lvl1pPr>
            <a:lvl2pPr algn="l">
              <a:defRPr sz="1600" b="1" i="0">
                <a:solidFill>
                  <a:srgbClr val="152536"/>
                </a:solidFill>
                <a:latin typeface="Carlito"/>
                <a:ea typeface="Carlito"/>
                <a:cs typeface="Carlito"/>
              </a:defRPr>
            </a:lvl2pPr>
            <a:lvl3pPr algn="l">
              <a:defRPr sz="1600" b="1" i="0">
                <a:solidFill>
                  <a:srgbClr val="152536"/>
                </a:solidFill>
                <a:latin typeface="Carlito"/>
                <a:ea typeface="Carlito"/>
                <a:cs typeface="Carlito"/>
              </a:defRPr>
            </a:lvl3pPr>
            <a:lvl4pPr algn="l">
              <a:defRPr sz="1600" b="1" i="0">
                <a:solidFill>
                  <a:srgbClr val="152536"/>
                </a:solidFill>
                <a:latin typeface="Carlito"/>
                <a:ea typeface="Carlito"/>
                <a:cs typeface="Carlito"/>
              </a:defRPr>
            </a:lvl4pPr>
            <a:lvl5pPr algn="l">
              <a:defRPr sz="1600" b="1" i="0">
                <a:solidFill>
                  <a:srgbClr val="152536"/>
                </a:solidFill>
                <a:latin typeface="Carlito"/>
                <a:ea typeface="Carlito"/>
                <a:cs typeface="Carlito"/>
              </a:defRPr>
            </a:lvl5pPr>
            <a:lvl6pPr algn="l">
              <a:defRPr sz="1600" b="1" i="0">
                <a:solidFill>
                  <a:srgbClr val="152536"/>
                </a:solidFill>
                <a:latin typeface="Carlito"/>
                <a:ea typeface="Carlito"/>
                <a:cs typeface="Carlito"/>
              </a:defRPr>
            </a:lvl6pPr>
            <a:lvl7pPr algn="l">
              <a:defRPr sz="1600" b="1" i="0">
                <a:solidFill>
                  <a:srgbClr val="152536"/>
                </a:solidFill>
                <a:latin typeface="Carlito"/>
                <a:ea typeface="Carlito"/>
                <a:cs typeface="Carlito"/>
              </a:defRPr>
            </a:lvl7pPr>
            <a:lvl8pPr algn="l">
              <a:defRPr sz="1600" b="1" i="0">
                <a:solidFill>
                  <a:srgbClr val="152536"/>
                </a:solidFill>
                <a:latin typeface="Carlito"/>
                <a:ea typeface="Carlito"/>
                <a:cs typeface="Carlito"/>
              </a:defRPr>
            </a:lvl8pPr>
            <a:lvl9pPr algn="l">
              <a:defRPr sz="1600" b="1" i="0">
                <a:solidFill>
                  <a:srgbClr val="152536"/>
                </a:solidFill>
                <a:latin typeface="Carlito"/>
                <a:ea typeface="Carlito"/>
                <a:cs typeface="Carlito"/>
              </a:defRPr>
            </a:lvl9pPr>
          </a:lstStyle>
          <a:p>
            <a:pPr algn="l">
              <a:defRPr sz="1600" b="1" i="0">
                <a:solidFill>
                  <a:srgbClr val="152536"/>
                </a:solidFill>
                <a:latin typeface="Carlito"/>
                <a:ea typeface="Carlito"/>
                <a:cs typeface="Carlito"/>
              </a:defRPr>
            </a:pPr>
            <a:r>
              <a:rPr sz="1200" b="1" i="0" dirty="0">
                <a:solidFill>
                  <a:srgbClr val="152536"/>
                </a:solidFill>
                <a:latin typeface="Carlito"/>
                <a:ea typeface="Carlito"/>
                <a:cs typeface="Carlito"/>
              </a:rPr>
              <a:t>Medal-producing sports</a:t>
            </a:r>
          </a:p>
        </p:txBody>
      </p:sp>
      <p:sp>
        <p:nvSpPr>
          <p:cNvPr id="15" name="Rectangle 14">
            <a:extLst>
              <a:ext uri="{FF2B5EF4-FFF2-40B4-BE49-F238E27FC236}">
                <a16:creationId xmlns:a16="http://schemas.microsoft.com/office/drawing/2014/main" id="{33A0FC2F-05DA-421D-B3B0-1AA33B9A2CBC}"/>
              </a:ext>
            </a:extLst>
          </p:cNvPr>
          <p:cNvSpPr>
            <a:spLocks noGrp="1"/>
          </p:cNvSpPr>
          <p:nvPr/>
        </p:nvSpPr>
        <p:spPr>
          <a:xfrm>
            <a:off x="5962650" y="4029075"/>
            <a:ext cx="2095500" cy="9525"/>
          </a:xfrm>
          <a:prstGeom prst="rect">
            <a:avLst/>
          </a:prstGeom>
          <a:solidFill>
            <a:srgbClr val="D8E1EA"/>
          </a:solidFill>
          <a:ln w="0">
            <a:noFill/>
            <a:prstDash val="solid"/>
          </a:ln>
        </p:spPr>
        <p:txBody>
          <a:bodyPr/>
          <a:lstStyle/>
          <a:p>
            <a:endParaRPr lang="en-SG"/>
          </a:p>
        </p:txBody>
      </p:sp>
      <p:sp>
        <p:nvSpPr>
          <p:cNvPr id="16" name="Rectangle 15">
            <a:extLst>
              <a:ext uri="{FF2B5EF4-FFF2-40B4-BE49-F238E27FC236}">
                <a16:creationId xmlns:a16="http://schemas.microsoft.com/office/drawing/2014/main" id="{1B128F49-C0B3-4522-B264-C925100EFF1D}"/>
              </a:ext>
            </a:extLst>
          </p:cNvPr>
          <p:cNvSpPr>
            <a:spLocks noGrp="1"/>
          </p:cNvSpPr>
          <p:nvPr/>
        </p:nvSpPr>
        <p:spPr>
          <a:xfrm>
            <a:off x="5467350" y="4343400"/>
            <a:ext cx="419100" cy="266700"/>
          </a:xfrm>
          <a:prstGeom prst="rect">
            <a:avLst/>
          </a:prstGeom>
          <a:noFill/>
          <a:ln w="0">
            <a:noFill/>
            <a:prstDash val="solid"/>
          </a:ln>
        </p:spPr>
        <p:txBody>
          <a:bodyPr wrap="square" lIns="0" tIns="0" rIns="0" bIns="0" anchor="t">
            <a:normAutofit/>
          </a:bodyPr>
          <a:lstStyle>
            <a:defPPr algn="l">
              <a:defRPr sz="1300" b="1" i="0">
                <a:solidFill>
                  <a:srgbClr val="D4AF37"/>
                </a:solidFill>
                <a:latin typeface="Carlito"/>
                <a:ea typeface="Carlito"/>
                <a:cs typeface="Carlito"/>
              </a:defRPr>
            </a:defPPr>
            <a:lvl1pPr algn="l">
              <a:defRPr sz="1300" b="1" i="0">
                <a:solidFill>
                  <a:srgbClr val="D4AF37"/>
                </a:solidFill>
                <a:latin typeface="Carlito"/>
                <a:ea typeface="Carlito"/>
                <a:cs typeface="Carlito"/>
              </a:defRPr>
            </a:lvl1pPr>
            <a:lvl2pPr algn="l">
              <a:defRPr sz="1300" b="1" i="0">
                <a:solidFill>
                  <a:srgbClr val="D4AF37"/>
                </a:solidFill>
                <a:latin typeface="Carlito"/>
                <a:ea typeface="Carlito"/>
                <a:cs typeface="Carlito"/>
              </a:defRPr>
            </a:lvl2pPr>
            <a:lvl3pPr algn="l">
              <a:defRPr sz="1300" b="1" i="0">
                <a:solidFill>
                  <a:srgbClr val="D4AF37"/>
                </a:solidFill>
                <a:latin typeface="Carlito"/>
                <a:ea typeface="Carlito"/>
                <a:cs typeface="Carlito"/>
              </a:defRPr>
            </a:lvl3pPr>
            <a:lvl4pPr algn="l">
              <a:defRPr sz="1300" b="1" i="0">
                <a:solidFill>
                  <a:srgbClr val="D4AF37"/>
                </a:solidFill>
                <a:latin typeface="Carlito"/>
                <a:ea typeface="Carlito"/>
                <a:cs typeface="Carlito"/>
              </a:defRPr>
            </a:lvl4pPr>
            <a:lvl5pPr algn="l">
              <a:defRPr sz="1300" b="1" i="0">
                <a:solidFill>
                  <a:srgbClr val="D4AF37"/>
                </a:solidFill>
                <a:latin typeface="Carlito"/>
                <a:ea typeface="Carlito"/>
                <a:cs typeface="Carlito"/>
              </a:defRPr>
            </a:lvl5pPr>
            <a:lvl6pPr algn="l">
              <a:defRPr sz="1300" b="1" i="0">
                <a:solidFill>
                  <a:srgbClr val="D4AF37"/>
                </a:solidFill>
                <a:latin typeface="Carlito"/>
                <a:ea typeface="Carlito"/>
                <a:cs typeface="Carlito"/>
              </a:defRPr>
            </a:lvl6pPr>
            <a:lvl7pPr algn="l">
              <a:defRPr sz="1300" b="1" i="0">
                <a:solidFill>
                  <a:srgbClr val="D4AF37"/>
                </a:solidFill>
                <a:latin typeface="Carlito"/>
                <a:ea typeface="Carlito"/>
                <a:cs typeface="Carlito"/>
              </a:defRPr>
            </a:lvl7pPr>
            <a:lvl8pPr algn="l">
              <a:defRPr sz="1300" b="1" i="0">
                <a:solidFill>
                  <a:srgbClr val="D4AF37"/>
                </a:solidFill>
                <a:latin typeface="Carlito"/>
                <a:ea typeface="Carlito"/>
                <a:cs typeface="Carlito"/>
              </a:defRPr>
            </a:lvl8pPr>
            <a:lvl9pPr algn="l">
              <a:defRPr sz="1300" b="1" i="0">
                <a:solidFill>
                  <a:srgbClr val="D4AF37"/>
                </a:solidFill>
                <a:latin typeface="Carlito"/>
                <a:ea typeface="Carlito"/>
                <a:cs typeface="Carlito"/>
              </a:defRPr>
            </a:lvl9pPr>
          </a:lstStyle>
          <a:p>
            <a:pPr algn="l">
              <a:defRPr sz="1300" b="1" i="0">
                <a:solidFill>
                  <a:srgbClr val="D4AF37"/>
                </a:solidFill>
                <a:latin typeface="Carlito"/>
                <a:ea typeface="Carlito"/>
                <a:cs typeface="Carlito"/>
              </a:defRPr>
            </a:pPr>
            <a:r>
              <a:rPr sz="1300" b="1" i="0">
                <a:solidFill>
                  <a:srgbClr val="D4AF37"/>
                </a:solidFill>
                <a:latin typeface="Carlito"/>
                <a:ea typeface="Carlito"/>
                <a:cs typeface="Carlito"/>
              </a:rPr>
              <a:t>04</a:t>
            </a:r>
          </a:p>
        </p:txBody>
      </p:sp>
      <p:sp>
        <p:nvSpPr>
          <p:cNvPr id="17" name="Rectangle 16">
            <a:extLst>
              <a:ext uri="{FF2B5EF4-FFF2-40B4-BE49-F238E27FC236}">
                <a16:creationId xmlns:a16="http://schemas.microsoft.com/office/drawing/2014/main" id="{F1D389DB-57FF-451D-881B-2E8AA234B363}"/>
              </a:ext>
            </a:extLst>
          </p:cNvPr>
          <p:cNvSpPr>
            <a:spLocks noGrp="1"/>
          </p:cNvSpPr>
          <p:nvPr/>
        </p:nvSpPr>
        <p:spPr>
          <a:xfrm>
            <a:off x="5962650" y="4324350"/>
            <a:ext cx="2381250" cy="428625"/>
          </a:xfrm>
          <a:prstGeom prst="rect">
            <a:avLst/>
          </a:prstGeom>
          <a:noFill/>
          <a:ln w="0">
            <a:noFill/>
            <a:prstDash val="solid"/>
          </a:ln>
        </p:spPr>
        <p:txBody>
          <a:bodyPr wrap="square" lIns="0" tIns="0" rIns="0" bIns="0" anchor="t">
            <a:normAutofit/>
          </a:bodyPr>
          <a:lstStyle>
            <a:defPPr algn="l">
              <a:defRPr sz="1600" b="1" i="0">
                <a:solidFill>
                  <a:srgbClr val="152536"/>
                </a:solidFill>
                <a:latin typeface="Carlito"/>
                <a:ea typeface="Carlito"/>
                <a:cs typeface="Carlito"/>
              </a:defRPr>
            </a:defPPr>
            <a:lvl1pPr algn="l">
              <a:defRPr sz="1600" b="1" i="0">
                <a:solidFill>
                  <a:srgbClr val="152536"/>
                </a:solidFill>
                <a:latin typeface="Carlito"/>
                <a:ea typeface="Carlito"/>
                <a:cs typeface="Carlito"/>
              </a:defRPr>
            </a:lvl1pPr>
            <a:lvl2pPr algn="l">
              <a:defRPr sz="1600" b="1" i="0">
                <a:solidFill>
                  <a:srgbClr val="152536"/>
                </a:solidFill>
                <a:latin typeface="Carlito"/>
                <a:ea typeface="Carlito"/>
                <a:cs typeface="Carlito"/>
              </a:defRPr>
            </a:lvl2pPr>
            <a:lvl3pPr algn="l">
              <a:defRPr sz="1600" b="1" i="0">
                <a:solidFill>
                  <a:srgbClr val="152536"/>
                </a:solidFill>
                <a:latin typeface="Carlito"/>
                <a:ea typeface="Carlito"/>
                <a:cs typeface="Carlito"/>
              </a:defRPr>
            </a:lvl3pPr>
            <a:lvl4pPr algn="l">
              <a:defRPr sz="1600" b="1" i="0">
                <a:solidFill>
                  <a:srgbClr val="152536"/>
                </a:solidFill>
                <a:latin typeface="Carlito"/>
                <a:ea typeface="Carlito"/>
                <a:cs typeface="Carlito"/>
              </a:defRPr>
            </a:lvl4pPr>
            <a:lvl5pPr algn="l">
              <a:defRPr sz="1600" b="1" i="0">
                <a:solidFill>
                  <a:srgbClr val="152536"/>
                </a:solidFill>
                <a:latin typeface="Carlito"/>
                <a:ea typeface="Carlito"/>
                <a:cs typeface="Carlito"/>
              </a:defRPr>
            </a:lvl5pPr>
            <a:lvl6pPr algn="l">
              <a:defRPr sz="1600" b="1" i="0">
                <a:solidFill>
                  <a:srgbClr val="152536"/>
                </a:solidFill>
                <a:latin typeface="Carlito"/>
                <a:ea typeface="Carlito"/>
                <a:cs typeface="Carlito"/>
              </a:defRPr>
            </a:lvl6pPr>
            <a:lvl7pPr algn="l">
              <a:defRPr sz="1600" b="1" i="0">
                <a:solidFill>
                  <a:srgbClr val="152536"/>
                </a:solidFill>
                <a:latin typeface="Carlito"/>
                <a:ea typeface="Carlito"/>
                <a:cs typeface="Carlito"/>
              </a:defRPr>
            </a:lvl7pPr>
            <a:lvl8pPr algn="l">
              <a:defRPr sz="1600" b="1" i="0">
                <a:solidFill>
                  <a:srgbClr val="152536"/>
                </a:solidFill>
                <a:latin typeface="Carlito"/>
                <a:ea typeface="Carlito"/>
                <a:cs typeface="Carlito"/>
              </a:defRPr>
            </a:lvl8pPr>
            <a:lvl9pPr algn="l">
              <a:defRPr sz="1600" b="1" i="0">
                <a:solidFill>
                  <a:srgbClr val="152536"/>
                </a:solidFill>
                <a:latin typeface="Carlito"/>
                <a:ea typeface="Carlito"/>
                <a:cs typeface="Carlito"/>
              </a:defRPr>
            </a:lvl9pPr>
          </a:lstStyle>
          <a:p>
            <a:pPr algn="l">
              <a:defRPr sz="1600" b="1" i="0">
                <a:solidFill>
                  <a:srgbClr val="152536"/>
                </a:solidFill>
                <a:latin typeface="Carlito"/>
                <a:ea typeface="Carlito"/>
                <a:cs typeface="Carlito"/>
              </a:defRPr>
            </a:pPr>
            <a:r>
              <a:rPr sz="1200" b="1" i="0" dirty="0">
                <a:solidFill>
                  <a:srgbClr val="152536"/>
                </a:solidFill>
                <a:latin typeface="Carlito"/>
                <a:ea typeface="Carlito"/>
                <a:cs typeface="Carlito"/>
              </a:rPr>
              <a:t>Gender differences</a:t>
            </a:r>
          </a:p>
        </p:txBody>
      </p:sp>
      <p:sp>
        <p:nvSpPr>
          <p:cNvPr id="18" name="Rectangle 17">
            <a:extLst>
              <a:ext uri="{FF2B5EF4-FFF2-40B4-BE49-F238E27FC236}">
                <a16:creationId xmlns:a16="http://schemas.microsoft.com/office/drawing/2014/main" id="{3E9679AD-A772-47FD-90B6-6D2887DE6BC5}"/>
              </a:ext>
            </a:extLst>
          </p:cNvPr>
          <p:cNvSpPr>
            <a:spLocks noGrp="1"/>
          </p:cNvSpPr>
          <p:nvPr/>
        </p:nvSpPr>
        <p:spPr>
          <a:xfrm>
            <a:off x="5962650" y="4810125"/>
            <a:ext cx="2095500" cy="9525"/>
          </a:xfrm>
          <a:prstGeom prst="rect">
            <a:avLst/>
          </a:prstGeom>
          <a:solidFill>
            <a:srgbClr val="D8E1EA"/>
          </a:solidFill>
          <a:ln w="0">
            <a:noFill/>
            <a:prstDash val="solid"/>
          </a:ln>
        </p:spPr>
        <p:txBody>
          <a:bodyPr/>
          <a:lstStyle/>
          <a:p>
            <a:endParaRPr lang="en-SG"/>
          </a:p>
        </p:txBody>
      </p:sp>
      <p:sp>
        <p:nvSpPr>
          <p:cNvPr id="19" name="Rectangle 18">
            <a:extLst>
              <a:ext uri="{FF2B5EF4-FFF2-40B4-BE49-F238E27FC236}">
                <a16:creationId xmlns:a16="http://schemas.microsoft.com/office/drawing/2014/main" id="{BA74E1C6-BBC2-4137-93E4-8E16C176B223}"/>
              </a:ext>
            </a:extLst>
          </p:cNvPr>
          <p:cNvSpPr>
            <a:spLocks noGrp="1"/>
          </p:cNvSpPr>
          <p:nvPr/>
        </p:nvSpPr>
        <p:spPr>
          <a:xfrm>
            <a:off x="8420100" y="2000250"/>
            <a:ext cx="419100" cy="266700"/>
          </a:xfrm>
          <a:prstGeom prst="rect">
            <a:avLst/>
          </a:prstGeom>
          <a:noFill/>
          <a:ln w="0">
            <a:noFill/>
            <a:prstDash val="solid"/>
          </a:ln>
        </p:spPr>
        <p:txBody>
          <a:bodyPr wrap="square" lIns="0" tIns="0" rIns="0" bIns="0" anchor="t">
            <a:normAutofit/>
          </a:bodyPr>
          <a:lstStyle>
            <a:defPPr algn="l">
              <a:defRPr sz="1300" b="1" i="0">
                <a:solidFill>
                  <a:srgbClr val="D4AF37"/>
                </a:solidFill>
                <a:latin typeface="Carlito"/>
                <a:ea typeface="Carlito"/>
                <a:cs typeface="Carlito"/>
              </a:defRPr>
            </a:defPPr>
            <a:lvl1pPr algn="l">
              <a:defRPr sz="1300" b="1" i="0">
                <a:solidFill>
                  <a:srgbClr val="D4AF37"/>
                </a:solidFill>
                <a:latin typeface="Carlito"/>
                <a:ea typeface="Carlito"/>
                <a:cs typeface="Carlito"/>
              </a:defRPr>
            </a:lvl1pPr>
            <a:lvl2pPr algn="l">
              <a:defRPr sz="1300" b="1" i="0">
                <a:solidFill>
                  <a:srgbClr val="D4AF37"/>
                </a:solidFill>
                <a:latin typeface="Carlito"/>
                <a:ea typeface="Carlito"/>
                <a:cs typeface="Carlito"/>
              </a:defRPr>
            </a:lvl2pPr>
            <a:lvl3pPr algn="l">
              <a:defRPr sz="1300" b="1" i="0">
                <a:solidFill>
                  <a:srgbClr val="D4AF37"/>
                </a:solidFill>
                <a:latin typeface="Carlito"/>
                <a:ea typeface="Carlito"/>
                <a:cs typeface="Carlito"/>
              </a:defRPr>
            </a:lvl3pPr>
            <a:lvl4pPr algn="l">
              <a:defRPr sz="1300" b="1" i="0">
                <a:solidFill>
                  <a:srgbClr val="D4AF37"/>
                </a:solidFill>
                <a:latin typeface="Carlito"/>
                <a:ea typeface="Carlito"/>
                <a:cs typeface="Carlito"/>
              </a:defRPr>
            </a:lvl4pPr>
            <a:lvl5pPr algn="l">
              <a:defRPr sz="1300" b="1" i="0">
                <a:solidFill>
                  <a:srgbClr val="D4AF37"/>
                </a:solidFill>
                <a:latin typeface="Carlito"/>
                <a:ea typeface="Carlito"/>
                <a:cs typeface="Carlito"/>
              </a:defRPr>
            </a:lvl5pPr>
            <a:lvl6pPr algn="l">
              <a:defRPr sz="1300" b="1" i="0">
                <a:solidFill>
                  <a:srgbClr val="D4AF37"/>
                </a:solidFill>
                <a:latin typeface="Carlito"/>
                <a:ea typeface="Carlito"/>
                <a:cs typeface="Carlito"/>
              </a:defRPr>
            </a:lvl6pPr>
            <a:lvl7pPr algn="l">
              <a:defRPr sz="1300" b="1" i="0">
                <a:solidFill>
                  <a:srgbClr val="D4AF37"/>
                </a:solidFill>
                <a:latin typeface="Carlito"/>
                <a:ea typeface="Carlito"/>
                <a:cs typeface="Carlito"/>
              </a:defRPr>
            </a:lvl7pPr>
            <a:lvl8pPr algn="l">
              <a:defRPr sz="1300" b="1" i="0">
                <a:solidFill>
                  <a:srgbClr val="D4AF37"/>
                </a:solidFill>
                <a:latin typeface="Carlito"/>
                <a:ea typeface="Carlito"/>
                <a:cs typeface="Carlito"/>
              </a:defRPr>
            </a:lvl8pPr>
            <a:lvl9pPr algn="l">
              <a:defRPr sz="1300" b="1" i="0">
                <a:solidFill>
                  <a:srgbClr val="D4AF37"/>
                </a:solidFill>
                <a:latin typeface="Carlito"/>
                <a:ea typeface="Carlito"/>
                <a:cs typeface="Carlito"/>
              </a:defRPr>
            </a:lvl9pPr>
          </a:lstStyle>
          <a:p>
            <a:pPr algn="l">
              <a:defRPr sz="1300" b="1" i="0">
                <a:solidFill>
                  <a:srgbClr val="D4AF37"/>
                </a:solidFill>
                <a:latin typeface="Carlito"/>
                <a:ea typeface="Carlito"/>
                <a:cs typeface="Carlito"/>
              </a:defRPr>
            </a:pPr>
            <a:r>
              <a:rPr sz="1300" b="1" i="0">
                <a:solidFill>
                  <a:srgbClr val="D4AF37"/>
                </a:solidFill>
                <a:latin typeface="Carlito"/>
                <a:ea typeface="Carlito"/>
                <a:cs typeface="Carlito"/>
              </a:rPr>
              <a:t>05</a:t>
            </a:r>
          </a:p>
        </p:txBody>
      </p:sp>
      <p:sp>
        <p:nvSpPr>
          <p:cNvPr id="20" name="Rectangle 19">
            <a:extLst>
              <a:ext uri="{FF2B5EF4-FFF2-40B4-BE49-F238E27FC236}">
                <a16:creationId xmlns:a16="http://schemas.microsoft.com/office/drawing/2014/main" id="{88CEA465-708D-41AA-8E73-4F3B8D6A992B}"/>
              </a:ext>
            </a:extLst>
          </p:cNvPr>
          <p:cNvSpPr>
            <a:spLocks noGrp="1"/>
          </p:cNvSpPr>
          <p:nvPr/>
        </p:nvSpPr>
        <p:spPr>
          <a:xfrm>
            <a:off x="8915400" y="1981200"/>
            <a:ext cx="2381250" cy="428625"/>
          </a:xfrm>
          <a:prstGeom prst="rect">
            <a:avLst/>
          </a:prstGeom>
          <a:noFill/>
          <a:ln w="0">
            <a:noFill/>
            <a:prstDash val="solid"/>
          </a:ln>
        </p:spPr>
        <p:txBody>
          <a:bodyPr wrap="square" lIns="0" tIns="0" rIns="0" bIns="0" anchor="t">
            <a:normAutofit/>
          </a:bodyPr>
          <a:lstStyle>
            <a:defPPr algn="l">
              <a:defRPr sz="1600" b="1" i="0">
                <a:solidFill>
                  <a:srgbClr val="152536"/>
                </a:solidFill>
                <a:latin typeface="Carlito"/>
                <a:ea typeface="Carlito"/>
                <a:cs typeface="Carlito"/>
              </a:defRPr>
            </a:defPPr>
            <a:lvl1pPr algn="l">
              <a:defRPr sz="1600" b="1" i="0">
                <a:solidFill>
                  <a:srgbClr val="152536"/>
                </a:solidFill>
                <a:latin typeface="Carlito"/>
                <a:ea typeface="Carlito"/>
                <a:cs typeface="Carlito"/>
              </a:defRPr>
            </a:lvl1pPr>
            <a:lvl2pPr algn="l">
              <a:defRPr sz="1600" b="1" i="0">
                <a:solidFill>
                  <a:srgbClr val="152536"/>
                </a:solidFill>
                <a:latin typeface="Carlito"/>
                <a:ea typeface="Carlito"/>
                <a:cs typeface="Carlito"/>
              </a:defRPr>
            </a:lvl2pPr>
            <a:lvl3pPr algn="l">
              <a:defRPr sz="1600" b="1" i="0">
                <a:solidFill>
                  <a:srgbClr val="152536"/>
                </a:solidFill>
                <a:latin typeface="Carlito"/>
                <a:ea typeface="Carlito"/>
                <a:cs typeface="Carlito"/>
              </a:defRPr>
            </a:lvl3pPr>
            <a:lvl4pPr algn="l">
              <a:defRPr sz="1600" b="1" i="0">
                <a:solidFill>
                  <a:srgbClr val="152536"/>
                </a:solidFill>
                <a:latin typeface="Carlito"/>
                <a:ea typeface="Carlito"/>
                <a:cs typeface="Carlito"/>
              </a:defRPr>
            </a:lvl4pPr>
            <a:lvl5pPr algn="l">
              <a:defRPr sz="1600" b="1" i="0">
                <a:solidFill>
                  <a:srgbClr val="152536"/>
                </a:solidFill>
                <a:latin typeface="Carlito"/>
                <a:ea typeface="Carlito"/>
                <a:cs typeface="Carlito"/>
              </a:defRPr>
            </a:lvl5pPr>
            <a:lvl6pPr algn="l">
              <a:defRPr sz="1600" b="1" i="0">
                <a:solidFill>
                  <a:srgbClr val="152536"/>
                </a:solidFill>
                <a:latin typeface="Carlito"/>
                <a:ea typeface="Carlito"/>
                <a:cs typeface="Carlito"/>
              </a:defRPr>
            </a:lvl6pPr>
            <a:lvl7pPr algn="l">
              <a:defRPr sz="1600" b="1" i="0">
                <a:solidFill>
                  <a:srgbClr val="152536"/>
                </a:solidFill>
                <a:latin typeface="Carlito"/>
                <a:ea typeface="Carlito"/>
                <a:cs typeface="Carlito"/>
              </a:defRPr>
            </a:lvl7pPr>
            <a:lvl8pPr algn="l">
              <a:defRPr sz="1600" b="1" i="0">
                <a:solidFill>
                  <a:srgbClr val="152536"/>
                </a:solidFill>
                <a:latin typeface="Carlito"/>
                <a:ea typeface="Carlito"/>
                <a:cs typeface="Carlito"/>
              </a:defRPr>
            </a:lvl8pPr>
            <a:lvl9pPr algn="l">
              <a:defRPr sz="1600" b="1" i="0">
                <a:solidFill>
                  <a:srgbClr val="152536"/>
                </a:solidFill>
                <a:latin typeface="Carlito"/>
                <a:ea typeface="Carlito"/>
                <a:cs typeface="Carlito"/>
              </a:defRPr>
            </a:lvl9pPr>
          </a:lstStyle>
          <a:p>
            <a:pPr>
              <a:defRPr sz="1600" b="1" i="0">
                <a:solidFill>
                  <a:srgbClr val="152536"/>
                </a:solidFill>
                <a:latin typeface="Carlito"/>
                <a:ea typeface="Carlito"/>
                <a:cs typeface="Carlito"/>
              </a:defRPr>
            </a:pPr>
            <a:r>
              <a:rPr sz="1200" b="1" i="0" dirty="0">
                <a:solidFill>
                  <a:srgbClr val="152536"/>
                </a:solidFill>
                <a:latin typeface="Carlito"/>
                <a:ea typeface="Carlito"/>
                <a:cs typeface="Carlito"/>
              </a:rPr>
              <a:t>Athlete profiles</a:t>
            </a:r>
            <a:endParaRPr lang="en-SG" sz="1200" dirty="0"/>
          </a:p>
          <a:p>
            <a:pPr>
              <a:defRPr sz="1600" b="1" i="0">
                <a:solidFill>
                  <a:srgbClr val="152536"/>
                </a:solidFill>
                <a:latin typeface="Carlito"/>
                <a:ea typeface="Carlito"/>
                <a:cs typeface="Carlito"/>
              </a:defRPr>
            </a:pPr>
            <a:endParaRPr lang="en-SG" sz="1200" dirty="0"/>
          </a:p>
          <a:p>
            <a:pPr algn="l">
              <a:defRPr sz="1600" b="1" i="0">
                <a:solidFill>
                  <a:srgbClr val="152536"/>
                </a:solidFill>
                <a:latin typeface="Carlito"/>
                <a:ea typeface="Carlito"/>
                <a:cs typeface="Carlito"/>
              </a:defRPr>
            </a:pPr>
            <a:endParaRPr sz="1200" b="1" i="0" dirty="0">
              <a:solidFill>
                <a:srgbClr val="152536"/>
              </a:solidFill>
              <a:latin typeface="Carlito"/>
              <a:ea typeface="Carlito"/>
              <a:cs typeface="Carlito"/>
            </a:endParaRPr>
          </a:p>
        </p:txBody>
      </p:sp>
      <p:sp>
        <p:nvSpPr>
          <p:cNvPr id="21" name="Rectangle 20">
            <a:extLst>
              <a:ext uri="{FF2B5EF4-FFF2-40B4-BE49-F238E27FC236}">
                <a16:creationId xmlns:a16="http://schemas.microsoft.com/office/drawing/2014/main" id="{0299327F-9135-4D86-B165-F21BD1187B58}"/>
              </a:ext>
            </a:extLst>
          </p:cNvPr>
          <p:cNvSpPr>
            <a:spLocks noGrp="1"/>
          </p:cNvSpPr>
          <p:nvPr/>
        </p:nvSpPr>
        <p:spPr>
          <a:xfrm>
            <a:off x="8915400" y="2466975"/>
            <a:ext cx="2095500" cy="9525"/>
          </a:xfrm>
          <a:prstGeom prst="rect">
            <a:avLst/>
          </a:prstGeom>
          <a:solidFill>
            <a:srgbClr val="D8E1EA"/>
          </a:solidFill>
          <a:ln w="0">
            <a:noFill/>
            <a:prstDash val="solid"/>
          </a:ln>
        </p:spPr>
        <p:txBody>
          <a:bodyPr/>
          <a:lstStyle/>
          <a:p>
            <a:endParaRPr lang="en-SG"/>
          </a:p>
        </p:txBody>
      </p:sp>
      <p:sp>
        <p:nvSpPr>
          <p:cNvPr id="22" name="Rectangle 21">
            <a:extLst>
              <a:ext uri="{FF2B5EF4-FFF2-40B4-BE49-F238E27FC236}">
                <a16:creationId xmlns:a16="http://schemas.microsoft.com/office/drawing/2014/main" id="{7F64FD10-4318-449C-B008-A7553137B7FF}"/>
              </a:ext>
            </a:extLst>
          </p:cNvPr>
          <p:cNvSpPr>
            <a:spLocks noGrp="1"/>
          </p:cNvSpPr>
          <p:nvPr/>
        </p:nvSpPr>
        <p:spPr>
          <a:xfrm>
            <a:off x="8420100" y="2781300"/>
            <a:ext cx="419100" cy="266700"/>
          </a:xfrm>
          <a:prstGeom prst="rect">
            <a:avLst/>
          </a:prstGeom>
          <a:noFill/>
          <a:ln w="0">
            <a:noFill/>
            <a:prstDash val="solid"/>
          </a:ln>
        </p:spPr>
        <p:txBody>
          <a:bodyPr wrap="square" lIns="0" tIns="0" rIns="0" bIns="0" anchor="t">
            <a:normAutofit/>
          </a:bodyPr>
          <a:lstStyle>
            <a:defPPr algn="l">
              <a:defRPr sz="1300" b="1" i="0">
                <a:solidFill>
                  <a:srgbClr val="D4AF37"/>
                </a:solidFill>
                <a:latin typeface="Carlito"/>
                <a:ea typeface="Carlito"/>
                <a:cs typeface="Carlito"/>
              </a:defRPr>
            </a:defPPr>
            <a:lvl1pPr algn="l">
              <a:defRPr sz="1300" b="1" i="0">
                <a:solidFill>
                  <a:srgbClr val="D4AF37"/>
                </a:solidFill>
                <a:latin typeface="Carlito"/>
                <a:ea typeface="Carlito"/>
                <a:cs typeface="Carlito"/>
              </a:defRPr>
            </a:lvl1pPr>
            <a:lvl2pPr algn="l">
              <a:defRPr sz="1300" b="1" i="0">
                <a:solidFill>
                  <a:srgbClr val="D4AF37"/>
                </a:solidFill>
                <a:latin typeface="Carlito"/>
                <a:ea typeface="Carlito"/>
                <a:cs typeface="Carlito"/>
              </a:defRPr>
            </a:lvl2pPr>
            <a:lvl3pPr algn="l">
              <a:defRPr sz="1300" b="1" i="0">
                <a:solidFill>
                  <a:srgbClr val="D4AF37"/>
                </a:solidFill>
                <a:latin typeface="Carlito"/>
                <a:ea typeface="Carlito"/>
                <a:cs typeface="Carlito"/>
              </a:defRPr>
            </a:lvl3pPr>
            <a:lvl4pPr algn="l">
              <a:defRPr sz="1300" b="1" i="0">
                <a:solidFill>
                  <a:srgbClr val="D4AF37"/>
                </a:solidFill>
                <a:latin typeface="Carlito"/>
                <a:ea typeface="Carlito"/>
                <a:cs typeface="Carlito"/>
              </a:defRPr>
            </a:lvl4pPr>
            <a:lvl5pPr algn="l">
              <a:defRPr sz="1300" b="1" i="0">
                <a:solidFill>
                  <a:srgbClr val="D4AF37"/>
                </a:solidFill>
                <a:latin typeface="Carlito"/>
                <a:ea typeface="Carlito"/>
                <a:cs typeface="Carlito"/>
              </a:defRPr>
            </a:lvl5pPr>
            <a:lvl6pPr algn="l">
              <a:defRPr sz="1300" b="1" i="0">
                <a:solidFill>
                  <a:srgbClr val="D4AF37"/>
                </a:solidFill>
                <a:latin typeface="Carlito"/>
                <a:ea typeface="Carlito"/>
                <a:cs typeface="Carlito"/>
              </a:defRPr>
            </a:lvl6pPr>
            <a:lvl7pPr algn="l">
              <a:defRPr sz="1300" b="1" i="0">
                <a:solidFill>
                  <a:srgbClr val="D4AF37"/>
                </a:solidFill>
                <a:latin typeface="Carlito"/>
                <a:ea typeface="Carlito"/>
                <a:cs typeface="Carlito"/>
              </a:defRPr>
            </a:lvl7pPr>
            <a:lvl8pPr algn="l">
              <a:defRPr sz="1300" b="1" i="0">
                <a:solidFill>
                  <a:srgbClr val="D4AF37"/>
                </a:solidFill>
                <a:latin typeface="Carlito"/>
                <a:ea typeface="Carlito"/>
                <a:cs typeface="Carlito"/>
              </a:defRPr>
            </a:lvl8pPr>
            <a:lvl9pPr algn="l">
              <a:defRPr sz="1300" b="1" i="0">
                <a:solidFill>
                  <a:srgbClr val="D4AF37"/>
                </a:solidFill>
                <a:latin typeface="Carlito"/>
                <a:ea typeface="Carlito"/>
                <a:cs typeface="Carlito"/>
              </a:defRPr>
            </a:lvl9pPr>
          </a:lstStyle>
          <a:p>
            <a:pPr algn="l">
              <a:defRPr sz="1300" b="1" i="0">
                <a:solidFill>
                  <a:srgbClr val="D4AF37"/>
                </a:solidFill>
                <a:latin typeface="Carlito"/>
                <a:ea typeface="Carlito"/>
                <a:cs typeface="Carlito"/>
              </a:defRPr>
            </a:pPr>
            <a:r>
              <a:rPr sz="1300" b="1" i="0">
                <a:solidFill>
                  <a:srgbClr val="D4AF37"/>
                </a:solidFill>
                <a:latin typeface="Carlito"/>
                <a:ea typeface="Carlito"/>
                <a:cs typeface="Carlito"/>
              </a:rPr>
              <a:t>06</a:t>
            </a:r>
          </a:p>
        </p:txBody>
      </p:sp>
      <p:sp>
        <p:nvSpPr>
          <p:cNvPr id="24" name="Rectangle 23">
            <a:extLst>
              <a:ext uri="{FF2B5EF4-FFF2-40B4-BE49-F238E27FC236}">
                <a16:creationId xmlns:a16="http://schemas.microsoft.com/office/drawing/2014/main" id="{F90478E5-12B5-4FC2-8433-6165635501FE}"/>
              </a:ext>
            </a:extLst>
          </p:cNvPr>
          <p:cNvSpPr>
            <a:spLocks noGrp="1"/>
          </p:cNvSpPr>
          <p:nvPr/>
        </p:nvSpPr>
        <p:spPr>
          <a:xfrm>
            <a:off x="8915400" y="3248025"/>
            <a:ext cx="2095500" cy="9525"/>
          </a:xfrm>
          <a:prstGeom prst="rect">
            <a:avLst/>
          </a:prstGeom>
          <a:solidFill>
            <a:srgbClr val="D8E1EA"/>
          </a:solidFill>
          <a:ln w="0">
            <a:noFill/>
            <a:prstDash val="solid"/>
          </a:ln>
        </p:spPr>
        <p:txBody>
          <a:bodyPr/>
          <a:lstStyle/>
          <a:p>
            <a:endParaRPr lang="en-SG"/>
          </a:p>
        </p:txBody>
      </p:sp>
      <p:sp>
        <p:nvSpPr>
          <p:cNvPr id="25" name="Rectangle 24">
            <a:extLst>
              <a:ext uri="{FF2B5EF4-FFF2-40B4-BE49-F238E27FC236}">
                <a16:creationId xmlns:a16="http://schemas.microsoft.com/office/drawing/2014/main" id="{47A267E9-2F5D-4B2F-9018-AD7F4D6FD6DB}"/>
              </a:ext>
            </a:extLst>
          </p:cNvPr>
          <p:cNvSpPr>
            <a:spLocks noGrp="1"/>
          </p:cNvSpPr>
          <p:nvPr/>
        </p:nvSpPr>
        <p:spPr>
          <a:xfrm>
            <a:off x="8420100" y="3562350"/>
            <a:ext cx="419100" cy="266700"/>
          </a:xfrm>
          <a:prstGeom prst="rect">
            <a:avLst/>
          </a:prstGeom>
          <a:noFill/>
          <a:ln w="0">
            <a:noFill/>
            <a:prstDash val="solid"/>
          </a:ln>
        </p:spPr>
        <p:txBody>
          <a:bodyPr wrap="square" lIns="0" tIns="0" rIns="0" bIns="0" anchor="t">
            <a:normAutofit/>
          </a:bodyPr>
          <a:lstStyle>
            <a:defPPr algn="l">
              <a:defRPr sz="1300" b="1" i="0">
                <a:solidFill>
                  <a:srgbClr val="D4AF37"/>
                </a:solidFill>
                <a:latin typeface="Carlito"/>
                <a:ea typeface="Carlito"/>
                <a:cs typeface="Carlito"/>
              </a:defRPr>
            </a:defPPr>
            <a:lvl1pPr algn="l">
              <a:defRPr sz="1300" b="1" i="0">
                <a:solidFill>
                  <a:srgbClr val="D4AF37"/>
                </a:solidFill>
                <a:latin typeface="Carlito"/>
                <a:ea typeface="Carlito"/>
                <a:cs typeface="Carlito"/>
              </a:defRPr>
            </a:lvl1pPr>
            <a:lvl2pPr algn="l">
              <a:defRPr sz="1300" b="1" i="0">
                <a:solidFill>
                  <a:srgbClr val="D4AF37"/>
                </a:solidFill>
                <a:latin typeface="Carlito"/>
                <a:ea typeface="Carlito"/>
                <a:cs typeface="Carlito"/>
              </a:defRPr>
            </a:lvl2pPr>
            <a:lvl3pPr algn="l">
              <a:defRPr sz="1300" b="1" i="0">
                <a:solidFill>
                  <a:srgbClr val="D4AF37"/>
                </a:solidFill>
                <a:latin typeface="Carlito"/>
                <a:ea typeface="Carlito"/>
                <a:cs typeface="Carlito"/>
              </a:defRPr>
            </a:lvl3pPr>
            <a:lvl4pPr algn="l">
              <a:defRPr sz="1300" b="1" i="0">
                <a:solidFill>
                  <a:srgbClr val="D4AF37"/>
                </a:solidFill>
                <a:latin typeface="Carlito"/>
                <a:ea typeface="Carlito"/>
                <a:cs typeface="Carlito"/>
              </a:defRPr>
            </a:lvl4pPr>
            <a:lvl5pPr algn="l">
              <a:defRPr sz="1300" b="1" i="0">
                <a:solidFill>
                  <a:srgbClr val="D4AF37"/>
                </a:solidFill>
                <a:latin typeface="Carlito"/>
                <a:ea typeface="Carlito"/>
                <a:cs typeface="Carlito"/>
              </a:defRPr>
            </a:lvl5pPr>
            <a:lvl6pPr algn="l">
              <a:defRPr sz="1300" b="1" i="0">
                <a:solidFill>
                  <a:srgbClr val="D4AF37"/>
                </a:solidFill>
                <a:latin typeface="Carlito"/>
                <a:ea typeface="Carlito"/>
                <a:cs typeface="Carlito"/>
              </a:defRPr>
            </a:lvl6pPr>
            <a:lvl7pPr algn="l">
              <a:defRPr sz="1300" b="1" i="0">
                <a:solidFill>
                  <a:srgbClr val="D4AF37"/>
                </a:solidFill>
                <a:latin typeface="Carlito"/>
                <a:ea typeface="Carlito"/>
                <a:cs typeface="Carlito"/>
              </a:defRPr>
            </a:lvl7pPr>
            <a:lvl8pPr algn="l">
              <a:defRPr sz="1300" b="1" i="0">
                <a:solidFill>
                  <a:srgbClr val="D4AF37"/>
                </a:solidFill>
                <a:latin typeface="Carlito"/>
                <a:ea typeface="Carlito"/>
                <a:cs typeface="Carlito"/>
              </a:defRPr>
            </a:lvl8pPr>
            <a:lvl9pPr algn="l">
              <a:defRPr sz="1300" b="1" i="0">
                <a:solidFill>
                  <a:srgbClr val="D4AF37"/>
                </a:solidFill>
                <a:latin typeface="Carlito"/>
                <a:ea typeface="Carlito"/>
                <a:cs typeface="Carlito"/>
              </a:defRPr>
            </a:lvl9pPr>
          </a:lstStyle>
          <a:p>
            <a:pPr algn="l">
              <a:defRPr sz="1300" b="1" i="0">
                <a:solidFill>
                  <a:srgbClr val="D4AF37"/>
                </a:solidFill>
                <a:latin typeface="Carlito"/>
                <a:ea typeface="Carlito"/>
                <a:cs typeface="Carlito"/>
              </a:defRPr>
            </a:pPr>
            <a:r>
              <a:rPr sz="1300" b="1" i="0">
                <a:solidFill>
                  <a:srgbClr val="D4AF37"/>
                </a:solidFill>
                <a:latin typeface="Carlito"/>
                <a:ea typeface="Carlito"/>
                <a:cs typeface="Carlito"/>
              </a:rPr>
              <a:t>07</a:t>
            </a:r>
          </a:p>
        </p:txBody>
      </p:sp>
      <p:sp>
        <p:nvSpPr>
          <p:cNvPr id="26" name="Rectangle 25">
            <a:extLst>
              <a:ext uri="{FF2B5EF4-FFF2-40B4-BE49-F238E27FC236}">
                <a16:creationId xmlns:a16="http://schemas.microsoft.com/office/drawing/2014/main" id="{E47E282C-919B-41DF-AADC-55E1E51053F8}"/>
              </a:ext>
            </a:extLst>
          </p:cNvPr>
          <p:cNvSpPr>
            <a:spLocks noGrp="1"/>
          </p:cNvSpPr>
          <p:nvPr/>
        </p:nvSpPr>
        <p:spPr>
          <a:xfrm>
            <a:off x="8915400" y="3543300"/>
            <a:ext cx="2381250" cy="428625"/>
          </a:xfrm>
          <a:prstGeom prst="rect">
            <a:avLst/>
          </a:prstGeom>
          <a:noFill/>
          <a:ln w="0">
            <a:noFill/>
            <a:prstDash val="solid"/>
          </a:ln>
        </p:spPr>
        <p:txBody>
          <a:bodyPr wrap="square" lIns="0" tIns="0" rIns="0" bIns="0" anchor="t">
            <a:normAutofit/>
          </a:bodyPr>
          <a:lstStyle>
            <a:defPPr algn="l">
              <a:defRPr sz="1600" b="1" i="0">
                <a:solidFill>
                  <a:srgbClr val="152536"/>
                </a:solidFill>
                <a:latin typeface="Carlito"/>
                <a:ea typeface="Carlito"/>
                <a:cs typeface="Carlito"/>
              </a:defRPr>
            </a:defPPr>
            <a:lvl1pPr algn="l">
              <a:defRPr sz="1600" b="1" i="0">
                <a:solidFill>
                  <a:srgbClr val="152536"/>
                </a:solidFill>
                <a:latin typeface="Carlito"/>
                <a:ea typeface="Carlito"/>
                <a:cs typeface="Carlito"/>
              </a:defRPr>
            </a:lvl1pPr>
            <a:lvl2pPr algn="l">
              <a:defRPr sz="1600" b="1" i="0">
                <a:solidFill>
                  <a:srgbClr val="152536"/>
                </a:solidFill>
                <a:latin typeface="Carlito"/>
                <a:ea typeface="Carlito"/>
                <a:cs typeface="Carlito"/>
              </a:defRPr>
            </a:lvl2pPr>
            <a:lvl3pPr algn="l">
              <a:defRPr sz="1600" b="1" i="0">
                <a:solidFill>
                  <a:srgbClr val="152536"/>
                </a:solidFill>
                <a:latin typeface="Carlito"/>
                <a:ea typeface="Carlito"/>
                <a:cs typeface="Carlito"/>
              </a:defRPr>
            </a:lvl3pPr>
            <a:lvl4pPr algn="l">
              <a:defRPr sz="1600" b="1" i="0">
                <a:solidFill>
                  <a:srgbClr val="152536"/>
                </a:solidFill>
                <a:latin typeface="Carlito"/>
                <a:ea typeface="Carlito"/>
                <a:cs typeface="Carlito"/>
              </a:defRPr>
            </a:lvl4pPr>
            <a:lvl5pPr algn="l">
              <a:defRPr sz="1600" b="1" i="0">
                <a:solidFill>
                  <a:srgbClr val="152536"/>
                </a:solidFill>
                <a:latin typeface="Carlito"/>
                <a:ea typeface="Carlito"/>
                <a:cs typeface="Carlito"/>
              </a:defRPr>
            </a:lvl5pPr>
            <a:lvl6pPr algn="l">
              <a:defRPr sz="1600" b="1" i="0">
                <a:solidFill>
                  <a:srgbClr val="152536"/>
                </a:solidFill>
                <a:latin typeface="Carlito"/>
                <a:ea typeface="Carlito"/>
                <a:cs typeface="Carlito"/>
              </a:defRPr>
            </a:lvl6pPr>
            <a:lvl7pPr algn="l">
              <a:defRPr sz="1600" b="1" i="0">
                <a:solidFill>
                  <a:srgbClr val="152536"/>
                </a:solidFill>
                <a:latin typeface="Carlito"/>
                <a:ea typeface="Carlito"/>
                <a:cs typeface="Carlito"/>
              </a:defRPr>
            </a:lvl7pPr>
            <a:lvl8pPr algn="l">
              <a:defRPr sz="1600" b="1" i="0">
                <a:solidFill>
                  <a:srgbClr val="152536"/>
                </a:solidFill>
                <a:latin typeface="Carlito"/>
                <a:ea typeface="Carlito"/>
                <a:cs typeface="Carlito"/>
              </a:defRPr>
            </a:lvl8pPr>
            <a:lvl9pPr algn="l">
              <a:defRPr sz="1600" b="1" i="0">
                <a:solidFill>
                  <a:srgbClr val="152536"/>
                </a:solidFill>
                <a:latin typeface="Carlito"/>
                <a:ea typeface="Carlito"/>
                <a:cs typeface="Carlito"/>
              </a:defRPr>
            </a:lvl9pPr>
          </a:lstStyle>
          <a:p>
            <a:pPr algn="l">
              <a:defRPr sz="1600" b="1" i="0">
                <a:solidFill>
                  <a:srgbClr val="152536"/>
                </a:solidFill>
                <a:latin typeface="Carlito"/>
                <a:ea typeface="Carlito"/>
                <a:cs typeface="Carlito"/>
              </a:defRPr>
            </a:pPr>
            <a:r>
              <a:rPr sz="1200" b="1" i="0" dirty="0">
                <a:solidFill>
                  <a:srgbClr val="152536"/>
                </a:solidFill>
                <a:latin typeface="Carlito"/>
                <a:ea typeface="Carlito"/>
                <a:cs typeface="Carlito"/>
              </a:rPr>
              <a:t>Medal opportunities</a:t>
            </a:r>
          </a:p>
        </p:txBody>
      </p:sp>
      <p:sp>
        <p:nvSpPr>
          <p:cNvPr id="27" name="Rectangle 26">
            <a:extLst>
              <a:ext uri="{FF2B5EF4-FFF2-40B4-BE49-F238E27FC236}">
                <a16:creationId xmlns:a16="http://schemas.microsoft.com/office/drawing/2014/main" id="{C47BCD65-D8EA-457C-816F-29DF867DED4F}"/>
              </a:ext>
            </a:extLst>
          </p:cNvPr>
          <p:cNvSpPr>
            <a:spLocks noGrp="1"/>
          </p:cNvSpPr>
          <p:nvPr/>
        </p:nvSpPr>
        <p:spPr>
          <a:xfrm>
            <a:off x="8915400" y="4029075"/>
            <a:ext cx="2095500" cy="9525"/>
          </a:xfrm>
          <a:prstGeom prst="rect">
            <a:avLst/>
          </a:prstGeom>
          <a:solidFill>
            <a:srgbClr val="D8E1EA"/>
          </a:solidFill>
          <a:ln w="0">
            <a:noFill/>
            <a:prstDash val="solid"/>
          </a:ln>
        </p:spPr>
        <p:txBody>
          <a:bodyPr/>
          <a:lstStyle/>
          <a:p>
            <a:endParaRPr lang="en-SG"/>
          </a:p>
        </p:txBody>
      </p:sp>
      <p:sp>
        <p:nvSpPr>
          <p:cNvPr id="28" name="Rectangle 27">
            <a:extLst>
              <a:ext uri="{FF2B5EF4-FFF2-40B4-BE49-F238E27FC236}">
                <a16:creationId xmlns:a16="http://schemas.microsoft.com/office/drawing/2014/main" id="{2EC7C7AB-4FEF-47E9-985F-C805D6DDA511}"/>
              </a:ext>
            </a:extLst>
          </p:cNvPr>
          <p:cNvSpPr>
            <a:spLocks noGrp="1"/>
          </p:cNvSpPr>
          <p:nvPr/>
        </p:nvSpPr>
        <p:spPr>
          <a:xfrm>
            <a:off x="609600" y="4095750"/>
            <a:ext cx="2857500" cy="285750"/>
          </a:xfrm>
          <a:prstGeom prst="rect">
            <a:avLst/>
          </a:prstGeom>
          <a:noFill/>
          <a:ln w="0">
            <a:noFill/>
            <a:prstDash val="solid"/>
          </a:ln>
        </p:spPr>
        <p:txBody>
          <a:bodyPr wrap="square" lIns="0" tIns="0" rIns="0" bIns="0" anchor="t">
            <a:normAutofit/>
          </a:bodyPr>
          <a:lstStyle>
            <a:defPPr algn="l">
              <a:defRPr sz="1700" b="1" i="0">
                <a:solidFill>
                  <a:srgbClr val="071B33"/>
                </a:solidFill>
                <a:latin typeface="Carlito"/>
                <a:ea typeface="Carlito"/>
                <a:cs typeface="Carlito"/>
              </a:defRPr>
            </a:defPPr>
            <a:lvl1pPr algn="l">
              <a:defRPr sz="1700" b="1" i="0">
                <a:solidFill>
                  <a:srgbClr val="071B33"/>
                </a:solidFill>
                <a:latin typeface="Carlito"/>
                <a:ea typeface="Carlito"/>
                <a:cs typeface="Carlito"/>
              </a:defRPr>
            </a:lvl1pPr>
            <a:lvl2pPr algn="l">
              <a:defRPr sz="1700" b="1" i="0">
                <a:solidFill>
                  <a:srgbClr val="071B33"/>
                </a:solidFill>
                <a:latin typeface="Carlito"/>
                <a:ea typeface="Carlito"/>
                <a:cs typeface="Carlito"/>
              </a:defRPr>
            </a:lvl2pPr>
            <a:lvl3pPr algn="l">
              <a:defRPr sz="1700" b="1" i="0">
                <a:solidFill>
                  <a:srgbClr val="071B33"/>
                </a:solidFill>
                <a:latin typeface="Carlito"/>
                <a:ea typeface="Carlito"/>
                <a:cs typeface="Carlito"/>
              </a:defRPr>
            </a:lvl3pPr>
            <a:lvl4pPr algn="l">
              <a:defRPr sz="1700" b="1" i="0">
                <a:solidFill>
                  <a:srgbClr val="071B33"/>
                </a:solidFill>
                <a:latin typeface="Carlito"/>
                <a:ea typeface="Carlito"/>
                <a:cs typeface="Carlito"/>
              </a:defRPr>
            </a:lvl4pPr>
            <a:lvl5pPr algn="l">
              <a:defRPr sz="1700" b="1" i="0">
                <a:solidFill>
                  <a:srgbClr val="071B33"/>
                </a:solidFill>
                <a:latin typeface="Carlito"/>
                <a:ea typeface="Carlito"/>
                <a:cs typeface="Carlito"/>
              </a:defRPr>
            </a:lvl5pPr>
            <a:lvl6pPr algn="l">
              <a:defRPr sz="1700" b="1" i="0">
                <a:solidFill>
                  <a:srgbClr val="071B33"/>
                </a:solidFill>
                <a:latin typeface="Carlito"/>
                <a:ea typeface="Carlito"/>
                <a:cs typeface="Carlito"/>
              </a:defRPr>
            </a:lvl6pPr>
            <a:lvl7pPr algn="l">
              <a:defRPr sz="1700" b="1" i="0">
                <a:solidFill>
                  <a:srgbClr val="071B33"/>
                </a:solidFill>
                <a:latin typeface="Carlito"/>
                <a:ea typeface="Carlito"/>
                <a:cs typeface="Carlito"/>
              </a:defRPr>
            </a:lvl7pPr>
            <a:lvl8pPr algn="l">
              <a:defRPr sz="1700" b="1" i="0">
                <a:solidFill>
                  <a:srgbClr val="071B33"/>
                </a:solidFill>
                <a:latin typeface="Carlito"/>
                <a:ea typeface="Carlito"/>
                <a:cs typeface="Carlito"/>
              </a:defRPr>
            </a:lvl8pPr>
            <a:lvl9pPr algn="l">
              <a:defRPr sz="1700" b="1" i="0">
                <a:solidFill>
                  <a:srgbClr val="071B33"/>
                </a:solidFill>
                <a:latin typeface="Carlito"/>
                <a:ea typeface="Carlito"/>
                <a:cs typeface="Carlito"/>
              </a:defRPr>
            </a:lvl9pPr>
          </a:lstStyle>
          <a:p>
            <a:pPr algn="l">
              <a:defRPr sz="1700" b="1" i="0">
                <a:solidFill>
                  <a:srgbClr val="071B33"/>
                </a:solidFill>
                <a:latin typeface="Carlito"/>
                <a:ea typeface="Carlito"/>
                <a:cs typeface="Carlito"/>
              </a:defRPr>
            </a:pPr>
            <a:r>
              <a:rPr sz="1700" b="1" i="0">
                <a:solidFill>
                  <a:srgbClr val="071B33"/>
                </a:solidFill>
                <a:latin typeface="Carlito"/>
                <a:ea typeface="Carlito"/>
                <a:cs typeface="Carlito"/>
              </a:rPr>
              <a:t>Analytical boundary</a:t>
            </a:r>
          </a:p>
        </p:txBody>
      </p:sp>
      <p:sp>
        <p:nvSpPr>
          <p:cNvPr id="29" name="Rectangle 28">
            <a:extLst>
              <a:ext uri="{FF2B5EF4-FFF2-40B4-BE49-F238E27FC236}">
                <a16:creationId xmlns:a16="http://schemas.microsoft.com/office/drawing/2014/main" id="{6C2EAE39-D8F7-4347-BA99-D1D5C517298E}"/>
              </a:ext>
            </a:extLst>
          </p:cNvPr>
          <p:cNvSpPr>
            <a:spLocks noGrp="1"/>
          </p:cNvSpPr>
          <p:nvPr/>
        </p:nvSpPr>
        <p:spPr>
          <a:xfrm>
            <a:off x="609600" y="4552950"/>
            <a:ext cx="171450" cy="533400"/>
          </a:xfrm>
          <a:prstGeom prst="rect">
            <a:avLst/>
          </a:prstGeom>
          <a:noFill/>
          <a:ln w="0">
            <a:noFill/>
            <a:prstDash val="solid"/>
          </a:ln>
        </p:spPr>
        <p:txBody>
          <a:bodyPr wrap="square" lIns="0" tIns="0" rIns="0" bIns="0" anchor="t">
            <a:normAutofit/>
          </a:bodyPr>
          <a:lstStyle>
            <a:defPPr algn="l">
              <a:defRPr sz="1600" b="1" i="0">
                <a:solidFill>
                  <a:srgbClr val="D4AF37"/>
                </a:solidFill>
                <a:latin typeface="Carlito"/>
                <a:ea typeface="Carlito"/>
                <a:cs typeface="Carlito"/>
              </a:defRPr>
            </a:defPPr>
            <a:lvl1pPr algn="l">
              <a:defRPr sz="1600" b="1" i="0">
                <a:solidFill>
                  <a:srgbClr val="D4AF37"/>
                </a:solidFill>
                <a:latin typeface="Carlito"/>
                <a:ea typeface="Carlito"/>
                <a:cs typeface="Carlito"/>
              </a:defRPr>
            </a:lvl1pPr>
            <a:lvl2pPr algn="l">
              <a:defRPr sz="1600" b="1" i="0">
                <a:solidFill>
                  <a:srgbClr val="D4AF37"/>
                </a:solidFill>
                <a:latin typeface="Carlito"/>
                <a:ea typeface="Carlito"/>
                <a:cs typeface="Carlito"/>
              </a:defRPr>
            </a:lvl2pPr>
            <a:lvl3pPr algn="l">
              <a:defRPr sz="1600" b="1" i="0">
                <a:solidFill>
                  <a:srgbClr val="D4AF37"/>
                </a:solidFill>
                <a:latin typeface="Carlito"/>
                <a:ea typeface="Carlito"/>
                <a:cs typeface="Carlito"/>
              </a:defRPr>
            </a:lvl3pPr>
            <a:lvl4pPr algn="l">
              <a:defRPr sz="1600" b="1" i="0">
                <a:solidFill>
                  <a:srgbClr val="D4AF37"/>
                </a:solidFill>
                <a:latin typeface="Carlito"/>
                <a:ea typeface="Carlito"/>
                <a:cs typeface="Carlito"/>
              </a:defRPr>
            </a:lvl4pPr>
            <a:lvl5pPr algn="l">
              <a:defRPr sz="1600" b="1" i="0">
                <a:solidFill>
                  <a:srgbClr val="D4AF37"/>
                </a:solidFill>
                <a:latin typeface="Carlito"/>
                <a:ea typeface="Carlito"/>
                <a:cs typeface="Carlito"/>
              </a:defRPr>
            </a:lvl5pPr>
            <a:lvl6pPr algn="l">
              <a:defRPr sz="1600" b="1" i="0">
                <a:solidFill>
                  <a:srgbClr val="D4AF37"/>
                </a:solidFill>
                <a:latin typeface="Carlito"/>
                <a:ea typeface="Carlito"/>
                <a:cs typeface="Carlito"/>
              </a:defRPr>
            </a:lvl6pPr>
            <a:lvl7pPr algn="l">
              <a:defRPr sz="1600" b="1" i="0">
                <a:solidFill>
                  <a:srgbClr val="D4AF37"/>
                </a:solidFill>
                <a:latin typeface="Carlito"/>
                <a:ea typeface="Carlito"/>
                <a:cs typeface="Carlito"/>
              </a:defRPr>
            </a:lvl7pPr>
            <a:lvl8pPr algn="l">
              <a:defRPr sz="1600" b="1" i="0">
                <a:solidFill>
                  <a:srgbClr val="D4AF37"/>
                </a:solidFill>
                <a:latin typeface="Carlito"/>
                <a:ea typeface="Carlito"/>
                <a:cs typeface="Carlito"/>
              </a:defRPr>
            </a:lvl8pPr>
            <a:lvl9pPr algn="l">
              <a:defRPr sz="1600" b="1" i="0">
                <a:solidFill>
                  <a:srgbClr val="D4AF37"/>
                </a:solidFill>
                <a:latin typeface="Carlito"/>
                <a:ea typeface="Carlito"/>
                <a:cs typeface="Carlito"/>
              </a:defRPr>
            </a:lvl9pPr>
          </a:lstStyle>
          <a:p>
            <a:pPr algn="l">
              <a:defRPr sz="1600" b="1" i="0">
                <a:solidFill>
                  <a:srgbClr val="D4AF37"/>
                </a:solidFill>
                <a:latin typeface="Carlito"/>
                <a:ea typeface="Carlito"/>
                <a:cs typeface="Carlito"/>
              </a:defRPr>
            </a:pPr>
            <a:r>
              <a:rPr sz="1600" b="1" i="0">
                <a:solidFill>
                  <a:srgbClr val="D4AF37"/>
                </a:solidFill>
                <a:latin typeface="Carlito"/>
                <a:ea typeface="Carlito"/>
                <a:cs typeface="Carlito"/>
              </a:rPr>
              <a:t>•</a:t>
            </a:r>
          </a:p>
        </p:txBody>
      </p:sp>
      <p:sp>
        <p:nvSpPr>
          <p:cNvPr id="30" name="Rectangle 29">
            <a:extLst>
              <a:ext uri="{FF2B5EF4-FFF2-40B4-BE49-F238E27FC236}">
                <a16:creationId xmlns:a16="http://schemas.microsoft.com/office/drawing/2014/main" id="{36ED199E-775E-4618-BE40-E9FCB36CBD05}"/>
              </a:ext>
            </a:extLst>
          </p:cNvPr>
          <p:cNvSpPr>
            <a:spLocks noGrp="1"/>
          </p:cNvSpPr>
          <p:nvPr/>
        </p:nvSpPr>
        <p:spPr>
          <a:xfrm>
            <a:off x="838200" y="4552950"/>
            <a:ext cx="3867150" cy="533400"/>
          </a:xfrm>
          <a:prstGeom prst="rect">
            <a:avLst/>
          </a:prstGeom>
          <a:noFill/>
          <a:ln w="0">
            <a:noFill/>
            <a:prstDash val="solid"/>
          </a:ln>
        </p:spPr>
        <p:txBody>
          <a:bodyPr wrap="square" lIns="0" tIns="0" rIns="0" bIns="0" anchor="t">
            <a:normAutofit fontScale="99757"/>
          </a:bodyPr>
          <a:lstStyle>
            <a:defPPr algn="l">
              <a:defRPr sz="1600" b="0" i="0">
                <a:solidFill>
                  <a:srgbClr val="152536"/>
                </a:solidFill>
                <a:latin typeface="Carlito"/>
                <a:ea typeface="Carlito"/>
                <a:cs typeface="Carlito"/>
              </a:defRPr>
            </a:defPPr>
            <a:lvl1pPr algn="l">
              <a:defRPr sz="1600" b="0" i="0">
                <a:solidFill>
                  <a:srgbClr val="152536"/>
                </a:solidFill>
                <a:latin typeface="Carlito"/>
                <a:ea typeface="Carlito"/>
                <a:cs typeface="Carlito"/>
              </a:defRPr>
            </a:lvl1pPr>
            <a:lvl2pPr algn="l">
              <a:defRPr sz="1600" b="0" i="0">
                <a:solidFill>
                  <a:srgbClr val="152536"/>
                </a:solidFill>
                <a:latin typeface="Carlito"/>
                <a:ea typeface="Carlito"/>
                <a:cs typeface="Carlito"/>
              </a:defRPr>
            </a:lvl2pPr>
            <a:lvl3pPr algn="l">
              <a:defRPr sz="1600" b="0" i="0">
                <a:solidFill>
                  <a:srgbClr val="152536"/>
                </a:solidFill>
                <a:latin typeface="Carlito"/>
                <a:ea typeface="Carlito"/>
                <a:cs typeface="Carlito"/>
              </a:defRPr>
            </a:lvl3pPr>
            <a:lvl4pPr algn="l">
              <a:defRPr sz="1600" b="0" i="0">
                <a:solidFill>
                  <a:srgbClr val="152536"/>
                </a:solidFill>
                <a:latin typeface="Carlito"/>
                <a:ea typeface="Carlito"/>
                <a:cs typeface="Carlito"/>
              </a:defRPr>
            </a:lvl4pPr>
            <a:lvl5pPr algn="l">
              <a:defRPr sz="1600" b="0" i="0">
                <a:solidFill>
                  <a:srgbClr val="152536"/>
                </a:solidFill>
                <a:latin typeface="Carlito"/>
                <a:ea typeface="Carlito"/>
                <a:cs typeface="Carlito"/>
              </a:defRPr>
            </a:lvl5pPr>
            <a:lvl6pPr algn="l">
              <a:defRPr sz="1600" b="0" i="0">
                <a:solidFill>
                  <a:srgbClr val="152536"/>
                </a:solidFill>
                <a:latin typeface="Carlito"/>
                <a:ea typeface="Carlito"/>
                <a:cs typeface="Carlito"/>
              </a:defRPr>
            </a:lvl6pPr>
            <a:lvl7pPr algn="l">
              <a:defRPr sz="1600" b="0" i="0">
                <a:solidFill>
                  <a:srgbClr val="152536"/>
                </a:solidFill>
                <a:latin typeface="Carlito"/>
                <a:ea typeface="Carlito"/>
                <a:cs typeface="Carlito"/>
              </a:defRPr>
            </a:lvl7pPr>
            <a:lvl8pPr algn="l">
              <a:defRPr sz="1600" b="0" i="0">
                <a:solidFill>
                  <a:srgbClr val="152536"/>
                </a:solidFill>
                <a:latin typeface="Carlito"/>
                <a:ea typeface="Carlito"/>
                <a:cs typeface="Carlito"/>
              </a:defRPr>
            </a:lvl8pPr>
            <a:lvl9pPr algn="l">
              <a:defRPr sz="1600" b="0" i="0">
                <a:solidFill>
                  <a:srgbClr val="152536"/>
                </a:solidFill>
                <a:latin typeface="Carlito"/>
                <a:ea typeface="Carlito"/>
                <a:cs typeface="Carlito"/>
              </a:defRPr>
            </a:lvl9pPr>
          </a:lstStyle>
          <a:p>
            <a:pPr>
              <a:defRPr sz="1600" b="0" i="0">
                <a:solidFill>
                  <a:srgbClr val="152536"/>
                </a:solidFill>
                <a:latin typeface="Carlito"/>
                <a:ea typeface="Carlito"/>
                <a:cs typeface="Carlito"/>
              </a:defRPr>
            </a:pPr>
            <a:r>
              <a:rPr sz="1400" b="0" i="0" dirty="0">
                <a:solidFill>
                  <a:srgbClr val="152536"/>
                </a:solidFill>
                <a:latin typeface="Carlito"/>
                <a:ea typeface="Carlito"/>
                <a:cs typeface="Carlito"/>
              </a:rPr>
              <a:t>Historical patterns describe performance but do not establish why medals were won</a:t>
            </a:r>
            <a:r>
              <a:rPr lang="en-SG" sz="1400" dirty="0"/>
              <a:t>.</a:t>
            </a:r>
            <a:endParaRPr lang="en-US" sz="1400" dirty="0"/>
          </a:p>
          <a:p>
            <a:pPr algn="l">
              <a:defRPr sz="1600" b="0" i="0">
                <a:solidFill>
                  <a:srgbClr val="152536"/>
                </a:solidFill>
                <a:latin typeface="Carlito"/>
                <a:ea typeface="Carlito"/>
                <a:cs typeface="Carlito"/>
              </a:defRPr>
            </a:pPr>
            <a:endParaRPr sz="1400" b="0" i="0" dirty="0">
              <a:solidFill>
                <a:srgbClr val="152536"/>
              </a:solidFill>
              <a:latin typeface="Carlito"/>
              <a:ea typeface="Carlito"/>
              <a:cs typeface="Carlito"/>
            </a:endParaRPr>
          </a:p>
        </p:txBody>
      </p:sp>
      <p:sp>
        <p:nvSpPr>
          <p:cNvPr id="31" name="Rectangle 30">
            <a:extLst>
              <a:ext uri="{FF2B5EF4-FFF2-40B4-BE49-F238E27FC236}">
                <a16:creationId xmlns:a16="http://schemas.microsoft.com/office/drawing/2014/main" id="{CEB8AD73-F32E-46F6-B46A-AC79D854157B}"/>
              </a:ext>
            </a:extLst>
          </p:cNvPr>
          <p:cNvSpPr>
            <a:spLocks noGrp="1"/>
          </p:cNvSpPr>
          <p:nvPr/>
        </p:nvSpPr>
        <p:spPr>
          <a:xfrm>
            <a:off x="609600" y="5219700"/>
            <a:ext cx="171450" cy="628650"/>
          </a:xfrm>
          <a:prstGeom prst="rect">
            <a:avLst/>
          </a:prstGeom>
          <a:noFill/>
          <a:ln w="0">
            <a:noFill/>
            <a:prstDash val="solid"/>
          </a:ln>
        </p:spPr>
        <p:txBody>
          <a:bodyPr wrap="square" lIns="0" tIns="0" rIns="0" bIns="0" anchor="t">
            <a:normAutofit/>
          </a:bodyPr>
          <a:lstStyle>
            <a:defPPr algn="l">
              <a:defRPr sz="1600" b="1" i="0">
                <a:solidFill>
                  <a:srgbClr val="D4AF37"/>
                </a:solidFill>
                <a:latin typeface="Carlito"/>
                <a:ea typeface="Carlito"/>
                <a:cs typeface="Carlito"/>
              </a:defRPr>
            </a:defPPr>
            <a:lvl1pPr algn="l">
              <a:defRPr sz="1600" b="1" i="0">
                <a:solidFill>
                  <a:srgbClr val="D4AF37"/>
                </a:solidFill>
                <a:latin typeface="Carlito"/>
                <a:ea typeface="Carlito"/>
                <a:cs typeface="Carlito"/>
              </a:defRPr>
            </a:lvl1pPr>
            <a:lvl2pPr algn="l">
              <a:defRPr sz="1600" b="1" i="0">
                <a:solidFill>
                  <a:srgbClr val="D4AF37"/>
                </a:solidFill>
                <a:latin typeface="Carlito"/>
                <a:ea typeface="Carlito"/>
                <a:cs typeface="Carlito"/>
              </a:defRPr>
            </a:lvl2pPr>
            <a:lvl3pPr algn="l">
              <a:defRPr sz="1600" b="1" i="0">
                <a:solidFill>
                  <a:srgbClr val="D4AF37"/>
                </a:solidFill>
                <a:latin typeface="Carlito"/>
                <a:ea typeface="Carlito"/>
                <a:cs typeface="Carlito"/>
              </a:defRPr>
            </a:lvl3pPr>
            <a:lvl4pPr algn="l">
              <a:defRPr sz="1600" b="1" i="0">
                <a:solidFill>
                  <a:srgbClr val="D4AF37"/>
                </a:solidFill>
                <a:latin typeface="Carlito"/>
                <a:ea typeface="Carlito"/>
                <a:cs typeface="Carlito"/>
              </a:defRPr>
            </a:lvl4pPr>
            <a:lvl5pPr algn="l">
              <a:defRPr sz="1600" b="1" i="0">
                <a:solidFill>
                  <a:srgbClr val="D4AF37"/>
                </a:solidFill>
                <a:latin typeface="Carlito"/>
                <a:ea typeface="Carlito"/>
                <a:cs typeface="Carlito"/>
              </a:defRPr>
            </a:lvl5pPr>
            <a:lvl6pPr algn="l">
              <a:defRPr sz="1600" b="1" i="0">
                <a:solidFill>
                  <a:srgbClr val="D4AF37"/>
                </a:solidFill>
                <a:latin typeface="Carlito"/>
                <a:ea typeface="Carlito"/>
                <a:cs typeface="Carlito"/>
              </a:defRPr>
            </a:lvl6pPr>
            <a:lvl7pPr algn="l">
              <a:defRPr sz="1600" b="1" i="0">
                <a:solidFill>
                  <a:srgbClr val="D4AF37"/>
                </a:solidFill>
                <a:latin typeface="Carlito"/>
                <a:ea typeface="Carlito"/>
                <a:cs typeface="Carlito"/>
              </a:defRPr>
            </a:lvl7pPr>
            <a:lvl8pPr algn="l">
              <a:defRPr sz="1600" b="1" i="0">
                <a:solidFill>
                  <a:srgbClr val="D4AF37"/>
                </a:solidFill>
                <a:latin typeface="Carlito"/>
                <a:ea typeface="Carlito"/>
                <a:cs typeface="Carlito"/>
              </a:defRPr>
            </a:lvl8pPr>
            <a:lvl9pPr algn="l">
              <a:defRPr sz="1600" b="1" i="0">
                <a:solidFill>
                  <a:srgbClr val="D4AF37"/>
                </a:solidFill>
                <a:latin typeface="Carlito"/>
                <a:ea typeface="Carlito"/>
                <a:cs typeface="Carlito"/>
              </a:defRPr>
            </a:lvl9pPr>
          </a:lstStyle>
          <a:p>
            <a:pPr algn="l">
              <a:defRPr sz="1600" b="1" i="0">
                <a:solidFill>
                  <a:srgbClr val="D4AF37"/>
                </a:solidFill>
                <a:latin typeface="Carlito"/>
                <a:ea typeface="Carlito"/>
                <a:cs typeface="Carlito"/>
              </a:defRPr>
            </a:pPr>
            <a:r>
              <a:rPr sz="1600" b="1" i="0">
                <a:solidFill>
                  <a:srgbClr val="D4AF37"/>
                </a:solidFill>
                <a:latin typeface="Carlito"/>
                <a:ea typeface="Carlito"/>
                <a:cs typeface="Carlito"/>
              </a:rPr>
              <a:t>•</a:t>
            </a:r>
          </a:p>
        </p:txBody>
      </p:sp>
      <p:sp>
        <p:nvSpPr>
          <p:cNvPr id="33" name="Rectangle 32">
            <a:extLst>
              <a:ext uri="{FF2B5EF4-FFF2-40B4-BE49-F238E27FC236}">
                <a16:creationId xmlns:a16="http://schemas.microsoft.com/office/drawing/2014/main" id="{EF2C1692-1E76-4D2B-80F9-DAAEDE693C7D}"/>
              </a:ext>
            </a:extLst>
          </p:cNvPr>
          <p:cNvSpPr>
            <a:spLocks noGrp="1"/>
          </p:cNvSpPr>
          <p:nvPr/>
        </p:nvSpPr>
        <p:spPr>
          <a:xfrm>
            <a:off x="609600" y="6515100"/>
            <a:ext cx="4953000" cy="171450"/>
          </a:xfrm>
          <a:prstGeom prst="rect">
            <a:avLst/>
          </a:prstGeom>
          <a:noFill/>
          <a:ln w="0">
            <a:noFill/>
            <a:prstDash val="solid"/>
          </a:ln>
        </p:spPr>
        <p:txBody>
          <a:bodyPr wrap="square" lIns="0" tIns="0" rIns="0" bIns="0" anchor="t">
            <a:normAutofit/>
          </a:bodyPr>
          <a:lstStyle>
            <a:defPPr algn="l">
              <a:defRPr sz="900" b="0" i="0">
                <a:solidFill>
                  <a:srgbClr val="5F6F7F"/>
                </a:solidFill>
                <a:latin typeface="Carlito"/>
                <a:ea typeface="Carlito"/>
                <a:cs typeface="Carlito"/>
              </a:defRPr>
            </a:defPPr>
            <a:lvl1pPr algn="l">
              <a:defRPr sz="900" b="0" i="0">
                <a:solidFill>
                  <a:srgbClr val="5F6F7F"/>
                </a:solidFill>
                <a:latin typeface="Carlito"/>
                <a:ea typeface="Carlito"/>
                <a:cs typeface="Carlito"/>
              </a:defRPr>
            </a:lvl1pPr>
            <a:lvl2pPr algn="l">
              <a:defRPr sz="900" b="0" i="0">
                <a:solidFill>
                  <a:srgbClr val="5F6F7F"/>
                </a:solidFill>
                <a:latin typeface="Carlito"/>
                <a:ea typeface="Carlito"/>
                <a:cs typeface="Carlito"/>
              </a:defRPr>
            </a:lvl2pPr>
            <a:lvl3pPr algn="l">
              <a:defRPr sz="900" b="0" i="0">
                <a:solidFill>
                  <a:srgbClr val="5F6F7F"/>
                </a:solidFill>
                <a:latin typeface="Carlito"/>
                <a:ea typeface="Carlito"/>
                <a:cs typeface="Carlito"/>
              </a:defRPr>
            </a:lvl3pPr>
            <a:lvl4pPr algn="l">
              <a:defRPr sz="900" b="0" i="0">
                <a:solidFill>
                  <a:srgbClr val="5F6F7F"/>
                </a:solidFill>
                <a:latin typeface="Carlito"/>
                <a:ea typeface="Carlito"/>
                <a:cs typeface="Carlito"/>
              </a:defRPr>
            </a:lvl4pPr>
            <a:lvl5pPr algn="l">
              <a:defRPr sz="900" b="0" i="0">
                <a:solidFill>
                  <a:srgbClr val="5F6F7F"/>
                </a:solidFill>
                <a:latin typeface="Carlito"/>
                <a:ea typeface="Carlito"/>
                <a:cs typeface="Carlito"/>
              </a:defRPr>
            </a:lvl5pPr>
            <a:lvl6pPr algn="l">
              <a:defRPr sz="900" b="0" i="0">
                <a:solidFill>
                  <a:srgbClr val="5F6F7F"/>
                </a:solidFill>
                <a:latin typeface="Carlito"/>
                <a:ea typeface="Carlito"/>
                <a:cs typeface="Carlito"/>
              </a:defRPr>
            </a:lvl6pPr>
            <a:lvl7pPr algn="l">
              <a:defRPr sz="900" b="0" i="0">
                <a:solidFill>
                  <a:srgbClr val="5F6F7F"/>
                </a:solidFill>
                <a:latin typeface="Carlito"/>
                <a:ea typeface="Carlito"/>
                <a:cs typeface="Carlito"/>
              </a:defRPr>
            </a:lvl7pPr>
            <a:lvl8pPr algn="l">
              <a:defRPr sz="900" b="0" i="0">
                <a:solidFill>
                  <a:srgbClr val="5F6F7F"/>
                </a:solidFill>
                <a:latin typeface="Carlito"/>
                <a:ea typeface="Carlito"/>
                <a:cs typeface="Carlito"/>
              </a:defRPr>
            </a:lvl8pPr>
            <a:lvl9pPr algn="l">
              <a:defRPr sz="900" b="0" i="0">
                <a:solidFill>
                  <a:srgbClr val="5F6F7F"/>
                </a:solidFill>
                <a:latin typeface="Carlito"/>
                <a:ea typeface="Carlito"/>
                <a:cs typeface="Carlito"/>
              </a:defRPr>
            </a:lvl9pPr>
          </a:lstStyle>
          <a:p>
            <a:pPr algn="l">
              <a:defRPr sz="900" b="0" i="0">
                <a:solidFill>
                  <a:srgbClr val="5F6F7F"/>
                </a:solidFill>
                <a:latin typeface="Carlito"/>
                <a:ea typeface="Carlito"/>
                <a:cs typeface="Carlito"/>
              </a:defRPr>
            </a:pPr>
            <a:r>
              <a:rPr sz="900" b="0" i="0">
                <a:solidFill>
                  <a:srgbClr val="5F6F7F"/>
                </a:solidFill>
                <a:latin typeface="Carlito"/>
                <a:ea typeface="Carlito"/>
                <a:cs typeface="Carlito"/>
              </a:rPr>
              <a:t>ASEAN Olympic Performance Intelligence System</a:t>
            </a:r>
          </a:p>
        </p:txBody>
      </p:sp>
      <p:sp>
        <p:nvSpPr>
          <p:cNvPr id="34" name="Rectangle 33">
            <a:extLst>
              <a:ext uri="{FF2B5EF4-FFF2-40B4-BE49-F238E27FC236}">
                <a16:creationId xmlns:a16="http://schemas.microsoft.com/office/drawing/2014/main" id="{BEBB250E-6ADE-4C8D-8C14-EB8E4956178C}"/>
              </a:ext>
            </a:extLst>
          </p:cNvPr>
          <p:cNvSpPr>
            <a:spLocks noGrp="1"/>
          </p:cNvSpPr>
          <p:nvPr/>
        </p:nvSpPr>
        <p:spPr>
          <a:xfrm>
            <a:off x="11049000" y="6486525"/>
            <a:ext cx="533400" cy="190500"/>
          </a:xfrm>
          <a:prstGeom prst="rect">
            <a:avLst/>
          </a:prstGeom>
          <a:noFill/>
          <a:ln w="0">
            <a:noFill/>
            <a:prstDash val="solid"/>
          </a:ln>
        </p:spPr>
        <p:txBody>
          <a:bodyPr wrap="square" lIns="0" tIns="0" rIns="0" bIns="0" anchor="t">
            <a:normAutofit/>
          </a:bodyPr>
          <a:lstStyle>
            <a:defPPr algn="r">
              <a:defRPr sz="1000" b="1" i="0">
                <a:solidFill>
                  <a:srgbClr val="071B33"/>
                </a:solidFill>
                <a:latin typeface="Carlito"/>
                <a:ea typeface="Carlito"/>
                <a:cs typeface="Carlito"/>
              </a:defRPr>
            </a:defPPr>
            <a:lvl1pPr algn="r">
              <a:defRPr sz="1000" b="1" i="0">
                <a:solidFill>
                  <a:srgbClr val="071B33"/>
                </a:solidFill>
                <a:latin typeface="Carlito"/>
                <a:ea typeface="Carlito"/>
                <a:cs typeface="Carlito"/>
              </a:defRPr>
            </a:lvl1pPr>
            <a:lvl2pPr algn="r">
              <a:defRPr sz="1000" b="1" i="0">
                <a:solidFill>
                  <a:srgbClr val="071B33"/>
                </a:solidFill>
                <a:latin typeface="Carlito"/>
                <a:ea typeface="Carlito"/>
                <a:cs typeface="Carlito"/>
              </a:defRPr>
            </a:lvl2pPr>
            <a:lvl3pPr algn="r">
              <a:defRPr sz="1000" b="1" i="0">
                <a:solidFill>
                  <a:srgbClr val="071B33"/>
                </a:solidFill>
                <a:latin typeface="Carlito"/>
                <a:ea typeface="Carlito"/>
                <a:cs typeface="Carlito"/>
              </a:defRPr>
            </a:lvl3pPr>
            <a:lvl4pPr algn="r">
              <a:defRPr sz="1000" b="1" i="0">
                <a:solidFill>
                  <a:srgbClr val="071B33"/>
                </a:solidFill>
                <a:latin typeface="Carlito"/>
                <a:ea typeface="Carlito"/>
                <a:cs typeface="Carlito"/>
              </a:defRPr>
            </a:lvl4pPr>
            <a:lvl5pPr algn="r">
              <a:defRPr sz="1000" b="1" i="0">
                <a:solidFill>
                  <a:srgbClr val="071B33"/>
                </a:solidFill>
                <a:latin typeface="Carlito"/>
                <a:ea typeface="Carlito"/>
                <a:cs typeface="Carlito"/>
              </a:defRPr>
            </a:lvl5pPr>
            <a:lvl6pPr algn="r">
              <a:defRPr sz="1000" b="1" i="0">
                <a:solidFill>
                  <a:srgbClr val="071B33"/>
                </a:solidFill>
                <a:latin typeface="Carlito"/>
                <a:ea typeface="Carlito"/>
                <a:cs typeface="Carlito"/>
              </a:defRPr>
            </a:lvl6pPr>
            <a:lvl7pPr algn="r">
              <a:defRPr sz="1000" b="1" i="0">
                <a:solidFill>
                  <a:srgbClr val="071B33"/>
                </a:solidFill>
                <a:latin typeface="Carlito"/>
                <a:ea typeface="Carlito"/>
                <a:cs typeface="Carlito"/>
              </a:defRPr>
            </a:lvl7pPr>
            <a:lvl8pPr algn="r">
              <a:defRPr sz="1000" b="1" i="0">
                <a:solidFill>
                  <a:srgbClr val="071B33"/>
                </a:solidFill>
                <a:latin typeface="Carlito"/>
                <a:ea typeface="Carlito"/>
                <a:cs typeface="Carlito"/>
              </a:defRPr>
            </a:lvl8pPr>
            <a:lvl9pPr algn="r">
              <a:defRPr sz="1000" b="1" i="0">
                <a:solidFill>
                  <a:srgbClr val="071B33"/>
                </a:solidFill>
                <a:latin typeface="Carlito"/>
                <a:ea typeface="Carlito"/>
                <a:cs typeface="Carlito"/>
              </a:defRPr>
            </a:lvl9pPr>
          </a:lstStyle>
          <a:p>
            <a:pPr algn="r">
              <a:defRPr sz="1000" b="1" i="0">
                <a:solidFill>
                  <a:srgbClr val="071B33"/>
                </a:solidFill>
                <a:latin typeface="Carlito"/>
                <a:ea typeface="Carlito"/>
                <a:cs typeface="Carlito"/>
              </a:defRPr>
            </a:pPr>
            <a:r>
              <a:rPr sz="1000" b="1" i="0">
                <a:solidFill>
                  <a:srgbClr val="071B33"/>
                </a:solidFill>
                <a:latin typeface="Carlito"/>
                <a:ea typeface="Carlito"/>
                <a:cs typeface="Carlito"/>
              </a:rPr>
              <a:t>02</a:t>
            </a:r>
          </a:p>
        </p:txBody>
      </p:sp>
      <p:sp>
        <p:nvSpPr>
          <p:cNvPr id="37" name="Rectangle 36">
            <a:extLst>
              <a:ext uri="{FF2B5EF4-FFF2-40B4-BE49-F238E27FC236}">
                <a16:creationId xmlns:a16="http://schemas.microsoft.com/office/drawing/2014/main" id="{A3FCD7E9-BC76-5D7D-2C8A-0F4AD1F8F0D9}"/>
              </a:ext>
            </a:extLst>
          </p:cNvPr>
          <p:cNvSpPr>
            <a:spLocks noGrp="1"/>
          </p:cNvSpPr>
          <p:nvPr/>
        </p:nvSpPr>
        <p:spPr>
          <a:xfrm>
            <a:off x="838200" y="5219700"/>
            <a:ext cx="3867150" cy="533400"/>
          </a:xfrm>
          <a:prstGeom prst="rect">
            <a:avLst/>
          </a:prstGeom>
          <a:noFill/>
          <a:ln w="0">
            <a:noFill/>
            <a:prstDash val="solid"/>
          </a:ln>
        </p:spPr>
        <p:txBody>
          <a:bodyPr wrap="square" lIns="0" tIns="0" rIns="0" bIns="0" anchor="t">
            <a:normAutofit fontScale="99757"/>
          </a:bodyPr>
          <a:lstStyle>
            <a:defPPr algn="l">
              <a:defRPr sz="1600" b="0" i="0">
                <a:solidFill>
                  <a:srgbClr val="152536"/>
                </a:solidFill>
                <a:latin typeface="Carlito"/>
                <a:ea typeface="Carlito"/>
                <a:cs typeface="Carlito"/>
              </a:defRPr>
            </a:defPPr>
            <a:lvl1pPr algn="l">
              <a:defRPr sz="1600" b="0" i="0">
                <a:solidFill>
                  <a:srgbClr val="152536"/>
                </a:solidFill>
                <a:latin typeface="Carlito"/>
                <a:ea typeface="Carlito"/>
                <a:cs typeface="Carlito"/>
              </a:defRPr>
            </a:lvl1pPr>
            <a:lvl2pPr algn="l">
              <a:defRPr sz="1600" b="0" i="0">
                <a:solidFill>
                  <a:srgbClr val="152536"/>
                </a:solidFill>
                <a:latin typeface="Carlito"/>
                <a:ea typeface="Carlito"/>
                <a:cs typeface="Carlito"/>
              </a:defRPr>
            </a:lvl2pPr>
            <a:lvl3pPr algn="l">
              <a:defRPr sz="1600" b="0" i="0">
                <a:solidFill>
                  <a:srgbClr val="152536"/>
                </a:solidFill>
                <a:latin typeface="Carlito"/>
                <a:ea typeface="Carlito"/>
                <a:cs typeface="Carlito"/>
              </a:defRPr>
            </a:lvl3pPr>
            <a:lvl4pPr algn="l">
              <a:defRPr sz="1600" b="0" i="0">
                <a:solidFill>
                  <a:srgbClr val="152536"/>
                </a:solidFill>
                <a:latin typeface="Carlito"/>
                <a:ea typeface="Carlito"/>
                <a:cs typeface="Carlito"/>
              </a:defRPr>
            </a:lvl4pPr>
            <a:lvl5pPr algn="l">
              <a:defRPr sz="1600" b="0" i="0">
                <a:solidFill>
                  <a:srgbClr val="152536"/>
                </a:solidFill>
                <a:latin typeface="Carlito"/>
                <a:ea typeface="Carlito"/>
                <a:cs typeface="Carlito"/>
              </a:defRPr>
            </a:lvl5pPr>
            <a:lvl6pPr algn="l">
              <a:defRPr sz="1600" b="0" i="0">
                <a:solidFill>
                  <a:srgbClr val="152536"/>
                </a:solidFill>
                <a:latin typeface="Carlito"/>
                <a:ea typeface="Carlito"/>
                <a:cs typeface="Carlito"/>
              </a:defRPr>
            </a:lvl6pPr>
            <a:lvl7pPr algn="l">
              <a:defRPr sz="1600" b="0" i="0">
                <a:solidFill>
                  <a:srgbClr val="152536"/>
                </a:solidFill>
                <a:latin typeface="Carlito"/>
                <a:ea typeface="Carlito"/>
                <a:cs typeface="Carlito"/>
              </a:defRPr>
            </a:lvl7pPr>
            <a:lvl8pPr algn="l">
              <a:defRPr sz="1600" b="0" i="0">
                <a:solidFill>
                  <a:srgbClr val="152536"/>
                </a:solidFill>
                <a:latin typeface="Carlito"/>
                <a:ea typeface="Carlito"/>
                <a:cs typeface="Carlito"/>
              </a:defRPr>
            </a:lvl8pPr>
            <a:lvl9pPr algn="l">
              <a:defRPr sz="1600" b="0" i="0">
                <a:solidFill>
                  <a:srgbClr val="152536"/>
                </a:solidFill>
                <a:latin typeface="Carlito"/>
                <a:ea typeface="Carlito"/>
                <a:cs typeface="Carlito"/>
              </a:defRPr>
            </a:lvl9pPr>
          </a:lstStyle>
          <a:p>
            <a:pPr>
              <a:defRPr sz="1600" b="0" i="0">
                <a:solidFill>
                  <a:srgbClr val="152536"/>
                </a:solidFill>
                <a:latin typeface="Carlito"/>
                <a:ea typeface="Carlito"/>
                <a:cs typeface="Carlito"/>
              </a:defRPr>
            </a:pPr>
            <a:r>
              <a:rPr lang="en-US" sz="1400" dirty="0"/>
              <a:t>Recommendations identify where to investigate or focus resources, subject to available data.</a:t>
            </a:r>
          </a:p>
          <a:p>
            <a:pPr algn="l">
              <a:defRPr sz="1600" b="0" i="0">
                <a:solidFill>
                  <a:srgbClr val="152536"/>
                </a:solidFill>
                <a:latin typeface="Carlito"/>
                <a:ea typeface="Carlito"/>
                <a:cs typeface="Carlito"/>
              </a:defRPr>
            </a:pPr>
            <a:endParaRPr sz="1400" b="0" i="0" dirty="0">
              <a:solidFill>
                <a:srgbClr val="152536"/>
              </a:solidFill>
              <a:latin typeface="Carlito"/>
              <a:ea typeface="Carlito"/>
              <a:cs typeface="Carlito"/>
            </a:endParaRPr>
          </a:p>
        </p:txBody>
      </p:sp>
      <p:sp>
        <p:nvSpPr>
          <p:cNvPr id="39" name="Rectangle 38">
            <a:extLst>
              <a:ext uri="{FF2B5EF4-FFF2-40B4-BE49-F238E27FC236}">
                <a16:creationId xmlns:a16="http://schemas.microsoft.com/office/drawing/2014/main" id="{6A1D3B95-1BC0-66CD-6066-DEFBA9B1F64C}"/>
              </a:ext>
            </a:extLst>
          </p:cNvPr>
          <p:cNvSpPr>
            <a:spLocks noGrp="1"/>
          </p:cNvSpPr>
          <p:nvPr/>
        </p:nvSpPr>
        <p:spPr>
          <a:xfrm>
            <a:off x="5962650" y="1966912"/>
            <a:ext cx="2381250" cy="428625"/>
          </a:xfrm>
          <a:prstGeom prst="rect">
            <a:avLst/>
          </a:prstGeom>
          <a:noFill/>
          <a:ln w="0">
            <a:noFill/>
            <a:prstDash val="solid"/>
          </a:ln>
        </p:spPr>
        <p:txBody>
          <a:bodyPr wrap="square" lIns="0" tIns="0" rIns="0" bIns="0" anchor="t">
            <a:normAutofit/>
          </a:bodyPr>
          <a:lstStyle>
            <a:defPPr algn="l">
              <a:defRPr sz="1600" b="1" i="0">
                <a:solidFill>
                  <a:srgbClr val="152536"/>
                </a:solidFill>
                <a:latin typeface="Carlito"/>
                <a:ea typeface="Carlito"/>
                <a:cs typeface="Carlito"/>
              </a:defRPr>
            </a:defPPr>
            <a:lvl1pPr algn="l">
              <a:defRPr sz="1600" b="1" i="0">
                <a:solidFill>
                  <a:srgbClr val="152536"/>
                </a:solidFill>
                <a:latin typeface="Carlito"/>
                <a:ea typeface="Carlito"/>
                <a:cs typeface="Carlito"/>
              </a:defRPr>
            </a:lvl1pPr>
            <a:lvl2pPr algn="l">
              <a:defRPr sz="1600" b="1" i="0">
                <a:solidFill>
                  <a:srgbClr val="152536"/>
                </a:solidFill>
                <a:latin typeface="Carlito"/>
                <a:ea typeface="Carlito"/>
                <a:cs typeface="Carlito"/>
              </a:defRPr>
            </a:lvl2pPr>
            <a:lvl3pPr algn="l">
              <a:defRPr sz="1600" b="1" i="0">
                <a:solidFill>
                  <a:srgbClr val="152536"/>
                </a:solidFill>
                <a:latin typeface="Carlito"/>
                <a:ea typeface="Carlito"/>
                <a:cs typeface="Carlito"/>
              </a:defRPr>
            </a:lvl3pPr>
            <a:lvl4pPr algn="l">
              <a:defRPr sz="1600" b="1" i="0">
                <a:solidFill>
                  <a:srgbClr val="152536"/>
                </a:solidFill>
                <a:latin typeface="Carlito"/>
                <a:ea typeface="Carlito"/>
                <a:cs typeface="Carlito"/>
              </a:defRPr>
            </a:lvl4pPr>
            <a:lvl5pPr algn="l">
              <a:defRPr sz="1600" b="1" i="0">
                <a:solidFill>
                  <a:srgbClr val="152536"/>
                </a:solidFill>
                <a:latin typeface="Carlito"/>
                <a:ea typeface="Carlito"/>
                <a:cs typeface="Carlito"/>
              </a:defRPr>
            </a:lvl5pPr>
            <a:lvl6pPr algn="l">
              <a:defRPr sz="1600" b="1" i="0">
                <a:solidFill>
                  <a:srgbClr val="152536"/>
                </a:solidFill>
                <a:latin typeface="Carlito"/>
                <a:ea typeface="Carlito"/>
                <a:cs typeface="Carlito"/>
              </a:defRPr>
            </a:lvl6pPr>
            <a:lvl7pPr algn="l">
              <a:defRPr sz="1600" b="1" i="0">
                <a:solidFill>
                  <a:srgbClr val="152536"/>
                </a:solidFill>
                <a:latin typeface="Carlito"/>
                <a:ea typeface="Carlito"/>
                <a:cs typeface="Carlito"/>
              </a:defRPr>
            </a:lvl7pPr>
            <a:lvl8pPr algn="l">
              <a:defRPr sz="1600" b="1" i="0">
                <a:solidFill>
                  <a:srgbClr val="152536"/>
                </a:solidFill>
                <a:latin typeface="Carlito"/>
                <a:ea typeface="Carlito"/>
                <a:cs typeface="Carlito"/>
              </a:defRPr>
            </a:lvl8pPr>
            <a:lvl9pPr algn="l">
              <a:defRPr sz="1600" b="1" i="0">
                <a:solidFill>
                  <a:srgbClr val="152536"/>
                </a:solidFill>
                <a:latin typeface="Carlito"/>
                <a:ea typeface="Carlito"/>
                <a:cs typeface="Carlito"/>
              </a:defRPr>
            </a:lvl9pPr>
          </a:lstStyle>
          <a:p>
            <a:pPr>
              <a:defRPr sz="1600" b="1" i="0">
                <a:solidFill>
                  <a:srgbClr val="152536"/>
                </a:solidFill>
                <a:latin typeface="Carlito"/>
                <a:ea typeface="Carlito"/>
                <a:cs typeface="Carlito"/>
              </a:defRPr>
            </a:pPr>
            <a:r>
              <a:rPr lang="en-SG" sz="1200" dirty="0"/>
              <a:t>Participation and medal trends</a:t>
            </a:r>
          </a:p>
          <a:p>
            <a:pPr algn="l">
              <a:defRPr sz="1600" b="1" i="0">
                <a:solidFill>
                  <a:srgbClr val="152536"/>
                </a:solidFill>
                <a:latin typeface="Carlito"/>
                <a:ea typeface="Carlito"/>
                <a:cs typeface="Carlito"/>
              </a:defRPr>
            </a:pPr>
            <a:endParaRPr sz="1200" b="1" i="0" dirty="0">
              <a:solidFill>
                <a:srgbClr val="152536"/>
              </a:solidFill>
              <a:latin typeface="Carlito"/>
              <a:ea typeface="Carlito"/>
              <a:cs typeface="Carlito"/>
            </a:endParaRPr>
          </a:p>
        </p:txBody>
      </p:sp>
      <p:sp>
        <p:nvSpPr>
          <p:cNvPr id="41" name="Rectangle 40">
            <a:extLst>
              <a:ext uri="{FF2B5EF4-FFF2-40B4-BE49-F238E27FC236}">
                <a16:creationId xmlns:a16="http://schemas.microsoft.com/office/drawing/2014/main" id="{9A9B0F61-9A18-0903-5A28-D205A55C592C}"/>
              </a:ext>
            </a:extLst>
          </p:cNvPr>
          <p:cNvSpPr>
            <a:spLocks noGrp="1"/>
          </p:cNvSpPr>
          <p:nvPr/>
        </p:nvSpPr>
        <p:spPr>
          <a:xfrm>
            <a:off x="8896350" y="2695575"/>
            <a:ext cx="2381250" cy="428625"/>
          </a:xfrm>
          <a:prstGeom prst="rect">
            <a:avLst/>
          </a:prstGeom>
          <a:noFill/>
          <a:ln w="0">
            <a:noFill/>
            <a:prstDash val="solid"/>
          </a:ln>
        </p:spPr>
        <p:txBody>
          <a:bodyPr wrap="square" lIns="0" tIns="0" rIns="0" bIns="0" anchor="t">
            <a:normAutofit/>
          </a:bodyPr>
          <a:lstStyle>
            <a:defPPr algn="l">
              <a:defRPr sz="1600" b="1" i="0">
                <a:solidFill>
                  <a:srgbClr val="152536"/>
                </a:solidFill>
                <a:latin typeface="Carlito"/>
                <a:ea typeface="Carlito"/>
                <a:cs typeface="Carlito"/>
              </a:defRPr>
            </a:defPPr>
            <a:lvl1pPr algn="l">
              <a:defRPr sz="1600" b="1" i="0">
                <a:solidFill>
                  <a:srgbClr val="152536"/>
                </a:solidFill>
                <a:latin typeface="Carlito"/>
                <a:ea typeface="Carlito"/>
                <a:cs typeface="Carlito"/>
              </a:defRPr>
            </a:lvl1pPr>
            <a:lvl2pPr algn="l">
              <a:defRPr sz="1600" b="1" i="0">
                <a:solidFill>
                  <a:srgbClr val="152536"/>
                </a:solidFill>
                <a:latin typeface="Carlito"/>
                <a:ea typeface="Carlito"/>
                <a:cs typeface="Carlito"/>
              </a:defRPr>
            </a:lvl2pPr>
            <a:lvl3pPr algn="l">
              <a:defRPr sz="1600" b="1" i="0">
                <a:solidFill>
                  <a:srgbClr val="152536"/>
                </a:solidFill>
                <a:latin typeface="Carlito"/>
                <a:ea typeface="Carlito"/>
                <a:cs typeface="Carlito"/>
              </a:defRPr>
            </a:lvl3pPr>
            <a:lvl4pPr algn="l">
              <a:defRPr sz="1600" b="1" i="0">
                <a:solidFill>
                  <a:srgbClr val="152536"/>
                </a:solidFill>
                <a:latin typeface="Carlito"/>
                <a:ea typeface="Carlito"/>
                <a:cs typeface="Carlito"/>
              </a:defRPr>
            </a:lvl4pPr>
            <a:lvl5pPr algn="l">
              <a:defRPr sz="1600" b="1" i="0">
                <a:solidFill>
                  <a:srgbClr val="152536"/>
                </a:solidFill>
                <a:latin typeface="Carlito"/>
                <a:ea typeface="Carlito"/>
                <a:cs typeface="Carlito"/>
              </a:defRPr>
            </a:lvl5pPr>
            <a:lvl6pPr algn="l">
              <a:defRPr sz="1600" b="1" i="0">
                <a:solidFill>
                  <a:srgbClr val="152536"/>
                </a:solidFill>
                <a:latin typeface="Carlito"/>
                <a:ea typeface="Carlito"/>
                <a:cs typeface="Carlito"/>
              </a:defRPr>
            </a:lvl6pPr>
            <a:lvl7pPr algn="l">
              <a:defRPr sz="1600" b="1" i="0">
                <a:solidFill>
                  <a:srgbClr val="152536"/>
                </a:solidFill>
                <a:latin typeface="Carlito"/>
                <a:ea typeface="Carlito"/>
                <a:cs typeface="Carlito"/>
              </a:defRPr>
            </a:lvl7pPr>
            <a:lvl8pPr algn="l">
              <a:defRPr sz="1600" b="1" i="0">
                <a:solidFill>
                  <a:srgbClr val="152536"/>
                </a:solidFill>
                <a:latin typeface="Carlito"/>
                <a:ea typeface="Carlito"/>
                <a:cs typeface="Carlito"/>
              </a:defRPr>
            </a:lvl8pPr>
            <a:lvl9pPr algn="l">
              <a:defRPr sz="1600" b="1" i="0">
                <a:solidFill>
                  <a:srgbClr val="152536"/>
                </a:solidFill>
                <a:latin typeface="Carlito"/>
                <a:ea typeface="Carlito"/>
                <a:cs typeface="Carlito"/>
              </a:defRPr>
            </a:lvl9pPr>
          </a:lstStyle>
          <a:p>
            <a:pPr>
              <a:defRPr sz="1600" b="1" i="0">
                <a:solidFill>
                  <a:srgbClr val="152536"/>
                </a:solidFill>
                <a:latin typeface="Carlito"/>
                <a:ea typeface="Carlito"/>
                <a:cs typeface="Carlito"/>
              </a:defRPr>
            </a:pPr>
            <a:r>
              <a:rPr lang="en-SG" sz="1200" dirty="0"/>
              <a:t>Emerging or declining areas</a:t>
            </a:r>
          </a:p>
          <a:p>
            <a:pPr>
              <a:defRPr sz="1600" b="1" i="0">
                <a:solidFill>
                  <a:srgbClr val="152536"/>
                </a:solidFill>
                <a:latin typeface="Carlito"/>
                <a:ea typeface="Carlito"/>
                <a:cs typeface="Carlito"/>
              </a:defRPr>
            </a:pPr>
            <a:endParaRPr lang="en-SG" sz="1200" dirty="0"/>
          </a:p>
          <a:p>
            <a:pPr algn="l">
              <a:defRPr sz="1600" b="1" i="0">
                <a:solidFill>
                  <a:srgbClr val="152536"/>
                </a:solidFill>
                <a:latin typeface="Carlito"/>
                <a:ea typeface="Carlito"/>
                <a:cs typeface="Carlito"/>
              </a:defRPr>
            </a:pPr>
            <a:endParaRPr sz="1200" b="1" i="0" dirty="0">
              <a:solidFill>
                <a:srgbClr val="152536"/>
              </a:solidFill>
              <a:latin typeface="Carlito"/>
              <a:ea typeface="Carlito"/>
              <a:cs typeface="Carlito"/>
            </a:endParaRPr>
          </a:p>
        </p:txBody>
      </p:sp>
    </p:spTree>
    <p:extLst>
      <p:ext uri="{BB962C8B-B14F-4D97-AF65-F5344CB8AC3E}">
        <p14:creationId xmlns:p14="http://schemas.microsoft.com/office/powerpoint/2010/main" val="917330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60F5393F-C73B-4E64-A2A5-4C14B8A55D5D}"/>
              </a:ext>
            </a:extLst>
          </p:cNvPr>
          <p:cNvSpPr>
            <a:spLocks noGrp="1"/>
          </p:cNvSpPr>
          <p:nvPr/>
        </p:nvSpPr>
        <p:spPr>
          <a:xfrm>
            <a:off x="609600" y="361950"/>
            <a:ext cx="10477500" cy="457200"/>
          </a:xfrm>
          <a:prstGeom prst="rect">
            <a:avLst/>
          </a:prstGeom>
          <a:noFill/>
          <a:ln w="0">
            <a:noFill/>
            <a:prstDash val="solid"/>
          </a:ln>
        </p:spPr>
        <p:txBody>
          <a:bodyPr wrap="square" lIns="0" tIns="0" rIns="0" bIns="0" anchor="t">
            <a:normAutofit/>
          </a:bodyPr>
          <a:lstStyle>
            <a:defPPr algn="l">
              <a:defRPr sz="2800" b="1" i="0">
                <a:solidFill>
                  <a:srgbClr val="071B33"/>
                </a:solidFill>
                <a:latin typeface="Carlito"/>
                <a:ea typeface="Carlito"/>
                <a:cs typeface="Carlito"/>
              </a:defRPr>
            </a:defPPr>
            <a:lvl1pPr algn="l">
              <a:defRPr sz="2800" b="1" i="0">
                <a:solidFill>
                  <a:srgbClr val="071B33"/>
                </a:solidFill>
                <a:latin typeface="Carlito"/>
                <a:ea typeface="Carlito"/>
                <a:cs typeface="Carlito"/>
              </a:defRPr>
            </a:lvl1pPr>
            <a:lvl2pPr algn="l">
              <a:defRPr sz="2800" b="1" i="0">
                <a:solidFill>
                  <a:srgbClr val="071B33"/>
                </a:solidFill>
                <a:latin typeface="Carlito"/>
                <a:ea typeface="Carlito"/>
                <a:cs typeface="Carlito"/>
              </a:defRPr>
            </a:lvl2pPr>
            <a:lvl3pPr algn="l">
              <a:defRPr sz="2800" b="1" i="0">
                <a:solidFill>
                  <a:srgbClr val="071B33"/>
                </a:solidFill>
                <a:latin typeface="Carlito"/>
                <a:ea typeface="Carlito"/>
                <a:cs typeface="Carlito"/>
              </a:defRPr>
            </a:lvl3pPr>
            <a:lvl4pPr algn="l">
              <a:defRPr sz="2800" b="1" i="0">
                <a:solidFill>
                  <a:srgbClr val="071B33"/>
                </a:solidFill>
                <a:latin typeface="Carlito"/>
                <a:ea typeface="Carlito"/>
                <a:cs typeface="Carlito"/>
              </a:defRPr>
            </a:lvl4pPr>
            <a:lvl5pPr algn="l">
              <a:defRPr sz="2800" b="1" i="0">
                <a:solidFill>
                  <a:srgbClr val="071B33"/>
                </a:solidFill>
                <a:latin typeface="Carlito"/>
                <a:ea typeface="Carlito"/>
                <a:cs typeface="Carlito"/>
              </a:defRPr>
            </a:lvl5pPr>
            <a:lvl6pPr algn="l">
              <a:defRPr sz="2800" b="1" i="0">
                <a:solidFill>
                  <a:srgbClr val="071B33"/>
                </a:solidFill>
                <a:latin typeface="Carlito"/>
                <a:ea typeface="Carlito"/>
                <a:cs typeface="Carlito"/>
              </a:defRPr>
            </a:lvl6pPr>
            <a:lvl7pPr algn="l">
              <a:defRPr sz="2800" b="1" i="0">
                <a:solidFill>
                  <a:srgbClr val="071B33"/>
                </a:solidFill>
                <a:latin typeface="Carlito"/>
                <a:ea typeface="Carlito"/>
                <a:cs typeface="Carlito"/>
              </a:defRPr>
            </a:lvl7pPr>
            <a:lvl8pPr algn="l">
              <a:defRPr sz="2800" b="1" i="0">
                <a:solidFill>
                  <a:srgbClr val="071B33"/>
                </a:solidFill>
                <a:latin typeface="Carlito"/>
                <a:ea typeface="Carlito"/>
                <a:cs typeface="Carlito"/>
              </a:defRPr>
            </a:lvl8pPr>
            <a:lvl9pPr algn="l">
              <a:defRPr sz="2800" b="1" i="0">
                <a:solidFill>
                  <a:srgbClr val="071B33"/>
                </a:solidFill>
                <a:latin typeface="Carlito"/>
                <a:ea typeface="Carlito"/>
                <a:cs typeface="Carlito"/>
              </a:defRPr>
            </a:lvl9pPr>
          </a:lstStyle>
          <a:p>
            <a:pPr algn="l">
              <a:defRPr sz="2800" b="1" i="0">
                <a:solidFill>
                  <a:srgbClr val="071B33"/>
                </a:solidFill>
                <a:latin typeface="Carlito"/>
                <a:ea typeface="Carlito"/>
                <a:cs typeface="Carlito"/>
              </a:defRPr>
            </a:pPr>
            <a:r>
              <a:rPr sz="2800" b="1" i="0">
                <a:solidFill>
                  <a:srgbClr val="071B33"/>
                </a:solidFill>
                <a:latin typeface="Carlito"/>
                <a:ea typeface="Carlito"/>
                <a:cs typeface="Carlito"/>
              </a:rPr>
              <a:t>Data preparation and measurement</a:t>
            </a:r>
          </a:p>
        </p:txBody>
      </p:sp>
      <p:sp>
        <p:nvSpPr>
          <p:cNvPr id="2" name="Rectangle 1">
            <a:extLst>
              <a:ext uri="{FF2B5EF4-FFF2-40B4-BE49-F238E27FC236}">
                <a16:creationId xmlns:a16="http://schemas.microsoft.com/office/drawing/2014/main" id="{1B6A7674-F5AC-4A58-A088-F0BBEB9AB08D}"/>
              </a:ext>
            </a:extLst>
          </p:cNvPr>
          <p:cNvSpPr>
            <a:spLocks noGrp="1"/>
          </p:cNvSpPr>
          <p:nvPr/>
        </p:nvSpPr>
        <p:spPr>
          <a:xfrm>
            <a:off x="609600" y="828675"/>
            <a:ext cx="10668000" cy="285750"/>
          </a:xfrm>
          <a:prstGeom prst="rect">
            <a:avLst/>
          </a:prstGeom>
          <a:noFill/>
          <a:ln w="0">
            <a:noFill/>
            <a:prstDash val="solid"/>
          </a:ln>
        </p:spPr>
        <p:txBody>
          <a:bodyPr wrap="square" lIns="0" tIns="0" rIns="0" bIns="0" anchor="t">
            <a:normAutofit/>
          </a:bodyPr>
          <a:lstStyle>
            <a:defPPr algn="l">
              <a:defRPr sz="1400" b="0" i="0">
                <a:solidFill>
                  <a:srgbClr val="5F6F7F"/>
                </a:solidFill>
                <a:latin typeface="Carlito"/>
                <a:ea typeface="Carlito"/>
                <a:cs typeface="Carlito"/>
              </a:defRPr>
            </a:defPPr>
            <a:lvl1pPr algn="l">
              <a:defRPr sz="1400" b="0" i="0">
                <a:solidFill>
                  <a:srgbClr val="5F6F7F"/>
                </a:solidFill>
                <a:latin typeface="Carlito"/>
                <a:ea typeface="Carlito"/>
                <a:cs typeface="Carlito"/>
              </a:defRPr>
            </a:lvl1pPr>
            <a:lvl2pPr algn="l">
              <a:defRPr sz="1400" b="0" i="0">
                <a:solidFill>
                  <a:srgbClr val="5F6F7F"/>
                </a:solidFill>
                <a:latin typeface="Carlito"/>
                <a:ea typeface="Carlito"/>
                <a:cs typeface="Carlito"/>
              </a:defRPr>
            </a:lvl2pPr>
            <a:lvl3pPr algn="l">
              <a:defRPr sz="1400" b="0" i="0">
                <a:solidFill>
                  <a:srgbClr val="5F6F7F"/>
                </a:solidFill>
                <a:latin typeface="Carlito"/>
                <a:ea typeface="Carlito"/>
                <a:cs typeface="Carlito"/>
              </a:defRPr>
            </a:lvl3pPr>
            <a:lvl4pPr algn="l">
              <a:defRPr sz="1400" b="0" i="0">
                <a:solidFill>
                  <a:srgbClr val="5F6F7F"/>
                </a:solidFill>
                <a:latin typeface="Carlito"/>
                <a:ea typeface="Carlito"/>
                <a:cs typeface="Carlito"/>
              </a:defRPr>
            </a:lvl4pPr>
            <a:lvl5pPr algn="l">
              <a:defRPr sz="1400" b="0" i="0">
                <a:solidFill>
                  <a:srgbClr val="5F6F7F"/>
                </a:solidFill>
                <a:latin typeface="Carlito"/>
                <a:ea typeface="Carlito"/>
                <a:cs typeface="Carlito"/>
              </a:defRPr>
            </a:lvl5pPr>
            <a:lvl6pPr algn="l">
              <a:defRPr sz="1400" b="0" i="0">
                <a:solidFill>
                  <a:srgbClr val="5F6F7F"/>
                </a:solidFill>
                <a:latin typeface="Carlito"/>
                <a:ea typeface="Carlito"/>
                <a:cs typeface="Carlito"/>
              </a:defRPr>
            </a:lvl6pPr>
            <a:lvl7pPr algn="l">
              <a:defRPr sz="1400" b="0" i="0">
                <a:solidFill>
                  <a:srgbClr val="5F6F7F"/>
                </a:solidFill>
                <a:latin typeface="Carlito"/>
                <a:ea typeface="Carlito"/>
                <a:cs typeface="Carlito"/>
              </a:defRPr>
            </a:lvl7pPr>
            <a:lvl8pPr algn="l">
              <a:defRPr sz="1400" b="0" i="0">
                <a:solidFill>
                  <a:srgbClr val="5F6F7F"/>
                </a:solidFill>
                <a:latin typeface="Carlito"/>
                <a:ea typeface="Carlito"/>
                <a:cs typeface="Carlito"/>
              </a:defRPr>
            </a:lvl8pPr>
            <a:lvl9pPr algn="l">
              <a:defRPr sz="1400" b="0" i="0">
                <a:solidFill>
                  <a:srgbClr val="5F6F7F"/>
                </a:solidFill>
                <a:latin typeface="Carlito"/>
                <a:ea typeface="Carlito"/>
                <a:cs typeface="Carlito"/>
              </a:defRPr>
            </a:lvl9pPr>
          </a:lstStyle>
          <a:p>
            <a:pPr algn="l">
              <a:defRPr sz="1400" b="0" i="0">
                <a:solidFill>
                  <a:srgbClr val="5F6F7F"/>
                </a:solidFill>
                <a:latin typeface="Carlito"/>
                <a:ea typeface="Carlito"/>
                <a:cs typeface="Carlito"/>
              </a:defRPr>
            </a:pPr>
            <a:r>
              <a:rPr sz="1400" b="0" i="0" dirty="0">
                <a:solidFill>
                  <a:srgbClr val="5F6F7F"/>
                </a:solidFill>
                <a:latin typeface="Carlito"/>
                <a:ea typeface="Carlito"/>
                <a:cs typeface="Carlito"/>
              </a:rPr>
              <a:t>The cleaning process preserved traceability and prevented duplicate participation or team-medal counts</a:t>
            </a:r>
          </a:p>
        </p:txBody>
      </p:sp>
      <p:sp>
        <p:nvSpPr>
          <p:cNvPr id="3" name="Rectangle 2">
            <a:extLst>
              <a:ext uri="{FF2B5EF4-FFF2-40B4-BE49-F238E27FC236}">
                <a16:creationId xmlns:a16="http://schemas.microsoft.com/office/drawing/2014/main" id="{9519BCC0-DEE5-4FE8-87DE-A06728395AA4}"/>
              </a:ext>
            </a:extLst>
          </p:cNvPr>
          <p:cNvSpPr>
            <a:spLocks noGrp="1"/>
          </p:cNvSpPr>
          <p:nvPr/>
        </p:nvSpPr>
        <p:spPr>
          <a:xfrm>
            <a:off x="609600" y="1181100"/>
            <a:ext cx="10972800" cy="28575"/>
          </a:xfrm>
          <a:prstGeom prst="rect">
            <a:avLst/>
          </a:prstGeom>
          <a:solidFill>
            <a:srgbClr val="D4AF37"/>
          </a:solidFill>
          <a:ln w="0">
            <a:noFill/>
            <a:prstDash val="solid"/>
          </a:ln>
        </p:spPr>
        <p:txBody>
          <a:bodyPr/>
          <a:lstStyle/>
          <a:p>
            <a:endParaRPr lang="en-SG"/>
          </a:p>
        </p:txBody>
      </p:sp>
      <p:sp>
        <p:nvSpPr>
          <p:cNvPr id="4" name="Rectangle 3">
            <a:extLst>
              <a:ext uri="{FF2B5EF4-FFF2-40B4-BE49-F238E27FC236}">
                <a16:creationId xmlns:a16="http://schemas.microsoft.com/office/drawing/2014/main" id="{5D5CAE18-58EC-4493-B47B-C9C77C50045D}"/>
              </a:ext>
            </a:extLst>
          </p:cNvPr>
          <p:cNvSpPr>
            <a:spLocks noGrp="1"/>
          </p:cNvSpPr>
          <p:nvPr/>
        </p:nvSpPr>
        <p:spPr>
          <a:xfrm>
            <a:off x="666750" y="1571625"/>
            <a:ext cx="1714500" cy="514350"/>
          </a:xfrm>
          <a:prstGeom prst="rect">
            <a:avLst/>
          </a:prstGeom>
          <a:noFill/>
          <a:ln w="0">
            <a:noFill/>
            <a:prstDash val="solid"/>
          </a:ln>
        </p:spPr>
        <p:txBody>
          <a:bodyPr wrap="square" lIns="0" tIns="0" rIns="0" bIns="0" anchor="t">
            <a:normAutofit/>
          </a:bodyPr>
          <a:lstStyle>
            <a:defPPr algn="l">
              <a:defRPr sz="3100" b="1" i="0">
                <a:solidFill>
                  <a:srgbClr val="071B33"/>
                </a:solidFill>
                <a:latin typeface="Carlito"/>
                <a:ea typeface="Carlito"/>
                <a:cs typeface="Carlito"/>
              </a:defRPr>
            </a:defPPr>
            <a:lvl1pPr algn="l">
              <a:defRPr sz="3100" b="1" i="0">
                <a:solidFill>
                  <a:srgbClr val="071B33"/>
                </a:solidFill>
                <a:latin typeface="Carlito"/>
                <a:ea typeface="Carlito"/>
                <a:cs typeface="Carlito"/>
              </a:defRPr>
            </a:lvl1pPr>
            <a:lvl2pPr algn="l">
              <a:defRPr sz="3100" b="1" i="0">
                <a:solidFill>
                  <a:srgbClr val="071B33"/>
                </a:solidFill>
                <a:latin typeface="Carlito"/>
                <a:ea typeface="Carlito"/>
                <a:cs typeface="Carlito"/>
              </a:defRPr>
            </a:lvl2pPr>
            <a:lvl3pPr algn="l">
              <a:defRPr sz="3100" b="1" i="0">
                <a:solidFill>
                  <a:srgbClr val="071B33"/>
                </a:solidFill>
                <a:latin typeface="Carlito"/>
                <a:ea typeface="Carlito"/>
                <a:cs typeface="Carlito"/>
              </a:defRPr>
            </a:lvl3pPr>
            <a:lvl4pPr algn="l">
              <a:defRPr sz="3100" b="1" i="0">
                <a:solidFill>
                  <a:srgbClr val="071B33"/>
                </a:solidFill>
                <a:latin typeface="Carlito"/>
                <a:ea typeface="Carlito"/>
                <a:cs typeface="Carlito"/>
              </a:defRPr>
            </a:lvl4pPr>
            <a:lvl5pPr algn="l">
              <a:defRPr sz="3100" b="1" i="0">
                <a:solidFill>
                  <a:srgbClr val="071B33"/>
                </a:solidFill>
                <a:latin typeface="Carlito"/>
                <a:ea typeface="Carlito"/>
                <a:cs typeface="Carlito"/>
              </a:defRPr>
            </a:lvl5pPr>
            <a:lvl6pPr algn="l">
              <a:defRPr sz="3100" b="1" i="0">
                <a:solidFill>
                  <a:srgbClr val="071B33"/>
                </a:solidFill>
                <a:latin typeface="Carlito"/>
                <a:ea typeface="Carlito"/>
                <a:cs typeface="Carlito"/>
              </a:defRPr>
            </a:lvl6pPr>
            <a:lvl7pPr algn="l">
              <a:defRPr sz="3100" b="1" i="0">
                <a:solidFill>
                  <a:srgbClr val="071B33"/>
                </a:solidFill>
                <a:latin typeface="Carlito"/>
                <a:ea typeface="Carlito"/>
                <a:cs typeface="Carlito"/>
              </a:defRPr>
            </a:lvl7pPr>
            <a:lvl8pPr algn="l">
              <a:defRPr sz="3100" b="1" i="0">
                <a:solidFill>
                  <a:srgbClr val="071B33"/>
                </a:solidFill>
                <a:latin typeface="Carlito"/>
                <a:ea typeface="Carlito"/>
                <a:cs typeface="Carlito"/>
              </a:defRPr>
            </a:lvl8pPr>
            <a:lvl9pPr algn="l">
              <a:defRPr sz="3100" b="1" i="0">
                <a:solidFill>
                  <a:srgbClr val="071B33"/>
                </a:solidFill>
                <a:latin typeface="Carlito"/>
                <a:ea typeface="Carlito"/>
                <a:cs typeface="Carlito"/>
              </a:defRPr>
            </a:lvl9pPr>
          </a:lstStyle>
          <a:p>
            <a:pPr algn="l">
              <a:defRPr sz="3100" b="1" i="0">
                <a:solidFill>
                  <a:srgbClr val="071B33"/>
                </a:solidFill>
                <a:latin typeface="Carlito"/>
                <a:ea typeface="Carlito"/>
                <a:cs typeface="Carlito"/>
              </a:defRPr>
            </a:pPr>
            <a:r>
              <a:rPr sz="3100" b="1" i="0">
                <a:solidFill>
                  <a:srgbClr val="071B33"/>
                </a:solidFill>
                <a:latin typeface="Carlito"/>
                <a:ea typeface="Carlito"/>
                <a:cs typeface="Carlito"/>
              </a:rPr>
              <a:t>271,116</a:t>
            </a:r>
          </a:p>
        </p:txBody>
      </p:sp>
      <p:sp>
        <p:nvSpPr>
          <p:cNvPr id="5" name="Rectangle 4">
            <a:extLst>
              <a:ext uri="{FF2B5EF4-FFF2-40B4-BE49-F238E27FC236}">
                <a16:creationId xmlns:a16="http://schemas.microsoft.com/office/drawing/2014/main" id="{2A036F99-9EA4-4445-B334-9ECC79366A1F}"/>
              </a:ext>
            </a:extLst>
          </p:cNvPr>
          <p:cNvSpPr>
            <a:spLocks noGrp="1"/>
          </p:cNvSpPr>
          <p:nvPr/>
        </p:nvSpPr>
        <p:spPr>
          <a:xfrm>
            <a:off x="666750" y="2095500"/>
            <a:ext cx="1714500" cy="457200"/>
          </a:xfrm>
          <a:prstGeom prst="rect">
            <a:avLst/>
          </a:prstGeom>
          <a:noFill/>
          <a:ln w="0">
            <a:noFill/>
            <a:prstDash val="solid"/>
          </a:ln>
        </p:spPr>
        <p:txBody>
          <a:bodyPr wrap="square" lIns="0" tIns="0" rIns="0" bIns="0" anchor="t">
            <a:normAutofit/>
          </a:bodyPr>
          <a:lstStyle>
            <a:defPPr algn="l">
              <a:defRPr sz="1300" b="0" i="0">
                <a:solidFill>
                  <a:srgbClr val="5F6F7F"/>
                </a:solidFill>
                <a:latin typeface="Carlito"/>
                <a:ea typeface="Carlito"/>
                <a:cs typeface="Carlito"/>
              </a:defRPr>
            </a:defPPr>
            <a:lvl1pPr algn="l">
              <a:defRPr sz="1300" b="0" i="0">
                <a:solidFill>
                  <a:srgbClr val="5F6F7F"/>
                </a:solidFill>
                <a:latin typeface="Carlito"/>
                <a:ea typeface="Carlito"/>
                <a:cs typeface="Carlito"/>
              </a:defRPr>
            </a:lvl1pPr>
            <a:lvl2pPr algn="l">
              <a:defRPr sz="1300" b="0" i="0">
                <a:solidFill>
                  <a:srgbClr val="5F6F7F"/>
                </a:solidFill>
                <a:latin typeface="Carlito"/>
                <a:ea typeface="Carlito"/>
                <a:cs typeface="Carlito"/>
              </a:defRPr>
            </a:lvl2pPr>
            <a:lvl3pPr algn="l">
              <a:defRPr sz="1300" b="0" i="0">
                <a:solidFill>
                  <a:srgbClr val="5F6F7F"/>
                </a:solidFill>
                <a:latin typeface="Carlito"/>
                <a:ea typeface="Carlito"/>
                <a:cs typeface="Carlito"/>
              </a:defRPr>
            </a:lvl3pPr>
            <a:lvl4pPr algn="l">
              <a:defRPr sz="1300" b="0" i="0">
                <a:solidFill>
                  <a:srgbClr val="5F6F7F"/>
                </a:solidFill>
                <a:latin typeface="Carlito"/>
                <a:ea typeface="Carlito"/>
                <a:cs typeface="Carlito"/>
              </a:defRPr>
            </a:lvl4pPr>
            <a:lvl5pPr algn="l">
              <a:defRPr sz="1300" b="0" i="0">
                <a:solidFill>
                  <a:srgbClr val="5F6F7F"/>
                </a:solidFill>
                <a:latin typeface="Carlito"/>
                <a:ea typeface="Carlito"/>
                <a:cs typeface="Carlito"/>
              </a:defRPr>
            </a:lvl5pPr>
            <a:lvl6pPr algn="l">
              <a:defRPr sz="1300" b="0" i="0">
                <a:solidFill>
                  <a:srgbClr val="5F6F7F"/>
                </a:solidFill>
                <a:latin typeface="Carlito"/>
                <a:ea typeface="Carlito"/>
                <a:cs typeface="Carlito"/>
              </a:defRPr>
            </a:lvl6pPr>
            <a:lvl7pPr algn="l">
              <a:defRPr sz="1300" b="0" i="0">
                <a:solidFill>
                  <a:srgbClr val="5F6F7F"/>
                </a:solidFill>
                <a:latin typeface="Carlito"/>
                <a:ea typeface="Carlito"/>
                <a:cs typeface="Carlito"/>
              </a:defRPr>
            </a:lvl7pPr>
            <a:lvl8pPr algn="l">
              <a:defRPr sz="1300" b="0" i="0">
                <a:solidFill>
                  <a:srgbClr val="5F6F7F"/>
                </a:solidFill>
                <a:latin typeface="Carlito"/>
                <a:ea typeface="Carlito"/>
                <a:cs typeface="Carlito"/>
              </a:defRPr>
            </a:lvl8pPr>
            <a:lvl9pPr algn="l">
              <a:defRPr sz="1300" b="0" i="0">
                <a:solidFill>
                  <a:srgbClr val="5F6F7F"/>
                </a:solidFill>
                <a:latin typeface="Carlito"/>
                <a:ea typeface="Carlito"/>
                <a:cs typeface="Carlito"/>
              </a:defRPr>
            </a:lvl9pPr>
          </a:lstStyle>
          <a:p>
            <a:pPr algn="l">
              <a:defRPr sz="1300" b="0" i="0">
                <a:solidFill>
                  <a:srgbClr val="5F6F7F"/>
                </a:solidFill>
                <a:latin typeface="Carlito"/>
                <a:ea typeface="Carlito"/>
                <a:cs typeface="Carlito"/>
              </a:defRPr>
            </a:pPr>
            <a:r>
              <a:rPr sz="1300" b="0" i="0">
                <a:solidFill>
                  <a:srgbClr val="5F6F7F"/>
                </a:solidFill>
                <a:latin typeface="Carlito"/>
                <a:ea typeface="Carlito"/>
                <a:cs typeface="Carlito"/>
              </a:rPr>
              <a:t>raw athlete-event rows</a:t>
            </a:r>
          </a:p>
        </p:txBody>
      </p:sp>
      <p:sp>
        <p:nvSpPr>
          <p:cNvPr id="6" name="Rectangle 5">
            <a:extLst>
              <a:ext uri="{FF2B5EF4-FFF2-40B4-BE49-F238E27FC236}">
                <a16:creationId xmlns:a16="http://schemas.microsoft.com/office/drawing/2014/main" id="{F05A8A3C-D6DA-463D-A311-1692CE7FA419}"/>
              </a:ext>
            </a:extLst>
          </p:cNvPr>
          <p:cNvSpPr>
            <a:spLocks noGrp="1"/>
          </p:cNvSpPr>
          <p:nvPr/>
        </p:nvSpPr>
        <p:spPr>
          <a:xfrm>
            <a:off x="2714625" y="1571625"/>
            <a:ext cx="1714500" cy="514350"/>
          </a:xfrm>
          <a:prstGeom prst="rect">
            <a:avLst/>
          </a:prstGeom>
          <a:noFill/>
          <a:ln w="0">
            <a:noFill/>
            <a:prstDash val="solid"/>
          </a:ln>
        </p:spPr>
        <p:txBody>
          <a:bodyPr wrap="square" lIns="0" tIns="0" rIns="0" bIns="0" anchor="t">
            <a:normAutofit/>
          </a:bodyPr>
          <a:lstStyle>
            <a:defPPr algn="l">
              <a:defRPr sz="3100" b="1" i="0">
                <a:solidFill>
                  <a:srgbClr val="CD7F32"/>
                </a:solidFill>
                <a:latin typeface="Carlito"/>
                <a:ea typeface="Carlito"/>
                <a:cs typeface="Carlito"/>
              </a:defRPr>
            </a:defPPr>
            <a:lvl1pPr algn="l">
              <a:defRPr sz="3100" b="1" i="0">
                <a:solidFill>
                  <a:srgbClr val="CD7F32"/>
                </a:solidFill>
                <a:latin typeface="Carlito"/>
                <a:ea typeface="Carlito"/>
                <a:cs typeface="Carlito"/>
              </a:defRPr>
            </a:lvl1pPr>
            <a:lvl2pPr algn="l">
              <a:defRPr sz="3100" b="1" i="0">
                <a:solidFill>
                  <a:srgbClr val="CD7F32"/>
                </a:solidFill>
                <a:latin typeface="Carlito"/>
                <a:ea typeface="Carlito"/>
                <a:cs typeface="Carlito"/>
              </a:defRPr>
            </a:lvl2pPr>
            <a:lvl3pPr algn="l">
              <a:defRPr sz="3100" b="1" i="0">
                <a:solidFill>
                  <a:srgbClr val="CD7F32"/>
                </a:solidFill>
                <a:latin typeface="Carlito"/>
                <a:ea typeface="Carlito"/>
                <a:cs typeface="Carlito"/>
              </a:defRPr>
            </a:lvl3pPr>
            <a:lvl4pPr algn="l">
              <a:defRPr sz="3100" b="1" i="0">
                <a:solidFill>
                  <a:srgbClr val="CD7F32"/>
                </a:solidFill>
                <a:latin typeface="Carlito"/>
                <a:ea typeface="Carlito"/>
                <a:cs typeface="Carlito"/>
              </a:defRPr>
            </a:lvl4pPr>
            <a:lvl5pPr algn="l">
              <a:defRPr sz="3100" b="1" i="0">
                <a:solidFill>
                  <a:srgbClr val="CD7F32"/>
                </a:solidFill>
                <a:latin typeface="Carlito"/>
                <a:ea typeface="Carlito"/>
                <a:cs typeface="Carlito"/>
              </a:defRPr>
            </a:lvl5pPr>
            <a:lvl6pPr algn="l">
              <a:defRPr sz="3100" b="1" i="0">
                <a:solidFill>
                  <a:srgbClr val="CD7F32"/>
                </a:solidFill>
                <a:latin typeface="Carlito"/>
                <a:ea typeface="Carlito"/>
                <a:cs typeface="Carlito"/>
              </a:defRPr>
            </a:lvl6pPr>
            <a:lvl7pPr algn="l">
              <a:defRPr sz="3100" b="1" i="0">
                <a:solidFill>
                  <a:srgbClr val="CD7F32"/>
                </a:solidFill>
                <a:latin typeface="Carlito"/>
                <a:ea typeface="Carlito"/>
                <a:cs typeface="Carlito"/>
              </a:defRPr>
            </a:lvl7pPr>
            <a:lvl8pPr algn="l">
              <a:defRPr sz="3100" b="1" i="0">
                <a:solidFill>
                  <a:srgbClr val="CD7F32"/>
                </a:solidFill>
                <a:latin typeface="Carlito"/>
                <a:ea typeface="Carlito"/>
                <a:cs typeface="Carlito"/>
              </a:defRPr>
            </a:lvl8pPr>
            <a:lvl9pPr algn="l">
              <a:defRPr sz="3100" b="1" i="0">
                <a:solidFill>
                  <a:srgbClr val="CD7F32"/>
                </a:solidFill>
                <a:latin typeface="Carlito"/>
                <a:ea typeface="Carlito"/>
                <a:cs typeface="Carlito"/>
              </a:defRPr>
            </a:lvl9pPr>
          </a:lstStyle>
          <a:p>
            <a:pPr algn="l">
              <a:defRPr sz="3100" b="1" i="0">
                <a:solidFill>
                  <a:srgbClr val="CD7F32"/>
                </a:solidFill>
                <a:latin typeface="Carlito"/>
                <a:ea typeface="Carlito"/>
                <a:cs typeface="Carlito"/>
              </a:defRPr>
            </a:pPr>
            <a:r>
              <a:rPr sz="3100" b="1" i="0">
                <a:solidFill>
                  <a:srgbClr val="CD7F32"/>
                </a:solidFill>
                <a:latin typeface="Carlito"/>
                <a:ea typeface="Carlito"/>
                <a:cs typeface="Carlito"/>
              </a:rPr>
              <a:t>1,385</a:t>
            </a:r>
          </a:p>
        </p:txBody>
      </p:sp>
      <p:sp>
        <p:nvSpPr>
          <p:cNvPr id="7" name="Rectangle 6">
            <a:extLst>
              <a:ext uri="{FF2B5EF4-FFF2-40B4-BE49-F238E27FC236}">
                <a16:creationId xmlns:a16="http://schemas.microsoft.com/office/drawing/2014/main" id="{5CDC8B5A-E023-4F93-BC8F-741EB86BD040}"/>
              </a:ext>
            </a:extLst>
          </p:cNvPr>
          <p:cNvSpPr>
            <a:spLocks noGrp="1"/>
          </p:cNvSpPr>
          <p:nvPr/>
        </p:nvSpPr>
        <p:spPr>
          <a:xfrm>
            <a:off x="2714625" y="2095500"/>
            <a:ext cx="1714500" cy="457200"/>
          </a:xfrm>
          <a:prstGeom prst="rect">
            <a:avLst/>
          </a:prstGeom>
          <a:noFill/>
          <a:ln w="0">
            <a:noFill/>
            <a:prstDash val="solid"/>
          </a:ln>
        </p:spPr>
        <p:txBody>
          <a:bodyPr wrap="square" lIns="0" tIns="0" rIns="0" bIns="0" anchor="t">
            <a:normAutofit/>
          </a:bodyPr>
          <a:lstStyle>
            <a:defPPr algn="l">
              <a:defRPr sz="1300" b="0" i="0">
                <a:solidFill>
                  <a:srgbClr val="5F6F7F"/>
                </a:solidFill>
                <a:latin typeface="Carlito"/>
                <a:ea typeface="Carlito"/>
                <a:cs typeface="Carlito"/>
              </a:defRPr>
            </a:defPPr>
            <a:lvl1pPr algn="l">
              <a:defRPr sz="1300" b="0" i="0">
                <a:solidFill>
                  <a:srgbClr val="5F6F7F"/>
                </a:solidFill>
                <a:latin typeface="Carlito"/>
                <a:ea typeface="Carlito"/>
                <a:cs typeface="Carlito"/>
              </a:defRPr>
            </a:lvl1pPr>
            <a:lvl2pPr algn="l">
              <a:defRPr sz="1300" b="0" i="0">
                <a:solidFill>
                  <a:srgbClr val="5F6F7F"/>
                </a:solidFill>
                <a:latin typeface="Carlito"/>
                <a:ea typeface="Carlito"/>
                <a:cs typeface="Carlito"/>
              </a:defRPr>
            </a:lvl2pPr>
            <a:lvl3pPr algn="l">
              <a:defRPr sz="1300" b="0" i="0">
                <a:solidFill>
                  <a:srgbClr val="5F6F7F"/>
                </a:solidFill>
                <a:latin typeface="Carlito"/>
                <a:ea typeface="Carlito"/>
                <a:cs typeface="Carlito"/>
              </a:defRPr>
            </a:lvl3pPr>
            <a:lvl4pPr algn="l">
              <a:defRPr sz="1300" b="0" i="0">
                <a:solidFill>
                  <a:srgbClr val="5F6F7F"/>
                </a:solidFill>
                <a:latin typeface="Carlito"/>
                <a:ea typeface="Carlito"/>
                <a:cs typeface="Carlito"/>
              </a:defRPr>
            </a:lvl4pPr>
            <a:lvl5pPr algn="l">
              <a:defRPr sz="1300" b="0" i="0">
                <a:solidFill>
                  <a:srgbClr val="5F6F7F"/>
                </a:solidFill>
                <a:latin typeface="Carlito"/>
                <a:ea typeface="Carlito"/>
                <a:cs typeface="Carlito"/>
              </a:defRPr>
            </a:lvl5pPr>
            <a:lvl6pPr algn="l">
              <a:defRPr sz="1300" b="0" i="0">
                <a:solidFill>
                  <a:srgbClr val="5F6F7F"/>
                </a:solidFill>
                <a:latin typeface="Carlito"/>
                <a:ea typeface="Carlito"/>
                <a:cs typeface="Carlito"/>
              </a:defRPr>
            </a:lvl6pPr>
            <a:lvl7pPr algn="l">
              <a:defRPr sz="1300" b="0" i="0">
                <a:solidFill>
                  <a:srgbClr val="5F6F7F"/>
                </a:solidFill>
                <a:latin typeface="Carlito"/>
                <a:ea typeface="Carlito"/>
                <a:cs typeface="Carlito"/>
              </a:defRPr>
            </a:lvl7pPr>
            <a:lvl8pPr algn="l">
              <a:defRPr sz="1300" b="0" i="0">
                <a:solidFill>
                  <a:srgbClr val="5F6F7F"/>
                </a:solidFill>
                <a:latin typeface="Carlito"/>
                <a:ea typeface="Carlito"/>
                <a:cs typeface="Carlito"/>
              </a:defRPr>
            </a:lvl8pPr>
            <a:lvl9pPr algn="l">
              <a:defRPr sz="1300" b="0" i="0">
                <a:solidFill>
                  <a:srgbClr val="5F6F7F"/>
                </a:solidFill>
                <a:latin typeface="Carlito"/>
                <a:ea typeface="Carlito"/>
                <a:cs typeface="Carlito"/>
              </a:defRPr>
            </a:lvl9pPr>
          </a:lstStyle>
          <a:p>
            <a:pPr algn="l">
              <a:defRPr sz="1300" b="0" i="0">
                <a:solidFill>
                  <a:srgbClr val="5F6F7F"/>
                </a:solidFill>
                <a:latin typeface="Carlito"/>
                <a:ea typeface="Carlito"/>
                <a:cs typeface="Carlito"/>
              </a:defRPr>
            </a:pPr>
            <a:r>
              <a:rPr sz="1300" b="0" i="0">
                <a:solidFill>
                  <a:srgbClr val="5F6F7F"/>
                </a:solidFill>
                <a:latin typeface="Carlito"/>
                <a:ea typeface="Carlito"/>
                <a:cs typeface="Carlito"/>
              </a:rPr>
              <a:t>exact duplicates removed</a:t>
            </a:r>
          </a:p>
        </p:txBody>
      </p:sp>
      <p:sp>
        <p:nvSpPr>
          <p:cNvPr id="8" name="Rectangle 7">
            <a:extLst>
              <a:ext uri="{FF2B5EF4-FFF2-40B4-BE49-F238E27FC236}">
                <a16:creationId xmlns:a16="http://schemas.microsoft.com/office/drawing/2014/main" id="{CF640561-E7C7-40CB-B317-36439561DA93}"/>
              </a:ext>
            </a:extLst>
          </p:cNvPr>
          <p:cNvSpPr>
            <a:spLocks noGrp="1"/>
          </p:cNvSpPr>
          <p:nvPr/>
        </p:nvSpPr>
        <p:spPr>
          <a:xfrm>
            <a:off x="4762500" y="1571625"/>
            <a:ext cx="1809750" cy="514350"/>
          </a:xfrm>
          <a:prstGeom prst="rect">
            <a:avLst/>
          </a:prstGeom>
          <a:noFill/>
          <a:ln w="0">
            <a:noFill/>
            <a:prstDash val="solid"/>
          </a:ln>
        </p:spPr>
        <p:txBody>
          <a:bodyPr wrap="square" lIns="0" tIns="0" rIns="0" bIns="0" anchor="t">
            <a:normAutofit/>
          </a:bodyPr>
          <a:lstStyle>
            <a:defPPr algn="l">
              <a:defRPr sz="3100" b="1" i="0">
                <a:solidFill>
                  <a:srgbClr val="1F77D0"/>
                </a:solidFill>
                <a:latin typeface="Carlito"/>
                <a:ea typeface="Carlito"/>
                <a:cs typeface="Carlito"/>
              </a:defRPr>
            </a:defPPr>
            <a:lvl1pPr algn="l">
              <a:defRPr sz="3100" b="1" i="0">
                <a:solidFill>
                  <a:srgbClr val="1F77D0"/>
                </a:solidFill>
                <a:latin typeface="Carlito"/>
                <a:ea typeface="Carlito"/>
                <a:cs typeface="Carlito"/>
              </a:defRPr>
            </a:lvl1pPr>
            <a:lvl2pPr algn="l">
              <a:defRPr sz="3100" b="1" i="0">
                <a:solidFill>
                  <a:srgbClr val="1F77D0"/>
                </a:solidFill>
                <a:latin typeface="Carlito"/>
                <a:ea typeface="Carlito"/>
                <a:cs typeface="Carlito"/>
              </a:defRPr>
            </a:lvl2pPr>
            <a:lvl3pPr algn="l">
              <a:defRPr sz="3100" b="1" i="0">
                <a:solidFill>
                  <a:srgbClr val="1F77D0"/>
                </a:solidFill>
                <a:latin typeface="Carlito"/>
                <a:ea typeface="Carlito"/>
                <a:cs typeface="Carlito"/>
              </a:defRPr>
            </a:lvl3pPr>
            <a:lvl4pPr algn="l">
              <a:defRPr sz="3100" b="1" i="0">
                <a:solidFill>
                  <a:srgbClr val="1F77D0"/>
                </a:solidFill>
                <a:latin typeface="Carlito"/>
                <a:ea typeface="Carlito"/>
                <a:cs typeface="Carlito"/>
              </a:defRPr>
            </a:lvl4pPr>
            <a:lvl5pPr algn="l">
              <a:defRPr sz="3100" b="1" i="0">
                <a:solidFill>
                  <a:srgbClr val="1F77D0"/>
                </a:solidFill>
                <a:latin typeface="Carlito"/>
                <a:ea typeface="Carlito"/>
                <a:cs typeface="Carlito"/>
              </a:defRPr>
            </a:lvl5pPr>
            <a:lvl6pPr algn="l">
              <a:defRPr sz="3100" b="1" i="0">
                <a:solidFill>
                  <a:srgbClr val="1F77D0"/>
                </a:solidFill>
                <a:latin typeface="Carlito"/>
                <a:ea typeface="Carlito"/>
                <a:cs typeface="Carlito"/>
              </a:defRPr>
            </a:lvl6pPr>
            <a:lvl7pPr algn="l">
              <a:defRPr sz="3100" b="1" i="0">
                <a:solidFill>
                  <a:srgbClr val="1F77D0"/>
                </a:solidFill>
                <a:latin typeface="Carlito"/>
                <a:ea typeface="Carlito"/>
                <a:cs typeface="Carlito"/>
              </a:defRPr>
            </a:lvl7pPr>
            <a:lvl8pPr algn="l">
              <a:defRPr sz="3100" b="1" i="0">
                <a:solidFill>
                  <a:srgbClr val="1F77D0"/>
                </a:solidFill>
                <a:latin typeface="Carlito"/>
                <a:ea typeface="Carlito"/>
                <a:cs typeface="Carlito"/>
              </a:defRPr>
            </a:lvl8pPr>
            <a:lvl9pPr algn="l">
              <a:defRPr sz="3100" b="1" i="0">
                <a:solidFill>
                  <a:srgbClr val="1F77D0"/>
                </a:solidFill>
                <a:latin typeface="Carlito"/>
                <a:ea typeface="Carlito"/>
                <a:cs typeface="Carlito"/>
              </a:defRPr>
            </a:lvl9pPr>
          </a:lstStyle>
          <a:p>
            <a:pPr algn="l">
              <a:defRPr sz="3100" b="1" i="0">
                <a:solidFill>
                  <a:srgbClr val="1F77D0"/>
                </a:solidFill>
                <a:latin typeface="Carlito"/>
                <a:ea typeface="Carlito"/>
                <a:cs typeface="Carlito"/>
              </a:defRPr>
            </a:pPr>
            <a:r>
              <a:rPr sz="3100" b="1" i="0">
                <a:solidFill>
                  <a:srgbClr val="1F77D0"/>
                </a:solidFill>
                <a:latin typeface="Carlito"/>
                <a:ea typeface="Carlito"/>
                <a:cs typeface="Carlito"/>
              </a:rPr>
              <a:t>3,233</a:t>
            </a:r>
          </a:p>
        </p:txBody>
      </p:sp>
      <p:sp>
        <p:nvSpPr>
          <p:cNvPr id="9" name="Rectangle 8">
            <a:extLst>
              <a:ext uri="{FF2B5EF4-FFF2-40B4-BE49-F238E27FC236}">
                <a16:creationId xmlns:a16="http://schemas.microsoft.com/office/drawing/2014/main" id="{8993B3E5-38D6-47C5-BA7C-76FAC2D74C63}"/>
              </a:ext>
            </a:extLst>
          </p:cNvPr>
          <p:cNvSpPr>
            <a:spLocks noGrp="1"/>
          </p:cNvSpPr>
          <p:nvPr/>
        </p:nvSpPr>
        <p:spPr>
          <a:xfrm>
            <a:off x="4762500" y="2095500"/>
            <a:ext cx="1809750" cy="457200"/>
          </a:xfrm>
          <a:prstGeom prst="rect">
            <a:avLst/>
          </a:prstGeom>
          <a:noFill/>
          <a:ln w="0">
            <a:noFill/>
            <a:prstDash val="solid"/>
          </a:ln>
        </p:spPr>
        <p:txBody>
          <a:bodyPr wrap="square" lIns="0" tIns="0" rIns="0" bIns="0" anchor="t">
            <a:normAutofit/>
          </a:bodyPr>
          <a:lstStyle>
            <a:defPPr algn="l">
              <a:defRPr sz="1300" b="0" i="0">
                <a:solidFill>
                  <a:srgbClr val="5F6F7F"/>
                </a:solidFill>
                <a:latin typeface="Carlito"/>
                <a:ea typeface="Carlito"/>
                <a:cs typeface="Carlito"/>
              </a:defRPr>
            </a:defPPr>
            <a:lvl1pPr algn="l">
              <a:defRPr sz="1300" b="0" i="0">
                <a:solidFill>
                  <a:srgbClr val="5F6F7F"/>
                </a:solidFill>
                <a:latin typeface="Carlito"/>
                <a:ea typeface="Carlito"/>
                <a:cs typeface="Carlito"/>
              </a:defRPr>
            </a:lvl1pPr>
            <a:lvl2pPr algn="l">
              <a:defRPr sz="1300" b="0" i="0">
                <a:solidFill>
                  <a:srgbClr val="5F6F7F"/>
                </a:solidFill>
                <a:latin typeface="Carlito"/>
                <a:ea typeface="Carlito"/>
                <a:cs typeface="Carlito"/>
              </a:defRPr>
            </a:lvl2pPr>
            <a:lvl3pPr algn="l">
              <a:defRPr sz="1300" b="0" i="0">
                <a:solidFill>
                  <a:srgbClr val="5F6F7F"/>
                </a:solidFill>
                <a:latin typeface="Carlito"/>
                <a:ea typeface="Carlito"/>
                <a:cs typeface="Carlito"/>
              </a:defRPr>
            </a:lvl3pPr>
            <a:lvl4pPr algn="l">
              <a:defRPr sz="1300" b="0" i="0">
                <a:solidFill>
                  <a:srgbClr val="5F6F7F"/>
                </a:solidFill>
                <a:latin typeface="Carlito"/>
                <a:ea typeface="Carlito"/>
                <a:cs typeface="Carlito"/>
              </a:defRPr>
            </a:lvl4pPr>
            <a:lvl5pPr algn="l">
              <a:defRPr sz="1300" b="0" i="0">
                <a:solidFill>
                  <a:srgbClr val="5F6F7F"/>
                </a:solidFill>
                <a:latin typeface="Carlito"/>
                <a:ea typeface="Carlito"/>
                <a:cs typeface="Carlito"/>
              </a:defRPr>
            </a:lvl5pPr>
            <a:lvl6pPr algn="l">
              <a:defRPr sz="1300" b="0" i="0">
                <a:solidFill>
                  <a:srgbClr val="5F6F7F"/>
                </a:solidFill>
                <a:latin typeface="Carlito"/>
                <a:ea typeface="Carlito"/>
                <a:cs typeface="Carlito"/>
              </a:defRPr>
            </a:lvl6pPr>
            <a:lvl7pPr algn="l">
              <a:defRPr sz="1300" b="0" i="0">
                <a:solidFill>
                  <a:srgbClr val="5F6F7F"/>
                </a:solidFill>
                <a:latin typeface="Carlito"/>
                <a:ea typeface="Carlito"/>
                <a:cs typeface="Carlito"/>
              </a:defRPr>
            </a:lvl7pPr>
            <a:lvl8pPr algn="l">
              <a:defRPr sz="1300" b="0" i="0">
                <a:solidFill>
                  <a:srgbClr val="5F6F7F"/>
                </a:solidFill>
                <a:latin typeface="Carlito"/>
                <a:ea typeface="Carlito"/>
                <a:cs typeface="Carlito"/>
              </a:defRPr>
            </a:lvl8pPr>
            <a:lvl9pPr algn="l">
              <a:defRPr sz="1300" b="0" i="0">
                <a:solidFill>
                  <a:srgbClr val="5F6F7F"/>
                </a:solidFill>
                <a:latin typeface="Carlito"/>
                <a:ea typeface="Carlito"/>
                <a:cs typeface="Carlito"/>
              </a:defRPr>
            </a:lvl9pPr>
          </a:lstStyle>
          <a:p>
            <a:pPr algn="l">
              <a:defRPr sz="1300" b="0" i="0">
                <a:solidFill>
                  <a:srgbClr val="5F6F7F"/>
                </a:solidFill>
                <a:latin typeface="Carlito"/>
                <a:ea typeface="Carlito"/>
                <a:cs typeface="Carlito"/>
              </a:defRPr>
            </a:pPr>
            <a:r>
              <a:rPr sz="1300" b="0" i="0">
                <a:solidFill>
                  <a:srgbClr val="5F6F7F"/>
                </a:solidFill>
                <a:latin typeface="Carlito"/>
                <a:ea typeface="Carlito"/>
                <a:cs typeface="Carlito"/>
              </a:rPr>
              <a:t>ASEAN athlete-event records</a:t>
            </a:r>
          </a:p>
        </p:txBody>
      </p:sp>
      <p:sp>
        <p:nvSpPr>
          <p:cNvPr id="10" name="Rectangle 9">
            <a:extLst>
              <a:ext uri="{FF2B5EF4-FFF2-40B4-BE49-F238E27FC236}">
                <a16:creationId xmlns:a16="http://schemas.microsoft.com/office/drawing/2014/main" id="{8B0121B0-FCA9-4BE3-AC5F-32B992EFC120}"/>
              </a:ext>
            </a:extLst>
          </p:cNvPr>
          <p:cNvSpPr>
            <a:spLocks noGrp="1"/>
          </p:cNvSpPr>
          <p:nvPr/>
        </p:nvSpPr>
        <p:spPr>
          <a:xfrm>
            <a:off x="6905625" y="1571625"/>
            <a:ext cx="1809750" cy="514350"/>
          </a:xfrm>
          <a:prstGeom prst="rect">
            <a:avLst/>
          </a:prstGeom>
          <a:noFill/>
          <a:ln w="0">
            <a:noFill/>
            <a:prstDash val="solid"/>
          </a:ln>
        </p:spPr>
        <p:txBody>
          <a:bodyPr wrap="square" lIns="0" tIns="0" rIns="0" bIns="0" anchor="t">
            <a:normAutofit/>
          </a:bodyPr>
          <a:lstStyle>
            <a:defPPr algn="l">
              <a:defRPr sz="3100" b="1" i="0">
                <a:solidFill>
                  <a:srgbClr val="D4AF37"/>
                </a:solidFill>
                <a:latin typeface="Carlito"/>
                <a:ea typeface="Carlito"/>
                <a:cs typeface="Carlito"/>
              </a:defRPr>
            </a:defPPr>
            <a:lvl1pPr algn="l">
              <a:defRPr sz="3100" b="1" i="0">
                <a:solidFill>
                  <a:srgbClr val="D4AF37"/>
                </a:solidFill>
                <a:latin typeface="Carlito"/>
                <a:ea typeface="Carlito"/>
                <a:cs typeface="Carlito"/>
              </a:defRPr>
            </a:lvl1pPr>
            <a:lvl2pPr algn="l">
              <a:defRPr sz="3100" b="1" i="0">
                <a:solidFill>
                  <a:srgbClr val="D4AF37"/>
                </a:solidFill>
                <a:latin typeface="Carlito"/>
                <a:ea typeface="Carlito"/>
                <a:cs typeface="Carlito"/>
              </a:defRPr>
            </a:lvl2pPr>
            <a:lvl3pPr algn="l">
              <a:defRPr sz="3100" b="1" i="0">
                <a:solidFill>
                  <a:srgbClr val="D4AF37"/>
                </a:solidFill>
                <a:latin typeface="Carlito"/>
                <a:ea typeface="Carlito"/>
                <a:cs typeface="Carlito"/>
              </a:defRPr>
            </a:lvl3pPr>
            <a:lvl4pPr algn="l">
              <a:defRPr sz="3100" b="1" i="0">
                <a:solidFill>
                  <a:srgbClr val="D4AF37"/>
                </a:solidFill>
                <a:latin typeface="Carlito"/>
                <a:ea typeface="Carlito"/>
                <a:cs typeface="Carlito"/>
              </a:defRPr>
            </a:lvl4pPr>
            <a:lvl5pPr algn="l">
              <a:defRPr sz="3100" b="1" i="0">
                <a:solidFill>
                  <a:srgbClr val="D4AF37"/>
                </a:solidFill>
                <a:latin typeface="Carlito"/>
                <a:ea typeface="Carlito"/>
                <a:cs typeface="Carlito"/>
              </a:defRPr>
            </a:lvl5pPr>
            <a:lvl6pPr algn="l">
              <a:defRPr sz="3100" b="1" i="0">
                <a:solidFill>
                  <a:srgbClr val="D4AF37"/>
                </a:solidFill>
                <a:latin typeface="Carlito"/>
                <a:ea typeface="Carlito"/>
                <a:cs typeface="Carlito"/>
              </a:defRPr>
            </a:lvl6pPr>
            <a:lvl7pPr algn="l">
              <a:defRPr sz="3100" b="1" i="0">
                <a:solidFill>
                  <a:srgbClr val="D4AF37"/>
                </a:solidFill>
                <a:latin typeface="Carlito"/>
                <a:ea typeface="Carlito"/>
                <a:cs typeface="Carlito"/>
              </a:defRPr>
            </a:lvl7pPr>
            <a:lvl8pPr algn="l">
              <a:defRPr sz="3100" b="1" i="0">
                <a:solidFill>
                  <a:srgbClr val="D4AF37"/>
                </a:solidFill>
                <a:latin typeface="Carlito"/>
                <a:ea typeface="Carlito"/>
                <a:cs typeface="Carlito"/>
              </a:defRPr>
            </a:lvl8pPr>
            <a:lvl9pPr algn="l">
              <a:defRPr sz="3100" b="1" i="0">
                <a:solidFill>
                  <a:srgbClr val="D4AF37"/>
                </a:solidFill>
                <a:latin typeface="Carlito"/>
                <a:ea typeface="Carlito"/>
                <a:cs typeface="Carlito"/>
              </a:defRPr>
            </a:lvl9pPr>
          </a:lstStyle>
          <a:p>
            <a:pPr algn="l">
              <a:defRPr sz="3100" b="1" i="0">
                <a:solidFill>
                  <a:srgbClr val="D4AF37"/>
                </a:solidFill>
                <a:latin typeface="Carlito"/>
                <a:ea typeface="Carlito"/>
                <a:cs typeface="Carlito"/>
              </a:defRPr>
            </a:pPr>
            <a:r>
              <a:rPr sz="3100" b="1" i="0">
                <a:solidFill>
                  <a:srgbClr val="D4AF37"/>
                </a:solidFill>
                <a:latin typeface="Carlito"/>
                <a:ea typeface="Carlito"/>
                <a:cs typeface="Carlito"/>
              </a:rPr>
              <a:t>90</a:t>
            </a:r>
          </a:p>
        </p:txBody>
      </p:sp>
      <p:sp>
        <p:nvSpPr>
          <p:cNvPr id="11" name="Rectangle 10">
            <a:extLst>
              <a:ext uri="{FF2B5EF4-FFF2-40B4-BE49-F238E27FC236}">
                <a16:creationId xmlns:a16="http://schemas.microsoft.com/office/drawing/2014/main" id="{CEA8A2B7-D72F-40E6-BA0B-CB202041A928}"/>
              </a:ext>
            </a:extLst>
          </p:cNvPr>
          <p:cNvSpPr>
            <a:spLocks noGrp="1"/>
          </p:cNvSpPr>
          <p:nvPr/>
        </p:nvSpPr>
        <p:spPr>
          <a:xfrm>
            <a:off x="6905625" y="2095500"/>
            <a:ext cx="1809750" cy="457200"/>
          </a:xfrm>
          <a:prstGeom prst="rect">
            <a:avLst/>
          </a:prstGeom>
          <a:noFill/>
          <a:ln w="0">
            <a:noFill/>
            <a:prstDash val="solid"/>
          </a:ln>
        </p:spPr>
        <p:txBody>
          <a:bodyPr wrap="square" lIns="0" tIns="0" rIns="0" bIns="0" anchor="t">
            <a:normAutofit/>
          </a:bodyPr>
          <a:lstStyle>
            <a:defPPr algn="l">
              <a:defRPr sz="1300" b="0" i="0">
                <a:solidFill>
                  <a:srgbClr val="5F6F7F"/>
                </a:solidFill>
                <a:latin typeface="Carlito"/>
                <a:ea typeface="Carlito"/>
                <a:cs typeface="Carlito"/>
              </a:defRPr>
            </a:defPPr>
            <a:lvl1pPr algn="l">
              <a:defRPr sz="1300" b="0" i="0">
                <a:solidFill>
                  <a:srgbClr val="5F6F7F"/>
                </a:solidFill>
                <a:latin typeface="Carlito"/>
                <a:ea typeface="Carlito"/>
                <a:cs typeface="Carlito"/>
              </a:defRPr>
            </a:lvl1pPr>
            <a:lvl2pPr algn="l">
              <a:defRPr sz="1300" b="0" i="0">
                <a:solidFill>
                  <a:srgbClr val="5F6F7F"/>
                </a:solidFill>
                <a:latin typeface="Carlito"/>
                <a:ea typeface="Carlito"/>
                <a:cs typeface="Carlito"/>
              </a:defRPr>
            </a:lvl2pPr>
            <a:lvl3pPr algn="l">
              <a:defRPr sz="1300" b="0" i="0">
                <a:solidFill>
                  <a:srgbClr val="5F6F7F"/>
                </a:solidFill>
                <a:latin typeface="Carlito"/>
                <a:ea typeface="Carlito"/>
                <a:cs typeface="Carlito"/>
              </a:defRPr>
            </a:lvl3pPr>
            <a:lvl4pPr algn="l">
              <a:defRPr sz="1300" b="0" i="0">
                <a:solidFill>
                  <a:srgbClr val="5F6F7F"/>
                </a:solidFill>
                <a:latin typeface="Carlito"/>
                <a:ea typeface="Carlito"/>
                <a:cs typeface="Carlito"/>
              </a:defRPr>
            </a:lvl4pPr>
            <a:lvl5pPr algn="l">
              <a:defRPr sz="1300" b="0" i="0">
                <a:solidFill>
                  <a:srgbClr val="5F6F7F"/>
                </a:solidFill>
                <a:latin typeface="Carlito"/>
                <a:ea typeface="Carlito"/>
                <a:cs typeface="Carlito"/>
              </a:defRPr>
            </a:lvl5pPr>
            <a:lvl6pPr algn="l">
              <a:defRPr sz="1300" b="0" i="0">
                <a:solidFill>
                  <a:srgbClr val="5F6F7F"/>
                </a:solidFill>
                <a:latin typeface="Carlito"/>
                <a:ea typeface="Carlito"/>
                <a:cs typeface="Carlito"/>
              </a:defRPr>
            </a:lvl6pPr>
            <a:lvl7pPr algn="l">
              <a:defRPr sz="1300" b="0" i="0">
                <a:solidFill>
                  <a:srgbClr val="5F6F7F"/>
                </a:solidFill>
                <a:latin typeface="Carlito"/>
                <a:ea typeface="Carlito"/>
                <a:cs typeface="Carlito"/>
              </a:defRPr>
            </a:lvl7pPr>
            <a:lvl8pPr algn="l">
              <a:defRPr sz="1300" b="0" i="0">
                <a:solidFill>
                  <a:srgbClr val="5F6F7F"/>
                </a:solidFill>
                <a:latin typeface="Carlito"/>
                <a:ea typeface="Carlito"/>
                <a:cs typeface="Carlito"/>
              </a:defRPr>
            </a:lvl8pPr>
            <a:lvl9pPr algn="l">
              <a:defRPr sz="1300" b="0" i="0">
                <a:solidFill>
                  <a:srgbClr val="5F6F7F"/>
                </a:solidFill>
                <a:latin typeface="Carlito"/>
                <a:ea typeface="Carlito"/>
                <a:cs typeface="Carlito"/>
              </a:defRPr>
            </a:lvl9pPr>
          </a:lstStyle>
          <a:p>
            <a:pPr algn="l">
              <a:defRPr sz="1300" b="0" i="0">
                <a:solidFill>
                  <a:srgbClr val="5F6F7F"/>
                </a:solidFill>
                <a:latin typeface="Carlito"/>
                <a:ea typeface="Carlito"/>
                <a:cs typeface="Carlito"/>
              </a:defRPr>
            </a:pPr>
            <a:r>
              <a:rPr sz="1300" b="0" i="0">
                <a:solidFill>
                  <a:srgbClr val="5F6F7F"/>
                </a:solidFill>
                <a:latin typeface="Carlito"/>
                <a:ea typeface="Carlito"/>
                <a:cs typeface="Carlito"/>
              </a:rPr>
              <a:t>deduplicated official medals</a:t>
            </a:r>
          </a:p>
        </p:txBody>
      </p:sp>
      <p:sp>
        <p:nvSpPr>
          <p:cNvPr id="12" name="Rectangle 11">
            <a:extLst>
              <a:ext uri="{FF2B5EF4-FFF2-40B4-BE49-F238E27FC236}">
                <a16:creationId xmlns:a16="http://schemas.microsoft.com/office/drawing/2014/main" id="{017CAB25-1BA3-48AC-BE29-FEEF700DDE01}"/>
              </a:ext>
            </a:extLst>
          </p:cNvPr>
          <p:cNvSpPr>
            <a:spLocks noGrp="1"/>
          </p:cNvSpPr>
          <p:nvPr/>
        </p:nvSpPr>
        <p:spPr>
          <a:xfrm>
            <a:off x="9048750" y="1571625"/>
            <a:ext cx="1809750" cy="514350"/>
          </a:xfrm>
          <a:prstGeom prst="rect">
            <a:avLst/>
          </a:prstGeom>
          <a:noFill/>
          <a:ln w="0">
            <a:noFill/>
            <a:prstDash val="solid"/>
          </a:ln>
        </p:spPr>
        <p:txBody>
          <a:bodyPr wrap="square" lIns="0" tIns="0" rIns="0" bIns="0" anchor="t">
            <a:normAutofit/>
          </a:bodyPr>
          <a:lstStyle>
            <a:defPPr algn="l">
              <a:defRPr sz="3100" b="1" i="0">
                <a:solidFill>
                  <a:srgbClr val="2A9D8F"/>
                </a:solidFill>
                <a:latin typeface="Carlito"/>
                <a:ea typeface="Carlito"/>
                <a:cs typeface="Carlito"/>
              </a:defRPr>
            </a:defPPr>
            <a:lvl1pPr algn="l">
              <a:defRPr sz="3100" b="1" i="0">
                <a:solidFill>
                  <a:srgbClr val="2A9D8F"/>
                </a:solidFill>
                <a:latin typeface="Carlito"/>
                <a:ea typeface="Carlito"/>
                <a:cs typeface="Carlito"/>
              </a:defRPr>
            </a:lvl1pPr>
            <a:lvl2pPr algn="l">
              <a:defRPr sz="3100" b="1" i="0">
                <a:solidFill>
                  <a:srgbClr val="2A9D8F"/>
                </a:solidFill>
                <a:latin typeface="Carlito"/>
                <a:ea typeface="Carlito"/>
                <a:cs typeface="Carlito"/>
              </a:defRPr>
            </a:lvl2pPr>
            <a:lvl3pPr algn="l">
              <a:defRPr sz="3100" b="1" i="0">
                <a:solidFill>
                  <a:srgbClr val="2A9D8F"/>
                </a:solidFill>
                <a:latin typeface="Carlito"/>
                <a:ea typeface="Carlito"/>
                <a:cs typeface="Carlito"/>
              </a:defRPr>
            </a:lvl3pPr>
            <a:lvl4pPr algn="l">
              <a:defRPr sz="3100" b="1" i="0">
                <a:solidFill>
                  <a:srgbClr val="2A9D8F"/>
                </a:solidFill>
                <a:latin typeface="Carlito"/>
                <a:ea typeface="Carlito"/>
                <a:cs typeface="Carlito"/>
              </a:defRPr>
            </a:lvl4pPr>
            <a:lvl5pPr algn="l">
              <a:defRPr sz="3100" b="1" i="0">
                <a:solidFill>
                  <a:srgbClr val="2A9D8F"/>
                </a:solidFill>
                <a:latin typeface="Carlito"/>
                <a:ea typeface="Carlito"/>
                <a:cs typeface="Carlito"/>
              </a:defRPr>
            </a:lvl5pPr>
            <a:lvl6pPr algn="l">
              <a:defRPr sz="3100" b="1" i="0">
                <a:solidFill>
                  <a:srgbClr val="2A9D8F"/>
                </a:solidFill>
                <a:latin typeface="Carlito"/>
                <a:ea typeface="Carlito"/>
                <a:cs typeface="Carlito"/>
              </a:defRPr>
            </a:lvl6pPr>
            <a:lvl7pPr algn="l">
              <a:defRPr sz="3100" b="1" i="0">
                <a:solidFill>
                  <a:srgbClr val="2A9D8F"/>
                </a:solidFill>
                <a:latin typeface="Carlito"/>
                <a:ea typeface="Carlito"/>
                <a:cs typeface="Carlito"/>
              </a:defRPr>
            </a:lvl7pPr>
            <a:lvl8pPr algn="l">
              <a:defRPr sz="3100" b="1" i="0">
                <a:solidFill>
                  <a:srgbClr val="2A9D8F"/>
                </a:solidFill>
                <a:latin typeface="Carlito"/>
                <a:ea typeface="Carlito"/>
                <a:cs typeface="Carlito"/>
              </a:defRPr>
            </a:lvl8pPr>
            <a:lvl9pPr algn="l">
              <a:defRPr sz="3100" b="1" i="0">
                <a:solidFill>
                  <a:srgbClr val="2A9D8F"/>
                </a:solidFill>
                <a:latin typeface="Carlito"/>
                <a:ea typeface="Carlito"/>
                <a:cs typeface="Carlito"/>
              </a:defRPr>
            </a:lvl9pPr>
          </a:lstStyle>
          <a:p>
            <a:pPr algn="l">
              <a:defRPr sz="3100" b="1" i="0">
                <a:solidFill>
                  <a:srgbClr val="2A9D8F"/>
                </a:solidFill>
                <a:latin typeface="Carlito"/>
                <a:ea typeface="Carlito"/>
                <a:cs typeface="Carlito"/>
              </a:defRPr>
            </a:pPr>
            <a:r>
              <a:rPr sz="3100" b="1" i="0">
                <a:solidFill>
                  <a:srgbClr val="2A9D8F"/>
                </a:solidFill>
                <a:latin typeface="Carlito"/>
                <a:ea typeface="Carlito"/>
                <a:cs typeface="Carlito"/>
              </a:rPr>
              <a:t>10</a:t>
            </a:r>
          </a:p>
        </p:txBody>
      </p:sp>
      <p:sp>
        <p:nvSpPr>
          <p:cNvPr id="13" name="Rectangle 12">
            <a:extLst>
              <a:ext uri="{FF2B5EF4-FFF2-40B4-BE49-F238E27FC236}">
                <a16:creationId xmlns:a16="http://schemas.microsoft.com/office/drawing/2014/main" id="{F60F1DA5-A26D-427C-91A0-299BC406A117}"/>
              </a:ext>
            </a:extLst>
          </p:cNvPr>
          <p:cNvSpPr>
            <a:spLocks noGrp="1"/>
          </p:cNvSpPr>
          <p:nvPr/>
        </p:nvSpPr>
        <p:spPr>
          <a:xfrm>
            <a:off x="9048750" y="2095500"/>
            <a:ext cx="1809750" cy="457200"/>
          </a:xfrm>
          <a:prstGeom prst="rect">
            <a:avLst/>
          </a:prstGeom>
          <a:noFill/>
          <a:ln w="0">
            <a:noFill/>
            <a:prstDash val="solid"/>
          </a:ln>
        </p:spPr>
        <p:txBody>
          <a:bodyPr wrap="square" lIns="0" tIns="0" rIns="0" bIns="0" anchor="t">
            <a:normAutofit/>
          </a:bodyPr>
          <a:lstStyle>
            <a:defPPr algn="l">
              <a:defRPr sz="1300" b="0" i="0">
                <a:solidFill>
                  <a:srgbClr val="5F6F7F"/>
                </a:solidFill>
                <a:latin typeface="Carlito"/>
                <a:ea typeface="Carlito"/>
                <a:cs typeface="Carlito"/>
              </a:defRPr>
            </a:defPPr>
            <a:lvl1pPr algn="l">
              <a:defRPr sz="1300" b="0" i="0">
                <a:solidFill>
                  <a:srgbClr val="5F6F7F"/>
                </a:solidFill>
                <a:latin typeface="Carlito"/>
                <a:ea typeface="Carlito"/>
                <a:cs typeface="Carlito"/>
              </a:defRPr>
            </a:lvl1pPr>
            <a:lvl2pPr algn="l">
              <a:defRPr sz="1300" b="0" i="0">
                <a:solidFill>
                  <a:srgbClr val="5F6F7F"/>
                </a:solidFill>
                <a:latin typeface="Carlito"/>
                <a:ea typeface="Carlito"/>
                <a:cs typeface="Carlito"/>
              </a:defRPr>
            </a:lvl2pPr>
            <a:lvl3pPr algn="l">
              <a:defRPr sz="1300" b="0" i="0">
                <a:solidFill>
                  <a:srgbClr val="5F6F7F"/>
                </a:solidFill>
                <a:latin typeface="Carlito"/>
                <a:ea typeface="Carlito"/>
                <a:cs typeface="Carlito"/>
              </a:defRPr>
            </a:lvl3pPr>
            <a:lvl4pPr algn="l">
              <a:defRPr sz="1300" b="0" i="0">
                <a:solidFill>
                  <a:srgbClr val="5F6F7F"/>
                </a:solidFill>
                <a:latin typeface="Carlito"/>
                <a:ea typeface="Carlito"/>
                <a:cs typeface="Carlito"/>
              </a:defRPr>
            </a:lvl4pPr>
            <a:lvl5pPr algn="l">
              <a:defRPr sz="1300" b="0" i="0">
                <a:solidFill>
                  <a:srgbClr val="5F6F7F"/>
                </a:solidFill>
                <a:latin typeface="Carlito"/>
                <a:ea typeface="Carlito"/>
                <a:cs typeface="Carlito"/>
              </a:defRPr>
            </a:lvl5pPr>
            <a:lvl6pPr algn="l">
              <a:defRPr sz="1300" b="0" i="0">
                <a:solidFill>
                  <a:srgbClr val="5F6F7F"/>
                </a:solidFill>
                <a:latin typeface="Carlito"/>
                <a:ea typeface="Carlito"/>
                <a:cs typeface="Carlito"/>
              </a:defRPr>
            </a:lvl6pPr>
            <a:lvl7pPr algn="l">
              <a:defRPr sz="1300" b="0" i="0">
                <a:solidFill>
                  <a:srgbClr val="5F6F7F"/>
                </a:solidFill>
                <a:latin typeface="Carlito"/>
                <a:ea typeface="Carlito"/>
                <a:cs typeface="Carlito"/>
              </a:defRPr>
            </a:lvl7pPr>
            <a:lvl8pPr algn="l">
              <a:defRPr sz="1300" b="0" i="0">
                <a:solidFill>
                  <a:srgbClr val="5F6F7F"/>
                </a:solidFill>
                <a:latin typeface="Carlito"/>
                <a:ea typeface="Carlito"/>
                <a:cs typeface="Carlito"/>
              </a:defRPr>
            </a:lvl8pPr>
            <a:lvl9pPr algn="l">
              <a:defRPr sz="1300" b="0" i="0">
                <a:solidFill>
                  <a:srgbClr val="5F6F7F"/>
                </a:solidFill>
                <a:latin typeface="Carlito"/>
                <a:ea typeface="Carlito"/>
                <a:cs typeface="Carlito"/>
              </a:defRPr>
            </a:lvl9pPr>
          </a:lstStyle>
          <a:p>
            <a:pPr algn="l">
              <a:defRPr sz="1300" b="0" i="0">
                <a:solidFill>
                  <a:srgbClr val="5F6F7F"/>
                </a:solidFill>
                <a:latin typeface="Carlito"/>
                <a:ea typeface="Carlito"/>
                <a:cs typeface="Carlito"/>
              </a:defRPr>
            </a:pPr>
            <a:r>
              <a:rPr sz="1300" b="0" i="0">
                <a:solidFill>
                  <a:srgbClr val="5F6F7F"/>
                </a:solidFill>
                <a:latin typeface="Carlito"/>
                <a:ea typeface="Carlito"/>
                <a:cs typeface="Carlito"/>
              </a:rPr>
              <a:t>ASEAN countries represented</a:t>
            </a:r>
          </a:p>
        </p:txBody>
      </p:sp>
      <p:sp>
        <p:nvSpPr>
          <p:cNvPr id="14" name="Rectangle 13">
            <a:extLst>
              <a:ext uri="{FF2B5EF4-FFF2-40B4-BE49-F238E27FC236}">
                <a16:creationId xmlns:a16="http://schemas.microsoft.com/office/drawing/2014/main" id="{BDC23163-C55E-438A-9754-85EDAC2CDC2F}"/>
              </a:ext>
            </a:extLst>
          </p:cNvPr>
          <p:cNvSpPr>
            <a:spLocks noGrp="1"/>
          </p:cNvSpPr>
          <p:nvPr/>
        </p:nvSpPr>
        <p:spPr>
          <a:xfrm>
            <a:off x="666750" y="2647950"/>
            <a:ext cx="10239375" cy="19050"/>
          </a:xfrm>
          <a:prstGeom prst="rect">
            <a:avLst/>
          </a:prstGeom>
          <a:solidFill>
            <a:srgbClr val="D8E1EA"/>
          </a:solidFill>
          <a:ln w="0">
            <a:noFill/>
            <a:prstDash val="solid"/>
          </a:ln>
        </p:spPr>
        <p:txBody>
          <a:bodyPr/>
          <a:lstStyle/>
          <a:p>
            <a:endParaRPr lang="en-SG"/>
          </a:p>
        </p:txBody>
      </p:sp>
      <p:sp>
        <p:nvSpPr>
          <p:cNvPr id="15" name="Rectangle 14">
            <a:extLst>
              <a:ext uri="{FF2B5EF4-FFF2-40B4-BE49-F238E27FC236}">
                <a16:creationId xmlns:a16="http://schemas.microsoft.com/office/drawing/2014/main" id="{A869ABB6-498A-44AA-8F85-4577E6BB13D4}"/>
              </a:ext>
            </a:extLst>
          </p:cNvPr>
          <p:cNvSpPr>
            <a:spLocks noGrp="1"/>
          </p:cNvSpPr>
          <p:nvPr/>
        </p:nvSpPr>
        <p:spPr>
          <a:xfrm>
            <a:off x="666750" y="3000375"/>
            <a:ext cx="3810000" cy="304800"/>
          </a:xfrm>
          <a:prstGeom prst="rect">
            <a:avLst/>
          </a:prstGeom>
          <a:noFill/>
          <a:ln w="0">
            <a:noFill/>
            <a:prstDash val="solid"/>
          </a:ln>
        </p:spPr>
        <p:txBody>
          <a:bodyPr wrap="square" lIns="0" tIns="0" rIns="0" bIns="0" anchor="t">
            <a:normAutofit/>
          </a:bodyPr>
          <a:lstStyle>
            <a:defPPr algn="l">
              <a:defRPr sz="1800" b="1" i="0">
                <a:solidFill>
                  <a:srgbClr val="071B33"/>
                </a:solidFill>
                <a:latin typeface="Carlito"/>
                <a:ea typeface="Carlito"/>
                <a:cs typeface="Carlito"/>
              </a:defRPr>
            </a:defPPr>
            <a:lvl1pPr algn="l">
              <a:defRPr sz="1800" b="1" i="0">
                <a:solidFill>
                  <a:srgbClr val="071B33"/>
                </a:solidFill>
                <a:latin typeface="Carlito"/>
                <a:ea typeface="Carlito"/>
                <a:cs typeface="Carlito"/>
              </a:defRPr>
            </a:lvl1pPr>
            <a:lvl2pPr algn="l">
              <a:defRPr sz="1800" b="1" i="0">
                <a:solidFill>
                  <a:srgbClr val="071B33"/>
                </a:solidFill>
                <a:latin typeface="Carlito"/>
                <a:ea typeface="Carlito"/>
                <a:cs typeface="Carlito"/>
              </a:defRPr>
            </a:lvl2pPr>
            <a:lvl3pPr algn="l">
              <a:defRPr sz="1800" b="1" i="0">
                <a:solidFill>
                  <a:srgbClr val="071B33"/>
                </a:solidFill>
                <a:latin typeface="Carlito"/>
                <a:ea typeface="Carlito"/>
                <a:cs typeface="Carlito"/>
              </a:defRPr>
            </a:lvl3pPr>
            <a:lvl4pPr algn="l">
              <a:defRPr sz="1800" b="1" i="0">
                <a:solidFill>
                  <a:srgbClr val="071B33"/>
                </a:solidFill>
                <a:latin typeface="Carlito"/>
                <a:ea typeface="Carlito"/>
                <a:cs typeface="Carlito"/>
              </a:defRPr>
            </a:lvl4pPr>
            <a:lvl5pPr algn="l">
              <a:defRPr sz="1800" b="1" i="0">
                <a:solidFill>
                  <a:srgbClr val="071B33"/>
                </a:solidFill>
                <a:latin typeface="Carlito"/>
                <a:ea typeface="Carlito"/>
                <a:cs typeface="Carlito"/>
              </a:defRPr>
            </a:lvl5pPr>
            <a:lvl6pPr algn="l">
              <a:defRPr sz="1800" b="1" i="0">
                <a:solidFill>
                  <a:srgbClr val="071B33"/>
                </a:solidFill>
                <a:latin typeface="Carlito"/>
                <a:ea typeface="Carlito"/>
                <a:cs typeface="Carlito"/>
              </a:defRPr>
            </a:lvl6pPr>
            <a:lvl7pPr algn="l">
              <a:defRPr sz="1800" b="1" i="0">
                <a:solidFill>
                  <a:srgbClr val="071B33"/>
                </a:solidFill>
                <a:latin typeface="Carlito"/>
                <a:ea typeface="Carlito"/>
                <a:cs typeface="Carlito"/>
              </a:defRPr>
            </a:lvl7pPr>
            <a:lvl8pPr algn="l">
              <a:defRPr sz="1800" b="1" i="0">
                <a:solidFill>
                  <a:srgbClr val="071B33"/>
                </a:solidFill>
                <a:latin typeface="Carlito"/>
                <a:ea typeface="Carlito"/>
                <a:cs typeface="Carlito"/>
              </a:defRPr>
            </a:lvl8pPr>
            <a:lvl9pPr algn="l">
              <a:defRPr sz="1800" b="1" i="0">
                <a:solidFill>
                  <a:srgbClr val="071B33"/>
                </a:solidFill>
                <a:latin typeface="Carlito"/>
                <a:ea typeface="Carlito"/>
                <a:cs typeface="Carlito"/>
              </a:defRPr>
            </a:lvl9pPr>
          </a:lstStyle>
          <a:p>
            <a:pPr algn="l">
              <a:defRPr sz="1800" b="1" i="0">
                <a:solidFill>
                  <a:srgbClr val="071B33"/>
                </a:solidFill>
                <a:latin typeface="Carlito"/>
                <a:ea typeface="Carlito"/>
                <a:cs typeface="Carlito"/>
              </a:defRPr>
            </a:pPr>
            <a:r>
              <a:rPr sz="1800" b="1" i="0">
                <a:solidFill>
                  <a:srgbClr val="071B33"/>
                </a:solidFill>
                <a:latin typeface="Carlito"/>
                <a:ea typeface="Carlito"/>
                <a:cs typeface="Carlito"/>
              </a:rPr>
              <a:t>Key cleaning decisions</a:t>
            </a:r>
          </a:p>
        </p:txBody>
      </p:sp>
      <p:sp>
        <p:nvSpPr>
          <p:cNvPr id="16" name="Rectangle 15">
            <a:extLst>
              <a:ext uri="{FF2B5EF4-FFF2-40B4-BE49-F238E27FC236}">
                <a16:creationId xmlns:a16="http://schemas.microsoft.com/office/drawing/2014/main" id="{8B812B6B-EB47-4ACE-B83E-632D30883A9A}"/>
              </a:ext>
            </a:extLst>
          </p:cNvPr>
          <p:cNvSpPr>
            <a:spLocks noGrp="1"/>
          </p:cNvSpPr>
          <p:nvPr/>
        </p:nvSpPr>
        <p:spPr>
          <a:xfrm>
            <a:off x="666750" y="3476625"/>
            <a:ext cx="171450" cy="495300"/>
          </a:xfrm>
          <a:prstGeom prst="rect">
            <a:avLst/>
          </a:prstGeom>
          <a:noFill/>
          <a:ln w="0">
            <a:noFill/>
            <a:prstDash val="solid"/>
          </a:ln>
        </p:spPr>
        <p:txBody>
          <a:bodyPr wrap="square" lIns="0" tIns="0" rIns="0" bIns="0" anchor="t">
            <a:normAutofit/>
          </a:bodyPr>
          <a:lstStyle>
            <a:defPPr algn="l">
              <a:defRPr sz="1600" b="1" i="0">
                <a:solidFill>
                  <a:srgbClr val="D4AF37"/>
                </a:solidFill>
                <a:latin typeface="Carlito"/>
                <a:ea typeface="Carlito"/>
                <a:cs typeface="Carlito"/>
              </a:defRPr>
            </a:defPPr>
            <a:lvl1pPr algn="l">
              <a:defRPr sz="1600" b="1" i="0">
                <a:solidFill>
                  <a:srgbClr val="D4AF37"/>
                </a:solidFill>
                <a:latin typeface="Carlito"/>
                <a:ea typeface="Carlito"/>
                <a:cs typeface="Carlito"/>
              </a:defRPr>
            </a:lvl1pPr>
            <a:lvl2pPr algn="l">
              <a:defRPr sz="1600" b="1" i="0">
                <a:solidFill>
                  <a:srgbClr val="D4AF37"/>
                </a:solidFill>
                <a:latin typeface="Carlito"/>
                <a:ea typeface="Carlito"/>
                <a:cs typeface="Carlito"/>
              </a:defRPr>
            </a:lvl2pPr>
            <a:lvl3pPr algn="l">
              <a:defRPr sz="1600" b="1" i="0">
                <a:solidFill>
                  <a:srgbClr val="D4AF37"/>
                </a:solidFill>
                <a:latin typeface="Carlito"/>
                <a:ea typeface="Carlito"/>
                <a:cs typeface="Carlito"/>
              </a:defRPr>
            </a:lvl3pPr>
            <a:lvl4pPr algn="l">
              <a:defRPr sz="1600" b="1" i="0">
                <a:solidFill>
                  <a:srgbClr val="D4AF37"/>
                </a:solidFill>
                <a:latin typeface="Carlito"/>
                <a:ea typeface="Carlito"/>
                <a:cs typeface="Carlito"/>
              </a:defRPr>
            </a:lvl4pPr>
            <a:lvl5pPr algn="l">
              <a:defRPr sz="1600" b="1" i="0">
                <a:solidFill>
                  <a:srgbClr val="D4AF37"/>
                </a:solidFill>
                <a:latin typeface="Carlito"/>
                <a:ea typeface="Carlito"/>
                <a:cs typeface="Carlito"/>
              </a:defRPr>
            </a:lvl5pPr>
            <a:lvl6pPr algn="l">
              <a:defRPr sz="1600" b="1" i="0">
                <a:solidFill>
                  <a:srgbClr val="D4AF37"/>
                </a:solidFill>
                <a:latin typeface="Carlito"/>
                <a:ea typeface="Carlito"/>
                <a:cs typeface="Carlito"/>
              </a:defRPr>
            </a:lvl6pPr>
            <a:lvl7pPr algn="l">
              <a:defRPr sz="1600" b="1" i="0">
                <a:solidFill>
                  <a:srgbClr val="D4AF37"/>
                </a:solidFill>
                <a:latin typeface="Carlito"/>
                <a:ea typeface="Carlito"/>
                <a:cs typeface="Carlito"/>
              </a:defRPr>
            </a:lvl7pPr>
            <a:lvl8pPr algn="l">
              <a:defRPr sz="1600" b="1" i="0">
                <a:solidFill>
                  <a:srgbClr val="D4AF37"/>
                </a:solidFill>
                <a:latin typeface="Carlito"/>
                <a:ea typeface="Carlito"/>
                <a:cs typeface="Carlito"/>
              </a:defRPr>
            </a:lvl8pPr>
            <a:lvl9pPr algn="l">
              <a:defRPr sz="1600" b="1" i="0">
                <a:solidFill>
                  <a:srgbClr val="D4AF37"/>
                </a:solidFill>
                <a:latin typeface="Carlito"/>
                <a:ea typeface="Carlito"/>
                <a:cs typeface="Carlito"/>
              </a:defRPr>
            </a:lvl9pPr>
          </a:lstStyle>
          <a:p>
            <a:pPr algn="l">
              <a:defRPr sz="1600" b="1" i="0">
                <a:solidFill>
                  <a:srgbClr val="D4AF37"/>
                </a:solidFill>
                <a:latin typeface="Carlito"/>
                <a:ea typeface="Carlito"/>
                <a:cs typeface="Carlito"/>
              </a:defRPr>
            </a:pPr>
            <a:r>
              <a:rPr sz="1600" b="1" i="0">
                <a:solidFill>
                  <a:srgbClr val="D4AF37"/>
                </a:solidFill>
                <a:latin typeface="Carlito"/>
                <a:ea typeface="Carlito"/>
                <a:cs typeface="Carlito"/>
              </a:rPr>
              <a:t>•</a:t>
            </a:r>
          </a:p>
        </p:txBody>
      </p:sp>
      <p:sp>
        <p:nvSpPr>
          <p:cNvPr id="17" name="Rectangle 16">
            <a:extLst>
              <a:ext uri="{FF2B5EF4-FFF2-40B4-BE49-F238E27FC236}">
                <a16:creationId xmlns:a16="http://schemas.microsoft.com/office/drawing/2014/main" id="{2B0A4AD6-C3CF-47FC-8C41-6C980BFED2E4}"/>
              </a:ext>
            </a:extLst>
          </p:cNvPr>
          <p:cNvSpPr>
            <a:spLocks noGrp="1"/>
          </p:cNvSpPr>
          <p:nvPr/>
        </p:nvSpPr>
        <p:spPr>
          <a:xfrm>
            <a:off x="895350" y="3476625"/>
            <a:ext cx="4724400" cy="495300"/>
          </a:xfrm>
          <a:prstGeom prst="rect">
            <a:avLst/>
          </a:prstGeom>
          <a:noFill/>
          <a:ln w="0">
            <a:noFill/>
            <a:prstDash val="solid"/>
          </a:ln>
        </p:spPr>
        <p:txBody>
          <a:bodyPr wrap="square" lIns="0" tIns="0" rIns="0" bIns="0" anchor="t">
            <a:normAutofit/>
          </a:bodyPr>
          <a:lstStyle>
            <a:defPPr algn="l">
              <a:defRPr sz="1600" b="0" i="0">
                <a:solidFill>
                  <a:srgbClr val="152536"/>
                </a:solidFill>
                <a:latin typeface="Carlito"/>
                <a:ea typeface="Carlito"/>
                <a:cs typeface="Carlito"/>
              </a:defRPr>
            </a:defPPr>
            <a:lvl1pPr algn="l">
              <a:defRPr sz="1600" b="0" i="0">
                <a:solidFill>
                  <a:srgbClr val="152536"/>
                </a:solidFill>
                <a:latin typeface="Carlito"/>
                <a:ea typeface="Carlito"/>
                <a:cs typeface="Carlito"/>
              </a:defRPr>
            </a:lvl1pPr>
            <a:lvl2pPr algn="l">
              <a:defRPr sz="1600" b="0" i="0">
                <a:solidFill>
                  <a:srgbClr val="152536"/>
                </a:solidFill>
                <a:latin typeface="Carlito"/>
                <a:ea typeface="Carlito"/>
                <a:cs typeface="Carlito"/>
              </a:defRPr>
            </a:lvl2pPr>
            <a:lvl3pPr algn="l">
              <a:defRPr sz="1600" b="0" i="0">
                <a:solidFill>
                  <a:srgbClr val="152536"/>
                </a:solidFill>
                <a:latin typeface="Carlito"/>
                <a:ea typeface="Carlito"/>
                <a:cs typeface="Carlito"/>
              </a:defRPr>
            </a:lvl3pPr>
            <a:lvl4pPr algn="l">
              <a:defRPr sz="1600" b="0" i="0">
                <a:solidFill>
                  <a:srgbClr val="152536"/>
                </a:solidFill>
                <a:latin typeface="Carlito"/>
                <a:ea typeface="Carlito"/>
                <a:cs typeface="Carlito"/>
              </a:defRPr>
            </a:lvl4pPr>
            <a:lvl5pPr algn="l">
              <a:defRPr sz="1600" b="0" i="0">
                <a:solidFill>
                  <a:srgbClr val="152536"/>
                </a:solidFill>
                <a:latin typeface="Carlito"/>
                <a:ea typeface="Carlito"/>
                <a:cs typeface="Carlito"/>
              </a:defRPr>
            </a:lvl5pPr>
            <a:lvl6pPr algn="l">
              <a:defRPr sz="1600" b="0" i="0">
                <a:solidFill>
                  <a:srgbClr val="152536"/>
                </a:solidFill>
                <a:latin typeface="Carlito"/>
                <a:ea typeface="Carlito"/>
                <a:cs typeface="Carlito"/>
              </a:defRPr>
            </a:lvl6pPr>
            <a:lvl7pPr algn="l">
              <a:defRPr sz="1600" b="0" i="0">
                <a:solidFill>
                  <a:srgbClr val="152536"/>
                </a:solidFill>
                <a:latin typeface="Carlito"/>
                <a:ea typeface="Carlito"/>
                <a:cs typeface="Carlito"/>
              </a:defRPr>
            </a:lvl7pPr>
            <a:lvl8pPr algn="l">
              <a:defRPr sz="1600" b="0" i="0">
                <a:solidFill>
                  <a:srgbClr val="152536"/>
                </a:solidFill>
                <a:latin typeface="Carlito"/>
                <a:ea typeface="Carlito"/>
                <a:cs typeface="Carlito"/>
              </a:defRPr>
            </a:lvl8pPr>
            <a:lvl9pPr algn="l">
              <a:defRPr sz="1600" b="0" i="0">
                <a:solidFill>
                  <a:srgbClr val="152536"/>
                </a:solidFill>
                <a:latin typeface="Carlito"/>
                <a:ea typeface="Carlito"/>
                <a:cs typeface="Carlito"/>
              </a:defRPr>
            </a:lvl9pPr>
          </a:lstStyle>
          <a:p>
            <a:pPr algn="l">
              <a:defRPr sz="1600" b="0" i="0">
                <a:solidFill>
                  <a:srgbClr val="152536"/>
                </a:solidFill>
                <a:latin typeface="Carlito"/>
                <a:ea typeface="Carlito"/>
                <a:cs typeface="Carlito"/>
              </a:defRPr>
            </a:pPr>
            <a:r>
              <a:rPr sz="1400" b="0" i="0" dirty="0">
                <a:solidFill>
                  <a:srgbClr val="152536"/>
                </a:solidFill>
                <a:latin typeface="Carlito"/>
                <a:ea typeface="Carlito"/>
                <a:cs typeface="Carlito"/>
              </a:rPr>
              <a:t>Merged country names using NOC codes and resolved unmatched codes, including SGP.</a:t>
            </a:r>
          </a:p>
        </p:txBody>
      </p:sp>
      <p:sp>
        <p:nvSpPr>
          <p:cNvPr id="18" name="Rectangle 17">
            <a:extLst>
              <a:ext uri="{FF2B5EF4-FFF2-40B4-BE49-F238E27FC236}">
                <a16:creationId xmlns:a16="http://schemas.microsoft.com/office/drawing/2014/main" id="{AF0CCF84-9FF4-47F8-9CF2-4D230B3FA51B}"/>
              </a:ext>
            </a:extLst>
          </p:cNvPr>
          <p:cNvSpPr>
            <a:spLocks noGrp="1"/>
          </p:cNvSpPr>
          <p:nvPr/>
        </p:nvSpPr>
        <p:spPr>
          <a:xfrm>
            <a:off x="666750" y="4095750"/>
            <a:ext cx="171450" cy="438150"/>
          </a:xfrm>
          <a:prstGeom prst="rect">
            <a:avLst/>
          </a:prstGeom>
          <a:noFill/>
          <a:ln w="0">
            <a:noFill/>
            <a:prstDash val="solid"/>
          </a:ln>
        </p:spPr>
        <p:txBody>
          <a:bodyPr wrap="square" lIns="0" tIns="0" rIns="0" bIns="0" anchor="t">
            <a:normAutofit/>
          </a:bodyPr>
          <a:lstStyle>
            <a:defPPr algn="l">
              <a:defRPr sz="1600" b="1" i="0">
                <a:solidFill>
                  <a:srgbClr val="D4AF37"/>
                </a:solidFill>
                <a:latin typeface="Carlito"/>
                <a:ea typeface="Carlito"/>
                <a:cs typeface="Carlito"/>
              </a:defRPr>
            </a:defPPr>
            <a:lvl1pPr algn="l">
              <a:defRPr sz="1600" b="1" i="0">
                <a:solidFill>
                  <a:srgbClr val="D4AF37"/>
                </a:solidFill>
                <a:latin typeface="Carlito"/>
                <a:ea typeface="Carlito"/>
                <a:cs typeface="Carlito"/>
              </a:defRPr>
            </a:lvl1pPr>
            <a:lvl2pPr algn="l">
              <a:defRPr sz="1600" b="1" i="0">
                <a:solidFill>
                  <a:srgbClr val="D4AF37"/>
                </a:solidFill>
                <a:latin typeface="Carlito"/>
                <a:ea typeface="Carlito"/>
                <a:cs typeface="Carlito"/>
              </a:defRPr>
            </a:lvl2pPr>
            <a:lvl3pPr algn="l">
              <a:defRPr sz="1600" b="1" i="0">
                <a:solidFill>
                  <a:srgbClr val="D4AF37"/>
                </a:solidFill>
                <a:latin typeface="Carlito"/>
                <a:ea typeface="Carlito"/>
                <a:cs typeface="Carlito"/>
              </a:defRPr>
            </a:lvl3pPr>
            <a:lvl4pPr algn="l">
              <a:defRPr sz="1600" b="1" i="0">
                <a:solidFill>
                  <a:srgbClr val="D4AF37"/>
                </a:solidFill>
                <a:latin typeface="Carlito"/>
                <a:ea typeface="Carlito"/>
                <a:cs typeface="Carlito"/>
              </a:defRPr>
            </a:lvl4pPr>
            <a:lvl5pPr algn="l">
              <a:defRPr sz="1600" b="1" i="0">
                <a:solidFill>
                  <a:srgbClr val="D4AF37"/>
                </a:solidFill>
                <a:latin typeface="Carlito"/>
                <a:ea typeface="Carlito"/>
                <a:cs typeface="Carlito"/>
              </a:defRPr>
            </a:lvl5pPr>
            <a:lvl6pPr algn="l">
              <a:defRPr sz="1600" b="1" i="0">
                <a:solidFill>
                  <a:srgbClr val="D4AF37"/>
                </a:solidFill>
                <a:latin typeface="Carlito"/>
                <a:ea typeface="Carlito"/>
                <a:cs typeface="Carlito"/>
              </a:defRPr>
            </a:lvl6pPr>
            <a:lvl7pPr algn="l">
              <a:defRPr sz="1600" b="1" i="0">
                <a:solidFill>
                  <a:srgbClr val="D4AF37"/>
                </a:solidFill>
                <a:latin typeface="Carlito"/>
                <a:ea typeface="Carlito"/>
                <a:cs typeface="Carlito"/>
              </a:defRPr>
            </a:lvl7pPr>
            <a:lvl8pPr algn="l">
              <a:defRPr sz="1600" b="1" i="0">
                <a:solidFill>
                  <a:srgbClr val="D4AF37"/>
                </a:solidFill>
                <a:latin typeface="Carlito"/>
                <a:ea typeface="Carlito"/>
                <a:cs typeface="Carlito"/>
              </a:defRPr>
            </a:lvl8pPr>
            <a:lvl9pPr algn="l">
              <a:defRPr sz="1600" b="1" i="0">
                <a:solidFill>
                  <a:srgbClr val="D4AF37"/>
                </a:solidFill>
                <a:latin typeface="Carlito"/>
                <a:ea typeface="Carlito"/>
                <a:cs typeface="Carlito"/>
              </a:defRPr>
            </a:lvl9pPr>
          </a:lstStyle>
          <a:p>
            <a:pPr algn="l">
              <a:defRPr sz="1600" b="1" i="0">
                <a:solidFill>
                  <a:srgbClr val="D4AF37"/>
                </a:solidFill>
                <a:latin typeface="Carlito"/>
                <a:ea typeface="Carlito"/>
                <a:cs typeface="Carlito"/>
              </a:defRPr>
            </a:pPr>
            <a:r>
              <a:rPr sz="1600" b="1" i="0">
                <a:solidFill>
                  <a:srgbClr val="D4AF37"/>
                </a:solidFill>
                <a:latin typeface="Carlito"/>
                <a:ea typeface="Carlito"/>
                <a:cs typeface="Carlito"/>
              </a:rPr>
              <a:t>•</a:t>
            </a:r>
          </a:p>
        </p:txBody>
      </p:sp>
      <p:sp>
        <p:nvSpPr>
          <p:cNvPr id="19" name="Rectangle 18">
            <a:extLst>
              <a:ext uri="{FF2B5EF4-FFF2-40B4-BE49-F238E27FC236}">
                <a16:creationId xmlns:a16="http://schemas.microsoft.com/office/drawing/2014/main" id="{0BFB425F-D41E-4539-9935-FB63C7D199FF}"/>
              </a:ext>
            </a:extLst>
          </p:cNvPr>
          <p:cNvSpPr>
            <a:spLocks noGrp="1"/>
          </p:cNvSpPr>
          <p:nvPr/>
        </p:nvSpPr>
        <p:spPr>
          <a:xfrm>
            <a:off x="895350" y="4095750"/>
            <a:ext cx="4724400" cy="438150"/>
          </a:xfrm>
          <a:prstGeom prst="rect">
            <a:avLst/>
          </a:prstGeom>
          <a:noFill/>
          <a:ln w="0">
            <a:noFill/>
            <a:prstDash val="solid"/>
          </a:ln>
        </p:spPr>
        <p:txBody>
          <a:bodyPr wrap="square" lIns="0" tIns="0" rIns="0" bIns="0" anchor="t">
            <a:normAutofit fontScale="89844"/>
          </a:bodyPr>
          <a:lstStyle>
            <a:defPPr algn="l">
              <a:defRPr sz="1600" b="0" i="0">
                <a:solidFill>
                  <a:srgbClr val="152536"/>
                </a:solidFill>
                <a:latin typeface="Carlito"/>
                <a:ea typeface="Carlito"/>
                <a:cs typeface="Carlito"/>
              </a:defRPr>
            </a:defPPr>
            <a:lvl1pPr algn="l">
              <a:defRPr sz="1600" b="0" i="0">
                <a:solidFill>
                  <a:srgbClr val="152536"/>
                </a:solidFill>
                <a:latin typeface="Carlito"/>
                <a:ea typeface="Carlito"/>
                <a:cs typeface="Carlito"/>
              </a:defRPr>
            </a:lvl1pPr>
            <a:lvl2pPr algn="l">
              <a:defRPr sz="1600" b="0" i="0">
                <a:solidFill>
                  <a:srgbClr val="152536"/>
                </a:solidFill>
                <a:latin typeface="Carlito"/>
                <a:ea typeface="Carlito"/>
                <a:cs typeface="Carlito"/>
              </a:defRPr>
            </a:lvl2pPr>
            <a:lvl3pPr algn="l">
              <a:defRPr sz="1600" b="0" i="0">
                <a:solidFill>
                  <a:srgbClr val="152536"/>
                </a:solidFill>
                <a:latin typeface="Carlito"/>
                <a:ea typeface="Carlito"/>
                <a:cs typeface="Carlito"/>
              </a:defRPr>
            </a:lvl3pPr>
            <a:lvl4pPr algn="l">
              <a:defRPr sz="1600" b="0" i="0">
                <a:solidFill>
                  <a:srgbClr val="152536"/>
                </a:solidFill>
                <a:latin typeface="Carlito"/>
                <a:ea typeface="Carlito"/>
                <a:cs typeface="Carlito"/>
              </a:defRPr>
            </a:lvl4pPr>
            <a:lvl5pPr algn="l">
              <a:defRPr sz="1600" b="0" i="0">
                <a:solidFill>
                  <a:srgbClr val="152536"/>
                </a:solidFill>
                <a:latin typeface="Carlito"/>
                <a:ea typeface="Carlito"/>
                <a:cs typeface="Carlito"/>
              </a:defRPr>
            </a:lvl5pPr>
            <a:lvl6pPr algn="l">
              <a:defRPr sz="1600" b="0" i="0">
                <a:solidFill>
                  <a:srgbClr val="152536"/>
                </a:solidFill>
                <a:latin typeface="Carlito"/>
                <a:ea typeface="Carlito"/>
                <a:cs typeface="Carlito"/>
              </a:defRPr>
            </a:lvl6pPr>
            <a:lvl7pPr algn="l">
              <a:defRPr sz="1600" b="0" i="0">
                <a:solidFill>
                  <a:srgbClr val="152536"/>
                </a:solidFill>
                <a:latin typeface="Carlito"/>
                <a:ea typeface="Carlito"/>
                <a:cs typeface="Carlito"/>
              </a:defRPr>
            </a:lvl7pPr>
            <a:lvl8pPr algn="l">
              <a:defRPr sz="1600" b="0" i="0">
                <a:solidFill>
                  <a:srgbClr val="152536"/>
                </a:solidFill>
                <a:latin typeface="Carlito"/>
                <a:ea typeface="Carlito"/>
                <a:cs typeface="Carlito"/>
              </a:defRPr>
            </a:lvl8pPr>
            <a:lvl9pPr algn="l">
              <a:defRPr sz="1600" b="0" i="0">
                <a:solidFill>
                  <a:srgbClr val="152536"/>
                </a:solidFill>
                <a:latin typeface="Carlito"/>
                <a:ea typeface="Carlito"/>
                <a:cs typeface="Carlito"/>
              </a:defRPr>
            </a:lvl9pPr>
          </a:lstStyle>
          <a:p>
            <a:pPr algn="l">
              <a:defRPr sz="1600" b="0" i="0">
                <a:solidFill>
                  <a:srgbClr val="152536"/>
                </a:solidFill>
                <a:latin typeface="Carlito"/>
                <a:ea typeface="Carlito"/>
                <a:cs typeface="Carlito"/>
              </a:defRPr>
            </a:pPr>
            <a:r>
              <a:rPr sz="1600" b="0" i="0" dirty="0">
                <a:solidFill>
                  <a:srgbClr val="152536"/>
                </a:solidFill>
                <a:latin typeface="Carlito"/>
                <a:ea typeface="Carlito"/>
                <a:cs typeface="Carlito"/>
              </a:rPr>
              <a:t>Filtered the global dataset to the ten ASEAN countries in scope.</a:t>
            </a:r>
          </a:p>
        </p:txBody>
      </p:sp>
      <p:sp>
        <p:nvSpPr>
          <p:cNvPr id="20" name="Rectangle 19">
            <a:extLst>
              <a:ext uri="{FF2B5EF4-FFF2-40B4-BE49-F238E27FC236}">
                <a16:creationId xmlns:a16="http://schemas.microsoft.com/office/drawing/2014/main" id="{5959ABFA-47FB-4060-B661-AE9540FEA664}"/>
              </a:ext>
            </a:extLst>
          </p:cNvPr>
          <p:cNvSpPr>
            <a:spLocks noGrp="1"/>
          </p:cNvSpPr>
          <p:nvPr/>
        </p:nvSpPr>
        <p:spPr>
          <a:xfrm>
            <a:off x="666750" y="4667250"/>
            <a:ext cx="171450" cy="495300"/>
          </a:xfrm>
          <a:prstGeom prst="rect">
            <a:avLst/>
          </a:prstGeom>
          <a:noFill/>
          <a:ln w="0">
            <a:noFill/>
            <a:prstDash val="solid"/>
          </a:ln>
        </p:spPr>
        <p:txBody>
          <a:bodyPr wrap="square" lIns="0" tIns="0" rIns="0" bIns="0" anchor="t">
            <a:normAutofit/>
          </a:bodyPr>
          <a:lstStyle>
            <a:defPPr algn="l">
              <a:defRPr sz="1600" b="1" i="0">
                <a:solidFill>
                  <a:srgbClr val="D4AF37"/>
                </a:solidFill>
                <a:latin typeface="Carlito"/>
                <a:ea typeface="Carlito"/>
                <a:cs typeface="Carlito"/>
              </a:defRPr>
            </a:defPPr>
            <a:lvl1pPr algn="l">
              <a:defRPr sz="1600" b="1" i="0">
                <a:solidFill>
                  <a:srgbClr val="D4AF37"/>
                </a:solidFill>
                <a:latin typeface="Carlito"/>
                <a:ea typeface="Carlito"/>
                <a:cs typeface="Carlito"/>
              </a:defRPr>
            </a:lvl1pPr>
            <a:lvl2pPr algn="l">
              <a:defRPr sz="1600" b="1" i="0">
                <a:solidFill>
                  <a:srgbClr val="D4AF37"/>
                </a:solidFill>
                <a:latin typeface="Carlito"/>
                <a:ea typeface="Carlito"/>
                <a:cs typeface="Carlito"/>
              </a:defRPr>
            </a:lvl2pPr>
            <a:lvl3pPr algn="l">
              <a:defRPr sz="1600" b="1" i="0">
                <a:solidFill>
                  <a:srgbClr val="D4AF37"/>
                </a:solidFill>
                <a:latin typeface="Carlito"/>
                <a:ea typeface="Carlito"/>
                <a:cs typeface="Carlito"/>
              </a:defRPr>
            </a:lvl3pPr>
            <a:lvl4pPr algn="l">
              <a:defRPr sz="1600" b="1" i="0">
                <a:solidFill>
                  <a:srgbClr val="D4AF37"/>
                </a:solidFill>
                <a:latin typeface="Carlito"/>
                <a:ea typeface="Carlito"/>
                <a:cs typeface="Carlito"/>
              </a:defRPr>
            </a:lvl4pPr>
            <a:lvl5pPr algn="l">
              <a:defRPr sz="1600" b="1" i="0">
                <a:solidFill>
                  <a:srgbClr val="D4AF37"/>
                </a:solidFill>
                <a:latin typeface="Carlito"/>
                <a:ea typeface="Carlito"/>
                <a:cs typeface="Carlito"/>
              </a:defRPr>
            </a:lvl5pPr>
            <a:lvl6pPr algn="l">
              <a:defRPr sz="1600" b="1" i="0">
                <a:solidFill>
                  <a:srgbClr val="D4AF37"/>
                </a:solidFill>
                <a:latin typeface="Carlito"/>
                <a:ea typeface="Carlito"/>
                <a:cs typeface="Carlito"/>
              </a:defRPr>
            </a:lvl6pPr>
            <a:lvl7pPr algn="l">
              <a:defRPr sz="1600" b="1" i="0">
                <a:solidFill>
                  <a:srgbClr val="D4AF37"/>
                </a:solidFill>
                <a:latin typeface="Carlito"/>
                <a:ea typeface="Carlito"/>
                <a:cs typeface="Carlito"/>
              </a:defRPr>
            </a:lvl7pPr>
            <a:lvl8pPr algn="l">
              <a:defRPr sz="1600" b="1" i="0">
                <a:solidFill>
                  <a:srgbClr val="D4AF37"/>
                </a:solidFill>
                <a:latin typeface="Carlito"/>
                <a:ea typeface="Carlito"/>
                <a:cs typeface="Carlito"/>
              </a:defRPr>
            </a:lvl8pPr>
            <a:lvl9pPr algn="l">
              <a:defRPr sz="1600" b="1" i="0">
                <a:solidFill>
                  <a:srgbClr val="D4AF37"/>
                </a:solidFill>
                <a:latin typeface="Carlito"/>
                <a:ea typeface="Carlito"/>
                <a:cs typeface="Carlito"/>
              </a:defRPr>
            </a:lvl9pPr>
          </a:lstStyle>
          <a:p>
            <a:pPr algn="l">
              <a:defRPr sz="1600" b="1" i="0">
                <a:solidFill>
                  <a:srgbClr val="D4AF37"/>
                </a:solidFill>
                <a:latin typeface="Carlito"/>
                <a:ea typeface="Carlito"/>
                <a:cs typeface="Carlito"/>
              </a:defRPr>
            </a:pPr>
            <a:r>
              <a:rPr sz="1600" b="1" i="0">
                <a:solidFill>
                  <a:srgbClr val="D4AF37"/>
                </a:solidFill>
                <a:latin typeface="Carlito"/>
                <a:ea typeface="Carlito"/>
                <a:cs typeface="Carlito"/>
              </a:rPr>
              <a:t>•</a:t>
            </a:r>
          </a:p>
        </p:txBody>
      </p:sp>
      <p:sp>
        <p:nvSpPr>
          <p:cNvPr id="21" name="Rectangle 20">
            <a:extLst>
              <a:ext uri="{FF2B5EF4-FFF2-40B4-BE49-F238E27FC236}">
                <a16:creationId xmlns:a16="http://schemas.microsoft.com/office/drawing/2014/main" id="{9D717F9D-58C0-488C-AEB3-E9D5D817B737}"/>
              </a:ext>
            </a:extLst>
          </p:cNvPr>
          <p:cNvSpPr>
            <a:spLocks noGrp="1"/>
          </p:cNvSpPr>
          <p:nvPr/>
        </p:nvSpPr>
        <p:spPr>
          <a:xfrm>
            <a:off x="895350" y="4667250"/>
            <a:ext cx="4724400" cy="495300"/>
          </a:xfrm>
          <a:prstGeom prst="rect">
            <a:avLst/>
          </a:prstGeom>
          <a:noFill/>
          <a:ln w="0">
            <a:noFill/>
            <a:prstDash val="solid"/>
          </a:ln>
        </p:spPr>
        <p:txBody>
          <a:bodyPr wrap="square" lIns="0" tIns="0" rIns="0" bIns="0" anchor="t">
            <a:normAutofit/>
          </a:bodyPr>
          <a:lstStyle>
            <a:defPPr algn="l">
              <a:defRPr sz="1600" b="0" i="0">
                <a:solidFill>
                  <a:srgbClr val="152536"/>
                </a:solidFill>
                <a:latin typeface="Carlito"/>
                <a:ea typeface="Carlito"/>
                <a:cs typeface="Carlito"/>
              </a:defRPr>
            </a:defPPr>
            <a:lvl1pPr algn="l">
              <a:defRPr sz="1600" b="0" i="0">
                <a:solidFill>
                  <a:srgbClr val="152536"/>
                </a:solidFill>
                <a:latin typeface="Carlito"/>
                <a:ea typeface="Carlito"/>
                <a:cs typeface="Carlito"/>
              </a:defRPr>
            </a:lvl1pPr>
            <a:lvl2pPr algn="l">
              <a:defRPr sz="1600" b="0" i="0">
                <a:solidFill>
                  <a:srgbClr val="152536"/>
                </a:solidFill>
                <a:latin typeface="Carlito"/>
                <a:ea typeface="Carlito"/>
                <a:cs typeface="Carlito"/>
              </a:defRPr>
            </a:lvl2pPr>
            <a:lvl3pPr algn="l">
              <a:defRPr sz="1600" b="0" i="0">
                <a:solidFill>
                  <a:srgbClr val="152536"/>
                </a:solidFill>
                <a:latin typeface="Carlito"/>
                <a:ea typeface="Carlito"/>
                <a:cs typeface="Carlito"/>
              </a:defRPr>
            </a:lvl3pPr>
            <a:lvl4pPr algn="l">
              <a:defRPr sz="1600" b="0" i="0">
                <a:solidFill>
                  <a:srgbClr val="152536"/>
                </a:solidFill>
                <a:latin typeface="Carlito"/>
                <a:ea typeface="Carlito"/>
                <a:cs typeface="Carlito"/>
              </a:defRPr>
            </a:lvl4pPr>
            <a:lvl5pPr algn="l">
              <a:defRPr sz="1600" b="0" i="0">
                <a:solidFill>
                  <a:srgbClr val="152536"/>
                </a:solidFill>
                <a:latin typeface="Carlito"/>
                <a:ea typeface="Carlito"/>
                <a:cs typeface="Carlito"/>
              </a:defRPr>
            </a:lvl5pPr>
            <a:lvl6pPr algn="l">
              <a:defRPr sz="1600" b="0" i="0">
                <a:solidFill>
                  <a:srgbClr val="152536"/>
                </a:solidFill>
                <a:latin typeface="Carlito"/>
                <a:ea typeface="Carlito"/>
                <a:cs typeface="Carlito"/>
              </a:defRPr>
            </a:lvl6pPr>
            <a:lvl7pPr algn="l">
              <a:defRPr sz="1600" b="0" i="0">
                <a:solidFill>
                  <a:srgbClr val="152536"/>
                </a:solidFill>
                <a:latin typeface="Carlito"/>
                <a:ea typeface="Carlito"/>
                <a:cs typeface="Carlito"/>
              </a:defRPr>
            </a:lvl7pPr>
            <a:lvl8pPr algn="l">
              <a:defRPr sz="1600" b="0" i="0">
                <a:solidFill>
                  <a:srgbClr val="152536"/>
                </a:solidFill>
                <a:latin typeface="Carlito"/>
                <a:ea typeface="Carlito"/>
                <a:cs typeface="Carlito"/>
              </a:defRPr>
            </a:lvl8pPr>
            <a:lvl9pPr algn="l">
              <a:defRPr sz="1600" b="0" i="0">
                <a:solidFill>
                  <a:srgbClr val="152536"/>
                </a:solidFill>
                <a:latin typeface="Carlito"/>
                <a:ea typeface="Carlito"/>
                <a:cs typeface="Carlito"/>
              </a:defRPr>
            </a:lvl9pPr>
          </a:lstStyle>
          <a:p>
            <a:pPr>
              <a:defRPr sz="1600" b="0" i="0">
                <a:solidFill>
                  <a:srgbClr val="152536"/>
                </a:solidFill>
                <a:latin typeface="Carlito"/>
                <a:ea typeface="Carlito"/>
                <a:cs typeface="Carlito"/>
              </a:defRPr>
            </a:pPr>
            <a:r>
              <a:rPr sz="1400" b="0" i="0" dirty="0">
                <a:solidFill>
                  <a:srgbClr val="152536"/>
                </a:solidFill>
                <a:latin typeface="Carlito"/>
                <a:ea typeface="Carlito"/>
                <a:cs typeface="Carlito"/>
              </a:rPr>
              <a:t>Created </a:t>
            </a:r>
            <a:r>
              <a:rPr sz="1400" b="0" i="0" dirty="0" err="1">
                <a:solidFill>
                  <a:srgbClr val="152536"/>
                </a:solidFill>
                <a:latin typeface="Carlito"/>
                <a:ea typeface="Carlito"/>
                <a:cs typeface="Carlito"/>
              </a:rPr>
              <a:t>Won_Medal</a:t>
            </a:r>
            <a:r>
              <a:rPr sz="1400" b="0" i="0" dirty="0">
                <a:solidFill>
                  <a:srgbClr val="152536"/>
                </a:solidFill>
                <a:latin typeface="Carlito"/>
                <a:ea typeface="Carlito"/>
                <a:cs typeface="Carlito"/>
              </a:rPr>
              <a:t>, </a:t>
            </a:r>
            <a:r>
              <a:rPr sz="1400" b="0" i="0" dirty="0" err="1">
                <a:solidFill>
                  <a:srgbClr val="152536"/>
                </a:solidFill>
                <a:latin typeface="Carlito"/>
                <a:ea typeface="Carlito"/>
                <a:cs typeface="Carlito"/>
              </a:rPr>
              <a:t>Medal_Status</a:t>
            </a:r>
            <a:r>
              <a:rPr sz="1400" b="0" i="0" dirty="0">
                <a:solidFill>
                  <a:srgbClr val="152536"/>
                </a:solidFill>
                <a:latin typeface="Carlito"/>
                <a:ea typeface="Carlito"/>
                <a:cs typeface="Carlito"/>
              </a:rPr>
              <a:t>, Gender and missing-value indicators.</a:t>
            </a:r>
          </a:p>
        </p:txBody>
      </p:sp>
      <p:sp>
        <p:nvSpPr>
          <p:cNvPr id="22" name="Rectangle 21">
            <a:extLst>
              <a:ext uri="{FF2B5EF4-FFF2-40B4-BE49-F238E27FC236}">
                <a16:creationId xmlns:a16="http://schemas.microsoft.com/office/drawing/2014/main" id="{A0169F6F-EB14-4BC4-95A6-66F7B6DBE0DB}"/>
              </a:ext>
            </a:extLst>
          </p:cNvPr>
          <p:cNvSpPr>
            <a:spLocks noGrp="1"/>
          </p:cNvSpPr>
          <p:nvPr/>
        </p:nvSpPr>
        <p:spPr>
          <a:xfrm>
            <a:off x="666750" y="5295900"/>
            <a:ext cx="171450" cy="457200"/>
          </a:xfrm>
          <a:prstGeom prst="rect">
            <a:avLst/>
          </a:prstGeom>
          <a:noFill/>
          <a:ln w="0">
            <a:noFill/>
            <a:prstDash val="solid"/>
          </a:ln>
        </p:spPr>
        <p:txBody>
          <a:bodyPr wrap="square" lIns="0" tIns="0" rIns="0" bIns="0" anchor="t">
            <a:normAutofit/>
          </a:bodyPr>
          <a:lstStyle>
            <a:defPPr algn="l">
              <a:defRPr sz="1600" b="1" i="0">
                <a:solidFill>
                  <a:srgbClr val="D4AF37"/>
                </a:solidFill>
                <a:latin typeface="Carlito"/>
                <a:ea typeface="Carlito"/>
                <a:cs typeface="Carlito"/>
              </a:defRPr>
            </a:defPPr>
            <a:lvl1pPr algn="l">
              <a:defRPr sz="1600" b="1" i="0">
                <a:solidFill>
                  <a:srgbClr val="D4AF37"/>
                </a:solidFill>
                <a:latin typeface="Carlito"/>
                <a:ea typeface="Carlito"/>
                <a:cs typeface="Carlito"/>
              </a:defRPr>
            </a:lvl1pPr>
            <a:lvl2pPr algn="l">
              <a:defRPr sz="1600" b="1" i="0">
                <a:solidFill>
                  <a:srgbClr val="D4AF37"/>
                </a:solidFill>
                <a:latin typeface="Carlito"/>
                <a:ea typeface="Carlito"/>
                <a:cs typeface="Carlito"/>
              </a:defRPr>
            </a:lvl2pPr>
            <a:lvl3pPr algn="l">
              <a:defRPr sz="1600" b="1" i="0">
                <a:solidFill>
                  <a:srgbClr val="D4AF37"/>
                </a:solidFill>
                <a:latin typeface="Carlito"/>
                <a:ea typeface="Carlito"/>
                <a:cs typeface="Carlito"/>
              </a:defRPr>
            </a:lvl3pPr>
            <a:lvl4pPr algn="l">
              <a:defRPr sz="1600" b="1" i="0">
                <a:solidFill>
                  <a:srgbClr val="D4AF37"/>
                </a:solidFill>
                <a:latin typeface="Carlito"/>
                <a:ea typeface="Carlito"/>
                <a:cs typeface="Carlito"/>
              </a:defRPr>
            </a:lvl4pPr>
            <a:lvl5pPr algn="l">
              <a:defRPr sz="1600" b="1" i="0">
                <a:solidFill>
                  <a:srgbClr val="D4AF37"/>
                </a:solidFill>
                <a:latin typeface="Carlito"/>
                <a:ea typeface="Carlito"/>
                <a:cs typeface="Carlito"/>
              </a:defRPr>
            </a:lvl5pPr>
            <a:lvl6pPr algn="l">
              <a:defRPr sz="1600" b="1" i="0">
                <a:solidFill>
                  <a:srgbClr val="D4AF37"/>
                </a:solidFill>
                <a:latin typeface="Carlito"/>
                <a:ea typeface="Carlito"/>
                <a:cs typeface="Carlito"/>
              </a:defRPr>
            </a:lvl6pPr>
            <a:lvl7pPr algn="l">
              <a:defRPr sz="1600" b="1" i="0">
                <a:solidFill>
                  <a:srgbClr val="D4AF37"/>
                </a:solidFill>
                <a:latin typeface="Carlito"/>
                <a:ea typeface="Carlito"/>
                <a:cs typeface="Carlito"/>
              </a:defRPr>
            </a:lvl7pPr>
            <a:lvl8pPr algn="l">
              <a:defRPr sz="1600" b="1" i="0">
                <a:solidFill>
                  <a:srgbClr val="D4AF37"/>
                </a:solidFill>
                <a:latin typeface="Carlito"/>
                <a:ea typeface="Carlito"/>
                <a:cs typeface="Carlito"/>
              </a:defRPr>
            </a:lvl8pPr>
            <a:lvl9pPr algn="l">
              <a:defRPr sz="1600" b="1" i="0">
                <a:solidFill>
                  <a:srgbClr val="D4AF37"/>
                </a:solidFill>
                <a:latin typeface="Carlito"/>
                <a:ea typeface="Carlito"/>
                <a:cs typeface="Carlito"/>
              </a:defRPr>
            </a:lvl9pPr>
          </a:lstStyle>
          <a:p>
            <a:pPr algn="l">
              <a:defRPr sz="1600" b="1" i="0">
                <a:solidFill>
                  <a:srgbClr val="D4AF37"/>
                </a:solidFill>
                <a:latin typeface="Carlito"/>
                <a:ea typeface="Carlito"/>
                <a:cs typeface="Carlito"/>
              </a:defRPr>
            </a:pPr>
            <a:r>
              <a:rPr sz="1600" b="1" i="0">
                <a:solidFill>
                  <a:srgbClr val="D4AF37"/>
                </a:solidFill>
                <a:latin typeface="Carlito"/>
                <a:ea typeface="Carlito"/>
                <a:cs typeface="Carlito"/>
              </a:rPr>
              <a:t>•</a:t>
            </a:r>
          </a:p>
        </p:txBody>
      </p:sp>
      <p:sp>
        <p:nvSpPr>
          <p:cNvPr id="24" name="Rectangle 23">
            <a:extLst>
              <a:ext uri="{FF2B5EF4-FFF2-40B4-BE49-F238E27FC236}">
                <a16:creationId xmlns:a16="http://schemas.microsoft.com/office/drawing/2014/main" id="{F6341BB0-4873-4C60-925A-862890ED6427}"/>
              </a:ext>
            </a:extLst>
          </p:cNvPr>
          <p:cNvSpPr>
            <a:spLocks noGrp="1"/>
          </p:cNvSpPr>
          <p:nvPr/>
        </p:nvSpPr>
        <p:spPr>
          <a:xfrm>
            <a:off x="6429375" y="3000375"/>
            <a:ext cx="3714750" cy="304800"/>
          </a:xfrm>
          <a:prstGeom prst="rect">
            <a:avLst/>
          </a:prstGeom>
          <a:noFill/>
          <a:ln w="0">
            <a:noFill/>
            <a:prstDash val="solid"/>
          </a:ln>
        </p:spPr>
        <p:txBody>
          <a:bodyPr wrap="square" lIns="0" tIns="0" rIns="0" bIns="0" anchor="t">
            <a:normAutofit/>
          </a:bodyPr>
          <a:lstStyle>
            <a:defPPr algn="l">
              <a:defRPr sz="1800" b="1" i="0">
                <a:solidFill>
                  <a:srgbClr val="071B33"/>
                </a:solidFill>
                <a:latin typeface="Carlito"/>
                <a:ea typeface="Carlito"/>
                <a:cs typeface="Carlito"/>
              </a:defRPr>
            </a:defPPr>
            <a:lvl1pPr algn="l">
              <a:defRPr sz="1800" b="1" i="0">
                <a:solidFill>
                  <a:srgbClr val="071B33"/>
                </a:solidFill>
                <a:latin typeface="Carlito"/>
                <a:ea typeface="Carlito"/>
                <a:cs typeface="Carlito"/>
              </a:defRPr>
            </a:lvl1pPr>
            <a:lvl2pPr algn="l">
              <a:defRPr sz="1800" b="1" i="0">
                <a:solidFill>
                  <a:srgbClr val="071B33"/>
                </a:solidFill>
                <a:latin typeface="Carlito"/>
                <a:ea typeface="Carlito"/>
                <a:cs typeface="Carlito"/>
              </a:defRPr>
            </a:lvl2pPr>
            <a:lvl3pPr algn="l">
              <a:defRPr sz="1800" b="1" i="0">
                <a:solidFill>
                  <a:srgbClr val="071B33"/>
                </a:solidFill>
                <a:latin typeface="Carlito"/>
                <a:ea typeface="Carlito"/>
                <a:cs typeface="Carlito"/>
              </a:defRPr>
            </a:lvl3pPr>
            <a:lvl4pPr algn="l">
              <a:defRPr sz="1800" b="1" i="0">
                <a:solidFill>
                  <a:srgbClr val="071B33"/>
                </a:solidFill>
                <a:latin typeface="Carlito"/>
                <a:ea typeface="Carlito"/>
                <a:cs typeface="Carlito"/>
              </a:defRPr>
            </a:lvl4pPr>
            <a:lvl5pPr algn="l">
              <a:defRPr sz="1800" b="1" i="0">
                <a:solidFill>
                  <a:srgbClr val="071B33"/>
                </a:solidFill>
                <a:latin typeface="Carlito"/>
                <a:ea typeface="Carlito"/>
                <a:cs typeface="Carlito"/>
              </a:defRPr>
            </a:lvl5pPr>
            <a:lvl6pPr algn="l">
              <a:defRPr sz="1800" b="1" i="0">
                <a:solidFill>
                  <a:srgbClr val="071B33"/>
                </a:solidFill>
                <a:latin typeface="Carlito"/>
                <a:ea typeface="Carlito"/>
                <a:cs typeface="Carlito"/>
              </a:defRPr>
            </a:lvl6pPr>
            <a:lvl7pPr algn="l">
              <a:defRPr sz="1800" b="1" i="0">
                <a:solidFill>
                  <a:srgbClr val="071B33"/>
                </a:solidFill>
                <a:latin typeface="Carlito"/>
                <a:ea typeface="Carlito"/>
                <a:cs typeface="Carlito"/>
              </a:defRPr>
            </a:lvl7pPr>
            <a:lvl8pPr algn="l">
              <a:defRPr sz="1800" b="1" i="0">
                <a:solidFill>
                  <a:srgbClr val="071B33"/>
                </a:solidFill>
                <a:latin typeface="Carlito"/>
                <a:ea typeface="Carlito"/>
                <a:cs typeface="Carlito"/>
              </a:defRPr>
            </a:lvl8pPr>
            <a:lvl9pPr algn="l">
              <a:defRPr sz="1800" b="1" i="0">
                <a:solidFill>
                  <a:srgbClr val="071B33"/>
                </a:solidFill>
                <a:latin typeface="Carlito"/>
                <a:ea typeface="Carlito"/>
                <a:cs typeface="Carlito"/>
              </a:defRPr>
            </a:lvl9pPr>
          </a:lstStyle>
          <a:p>
            <a:pPr algn="l">
              <a:defRPr sz="1800" b="1" i="0">
                <a:solidFill>
                  <a:srgbClr val="071B33"/>
                </a:solidFill>
                <a:latin typeface="Carlito"/>
                <a:ea typeface="Carlito"/>
                <a:cs typeface="Carlito"/>
              </a:defRPr>
            </a:pPr>
            <a:r>
              <a:rPr sz="1800" b="1" i="0">
                <a:solidFill>
                  <a:srgbClr val="071B33"/>
                </a:solidFill>
                <a:latin typeface="Carlito"/>
                <a:ea typeface="Carlito"/>
                <a:cs typeface="Carlito"/>
              </a:rPr>
              <a:t>Missing demographic values</a:t>
            </a:r>
          </a:p>
        </p:txBody>
      </p:sp>
      <p:sp>
        <p:nvSpPr>
          <p:cNvPr id="25" name="Rectangle 24">
            <a:extLst>
              <a:ext uri="{FF2B5EF4-FFF2-40B4-BE49-F238E27FC236}">
                <a16:creationId xmlns:a16="http://schemas.microsoft.com/office/drawing/2014/main" id="{2CC9ED2C-21A2-448C-9A74-E0853611F0D9}"/>
              </a:ext>
            </a:extLst>
          </p:cNvPr>
          <p:cNvSpPr>
            <a:spLocks noGrp="1"/>
          </p:cNvSpPr>
          <p:nvPr/>
        </p:nvSpPr>
        <p:spPr>
          <a:xfrm>
            <a:off x="6429375" y="3562350"/>
            <a:ext cx="1238250" cy="400050"/>
          </a:xfrm>
          <a:prstGeom prst="rect">
            <a:avLst/>
          </a:prstGeom>
          <a:noFill/>
          <a:ln w="0">
            <a:noFill/>
            <a:prstDash val="solid"/>
          </a:ln>
        </p:spPr>
        <p:txBody>
          <a:bodyPr wrap="square" lIns="0" tIns="0" rIns="0" bIns="0" anchor="t">
            <a:normAutofit fontScale="93750"/>
          </a:bodyPr>
          <a:lstStyle>
            <a:defPPr algn="l">
              <a:defRPr sz="2800" b="1" i="0">
                <a:solidFill>
                  <a:srgbClr val="CD7F32"/>
                </a:solidFill>
                <a:latin typeface="Carlito"/>
                <a:ea typeface="Carlito"/>
                <a:cs typeface="Carlito"/>
              </a:defRPr>
            </a:defPPr>
            <a:lvl1pPr algn="l">
              <a:defRPr sz="2800" b="1" i="0">
                <a:solidFill>
                  <a:srgbClr val="CD7F32"/>
                </a:solidFill>
                <a:latin typeface="Carlito"/>
                <a:ea typeface="Carlito"/>
                <a:cs typeface="Carlito"/>
              </a:defRPr>
            </a:lvl1pPr>
            <a:lvl2pPr algn="l">
              <a:defRPr sz="2800" b="1" i="0">
                <a:solidFill>
                  <a:srgbClr val="CD7F32"/>
                </a:solidFill>
                <a:latin typeface="Carlito"/>
                <a:ea typeface="Carlito"/>
                <a:cs typeface="Carlito"/>
              </a:defRPr>
            </a:lvl2pPr>
            <a:lvl3pPr algn="l">
              <a:defRPr sz="2800" b="1" i="0">
                <a:solidFill>
                  <a:srgbClr val="CD7F32"/>
                </a:solidFill>
                <a:latin typeface="Carlito"/>
                <a:ea typeface="Carlito"/>
                <a:cs typeface="Carlito"/>
              </a:defRPr>
            </a:lvl3pPr>
            <a:lvl4pPr algn="l">
              <a:defRPr sz="2800" b="1" i="0">
                <a:solidFill>
                  <a:srgbClr val="CD7F32"/>
                </a:solidFill>
                <a:latin typeface="Carlito"/>
                <a:ea typeface="Carlito"/>
                <a:cs typeface="Carlito"/>
              </a:defRPr>
            </a:lvl4pPr>
            <a:lvl5pPr algn="l">
              <a:defRPr sz="2800" b="1" i="0">
                <a:solidFill>
                  <a:srgbClr val="CD7F32"/>
                </a:solidFill>
                <a:latin typeface="Carlito"/>
                <a:ea typeface="Carlito"/>
                <a:cs typeface="Carlito"/>
              </a:defRPr>
            </a:lvl5pPr>
            <a:lvl6pPr algn="l">
              <a:defRPr sz="2800" b="1" i="0">
                <a:solidFill>
                  <a:srgbClr val="CD7F32"/>
                </a:solidFill>
                <a:latin typeface="Carlito"/>
                <a:ea typeface="Carlito"/>
                <a:cs typeface="Carlito"/>
              </a:defRPr>
            </a:lvl6pPr>
            <a:lvl7pPr algn="l">
              <a:defRPr sz="2800" b="1" i="0">
                <a:solidFill>
                  <a:srgbClr val="CD7F32"/>
                </a:solidFill>
                <a:latin typeface="Carlito"/>
                <a:ea typeface="Carlito"/>
                <a:cs typeface="Carlito"/>
              </a:defRPr>
            </a:lvl7pPr>
            <a:lvl8pPr algn="l">
              <a:defRPr sz="2800" b="1" i="0">
                <a:solidFill>
                  <a:srgbClr val="CD7F32"/>
                </a:solidFill>
                <a:latin typeface="Carlito"/>
                <a:ea typeface="Carlito"/>
                <a:cs typeface="Carlito"/>
              </a:defRPr>
            </a:lvl8pPr>
            <a:lvl9pPr algn="l">
              <a:defRPr sz="2800" b="1" i="0">
                <a:solidFill>
                  <a:srgbClr val="CD7F32"/>
                </a:solidFill>
                <a:latin typeface="Carlito"/>
                <a:ea typeface="Carlito"/>
                <a:cs typeface="Carlito"/>
              </a:defRPr>
            </a:lvl9pPr>
          </a:lstStyle>
          <a:p>
            <a:pPr algn="l">
              <a:defRPr sz="2800" b="1" i="0">
                <a:solidFill>
                  <a:srgbClr val="CD7F32"/>
                </a:solidFill>
                <a:latin typeface="Carlito"/>
                <a:ea typeface="Carlito"/>
                <a:cs typeface="Carlito"/>
              </a:defRPr>
            </a:pPr>
            <a:r>
              <a:rPr sz="2800" b="1" i="0">
                <a:solidFill>
                  <a:srgbClr val="CD7F32"/>
                </a:solidFill>
                <a:latin typeface="Carlito"/>
                <a:ea typeface="Carlito"/>
                <a:cs typeface="Carlito"/>
              </a:rPr>
              <a:t>5.3%</a:t>
            </a:r>
          </a:p>
        </p:txBody>
      </p:sp>
      <p:sp>
        <p:nvSpPr>
          <p:cNvPr id="26" name="Rectangle 25">
            <a:extLst>
              <a:ext uri="{FF2B5EF4-FFF2-40B4-BE49-F238E27FC236}">
                <a16:creationId xmlns:a16="http://schemas.microsoft.com/office/drawing/2014/main" id="{E6267FAF-D0DF-4185-8095-20BBC2ABEAF6}"/>
              </a:ext>
            </a:extLst>
          </p:cNvPr>
          <p:cNvSpPr>
            <a:spLocks noGrp="1"/>
          </p:cNvSpPr>
          <p:nvPr/>
        </p:nvSpPr>
        <p:spPr>
          <a:xfrm>
            <a:off x="6429375" y="3981450"/>
            <a:ext cx="1238250" cy="228600"/>
          </a:xfrm>
          <a:prstGeom prst="rect">
            <a:avLst/>
          </a:prstGeom>
          <a:noFill/>
          <a:ln w="0">
            <a:noFill/>
            <a:prstDash val="solid"/>
          </a:ln>
        </p:spPr>
        <p:txBody>
          <a:bodyPr wrap="square" lIns="0" tIns="0" rIns="0" bIns="0" anchor="t">
            <a:normAutofit/>
          </a:bodyPr>
          <a:lstStyle>
            <a:defPPr algn="l">
              <a:defRPr sz="1400" b="0" i="0">
                <a:solidFill>
                  <a:srgbClr val="5F6F7F"/>
                </a:solidFill>
                <a:latin typeface="Carlito"/>
                <a:ea typeface="Carlito"/>
                <a:cs typeface="Carlito"/>
              </a:defRPr>
            </a:defPPr>
            <a:lvl1pPr algn="l">
              <a:defRPr sz="1400" b="0" i="0">
                <a:solidFill>
                  <a:srgbClr val="5F6F7F"/>
                </a:solidFill>
                <a:latin typeface="Carlito"/>
                <a:ea typeface="Carlito"/>
                <a:cs typeface="Carlito"/>
              </a:defRPr>
            </a:lvl1pPr>
            <a:lvl2pPr algn="l">
              <a:defRPr sz="1400" b="0" i="0">
                <a:solidFill>
                  <a:srgbClr val="5F6F7F"/>
                </a:solidFill>
                <a:latin typeface="Carlito"/>
                <a:ea typeface="Carlito"/>
                <a:cs typeface="Carlito"/>
              </a:defRPr>
            </a:lvl2pPr>
            <a:lvl3pPr algn="l">
              <a:defRPr sz="1400" b="0" i="0">
                <a:solidFill>
                  <a:srgbClr val="5F6F7F"/>
                </a:solidFill>
                <a:latin typeface="Carlito"/>
                <a:ea typeface="Carlito"/>
                <a:cs typeface="Carlito"/>
              </a:defRPr>
            </a:lvl3pPr>
            <a:lvl4pPr algn="l">
              <a:defRPr sz="1400" b="0" i="0">
                <a:solidFill>
                  <a:srgbClr val="5F6F7F"/>
                </a:solidFill>
                <a:latin typeface="Carlito"/>
                <a:ea typeface="Carlito"/>
                <a:cs typeface="Carlito"/>
              </a:defRPr>
            </a:lvl4pPr>
            <a:lvl5pPr algn="l">
              <a:defRPr sz="1400" b="0" i="0">
                <a:solidFill>
                  <a:srgbClr val="5F6F7F"/>
                </a:solidFill>
                <a:latin typeface="Carlito"/>
                <a:ea typeface="Carlito"/>
                <a:cs typeface="Carlito"/>
              </a:defRPr>
            </a:lvl5pPr>
            <a:lvl6pPr algn="l">
              <a:defRPr sz="1400" b="0" i="0">
                <a:solidFill>
                  <a:srgbClr val="5F6F7F"/>
                </a:solidFill>
                <a:latin typeface="Carlito"/>
                <a:ea typeface="Carlito"/>
                <a:cs typeface="Carlito"/>
              </a:defRPr>
            </a:lvl6pPr>
            <a:lvl7pPr algn="l">
              <a:defRPr sz="1400" b="0" i="0">
                <a:solidFill>
                  <a:srgbClr val="5F6F7F"/>
                </a:solidFill>
                <a:latin typeface="Carlito"/>
                <a:ea typeface="Carlito"/>
                <a:cs typeface="Carlito"/>
              </a:defRPr>
            </a:lvl7pPr>
            <a:lvl8pPr algn="l">
              <a:defRPr sz="1400" b="0" i="0">
                <a:solidFill>
                  <a:srgbClr val="5F6F7F"/>
                </a:solidFill>
                <a:latin typeface="Carlito"/>
                <a:ea typeface="Carlito"/>
                <a:cs typeface="Carlito"/>
              </a:defRPr>
            </a:lvl8pPr>
            <a:lvl9pPr algn="l">
              <a:defRPr sz="1400" b="0" i="0">
                <a:solidFill>
                  <a:srgbClr val="5F6F7F"/>
                </a:solidFill>
                <a:latin typeface="Carlito"/>
                <a:ea typeface="Carlito"/>
                <a:cs typeface="Carlito"/>
              </a:defRPr>
            </a:lvl9pPr>
          </a:lstStyle>
          <a:p>
            <a:pPr algn="l">
              <a:defRPr sz="1400" b="0" i="0">
                <a:solidFill>
                  <a:srgbClr val="5F6F7F"/>
                </a:solidFill>
                <a:latin typeface="Carlito"/>
                <a:ea typeface="Carlito"/>
                <a:cs typeface="Carlito"/>
              </a:defRPr>
            </a:pPr>
            <a:r>
              <a:rPr sz="1400" b="0" i="0">
                <a:solidFill>
                  <a:srgbClr val="5F6F7F"/>
                </a:solidFill>
                <a:latin typeface="Carlito"/>
                <a:ea typeface="Carlito"/>
                <a:cs typeface="Carlito"/>
              </a:rPr>
              <a:t>Age</a:t>
            </a:r>
          </a:p>
        </p:txBody>
      </p:sp>
      <p:sp>
        <p:nvSpPr>
          <p:cNvPr id="27" name="Rectangle 26">
            <a:extLst>
              <a:ext uri="{FF2B5EF4-FFF2-40B4-BE49-F238E27FC236}">
                <a16:creationId xmlns:a16="http://schemas.microsoft.com/office/drawing/2014/main" id="{FE794494-6C2B-4FA4-A9D3-AC2831A798D9}"/>
              </a:ext>
            </a:extLst>
          </p:cNvPr>
          <p:cNvSpPr>
            <a:spLocks noGrp="1"/>
          </p:cNvSpPr>
          <p:nvPr/>
        </p:nvSpPr>
        <p:spPr>
          <a:xfrm>
            <a:off x="7953375" y="3562350"/>
            <a:ext cx="1238250" cy="400050"/>
          </a:xfrm>
          <a:prstGeom prst="rect">
            <a:avLst/>
          </a:prstGeom>
          <a:noFill/>
          <a:ln w="0">
            <a:noFill/>
            <a:prstDash val="solid"/>
          </a:ln>
        </p:spPr>
        <p:txBody>
          <a:bodyPr wrap="square" lIns="0" tIns="0" rIns="0" bIns="0" anchor="t">
            <a:normAutofit fontScale="93750"/>
          </a:bodyPr>
          <a:lstStyle>
            <a:defPPr algn="l">
              <a:defRPr sz="2800" b="1" i="0">
                <a:solidFill>
                  <a:srgbClr val="A7A9AC"/>
                </a:solidFill>
                <a:latin typeface="Carlito"/>
                <a:ea typeface="Carlito"/>
                <a:cs typeface="Carlito"/>
              </a:defRPr>
            </a:defPPr>
            <a:lvl1pPr algn="l">
              <a:defRPr sz="2800" b="1" i="0">
                <a:solidFill>
                  <a:srgbClr val="A7A9AC"/>
                </a:solidFill>
                <a:latin typeface="Carlito"/>
                <a:ea typeface="Carlito"/>
                <a:cs typeface="Carlito"/>
              </a:defRPr>
            </a:lvl1pPr>
            <a:lvl2pPr algn="l">
              <a:defRPr sz="2800" b="1" i="0">
                <a:solidFill>
                  <a:srgbClr val="A7A9AC"/>
                </a:solidFill>
                <a:latin typeface="Carlito"/>
                <a:ea typeface="Carlito"/>
                <a:cs typeface="Carlito"/>
              </a:defRPr>
            </a:lvl2pPr>
            <a:lvl3pPr algn="l">
              <a:defRPr sz="2800" b="1" i="0">
                <a:solidFill>
                  <a:srgbClr val="A7A9AC"/>
                </a:solidFill>
                <a:latin typeface="Carlito"/>
                <a:ea typeface="Carlito"/>
                <a:cs typeface="Carlito"/>
              </a:defRPr>
            </a:lvl3pPr>
            <a:lvl4pPr algn="l">
              <a:defRPr sz="2800" b="1" i="0">
                <a:solidFill>
                  <a:srgbClr val="A7A9AC"/>
                </a:solidFill>
                <a:latin typeface="Carlito"/>
                <a:ea typeface="Carlito"/>
                <a:cs typeface="Carlito"/>
              </a:defRPr>
            </a:lvl4pPr>
            <a:lvl5pPr algn="l">
              <a:defRPr sz="2800" b="1" i="0">
                <a:solidFill>
                  <a:srgbClr val="A7A9AC"/>
                </a:solidFill>
                <a:latin typeface="Carlito"/>
                <a:ea typeface="Carlito"/>
                <a:cs typeface="Carlito"/>
              </a:defRPr>
            </a:lvl5pPr>
            <a:lvl6pPr algn="l">
              <a:defRPr sz="2800" b="1" i="0">
                <a:solidFill>
                  <a:srgbClr val="A7A9AC"/>
                </a:solidFill>
                <a:latin typeface="Carlito"/>
                <a:ea typeface="Carlito"/>
                <a:cs typeface="Carlito"/>
              </a:defRPr>
            </a:lvl6pPr>
            <a:lvl7pPr algn="l">
              <a:defRPr sz="2800" b="1" i="0">
                <a:solidFill>
                  <a:srgbClr val="A7A9AC"/>
                </a:solidFill>
                <a:latin typeface="Carlito"/>
                <a:ea typeface="Carlito"/>
                <a:cs typeface="Carlito"/>
              </a:defRPr>
            </a:lvl7pPr>
            <a:lvl8pPr algn="l">
              <a:defRPr sz="2800" b="1" i="0">
                <a:solidFill>
                  <a:srgbClr val="A7A9AC"/>
                </a:solidFill>
                <a:latin typeface="Carlito"/>
                <a:ea typeface="Carlito"/>
                <a:cs typeface="Carlito"/>
              </a:defRPr>
            </a:lvl8pPr>
            <a:lvl9pPr algn="l">
              <a:defRPr sz="2800" b="1" i="0">
                <a:solidFill>
                  <a:srgbClr val="A7A9AC"/>
                </a:solidFill>
                <a:latin typeface="Carlito"/>
                <a:ea typeface="Carlito"/>
                <a:cs typeface="Carlito"/>
              </a:defRPr>
            </a:lvl9pPr>
          </a:lstStyle>
          <a:p>
            <a:pPr algn="l">
              <a:defRPr sz="2800" b="1" i="0">
                <a:solidFill>
                  <a:srgbClr val="A7A9AC"/>
                </a:solidFill>
                <a:latin typeface="Carlito"/>
                <a:ea typeface="Carlito"/>
                <a:cs typeface="Carlito"/>
              </a:defRPr>
            </a:pPr>
            <a:r>
              <a:rPr sz="2800" b="1" i="0">
                <a:solidFill>
                  <a:srgbClr val="A7A9AC"/>
                </a:solidFill>
                <a:latin typeface="Carlito"/>
                <a:ea typeface="Carlito"/>
                <a:cs typeface="Carlito"/>
              </a:rPr>
              <a:t>17.4%</a:t>
            </a:r>
          </a:p>
        </p:txBody>
      </p:sp>
      <p:sp>
        <p:nvSpPr>
          <p:cNvPr id="28" name="Rectangle 27">
            <a:extLst>
              <a:ext uri="{FF2B5EF4-FFF2-40B4-BE49-F238E27FC236}">
                <a16:creationId xmlns:a16="http://schemas.microsoft.com/office/drawing/2014/main" id="{E0D71E15-346C-4507-B172-5952F497EFAC}"/>
              </a:ext>
            </a:extLst>
          </p:cNvPr>
          <p:cNvSpPr>
            <a:spLocks noGrp="1"/>
          </p:cNvSpPr>
          <p:nvPr/>
        </p:nvSpPr>
        <p:spPr>
          <a:xfrm>
            <a:off x="7953375" y="3981450"/>
            <a:ext cx="1238250" cy="228600"/>
          </a:xfrm>
          <a:prstGeom prst="rect">
            <a:avLst/>
          </a:prstGeom>
          <a:noFill/>
          <a:ln w="0">
            <a:noFill/>
            <a:prstDash val="solid"/>
          </a:ln>
        </p:spPr>
        <p:txBody>
          <a:bodyPr wrap="square" lIns="0" tIns="0" rIns="0" bIns="0" anchor="t">
            <a:normAutofit/>
          </a:bodyPr>
          <a:lstStyle>
            <a:defPPr algn="l">
              <a:defRPr sz="1400" b="0" i="0">
                <a:solidFill>
                  <a:srgbClr val="5F6F7F"/>
                </a:solidFill>
                <a:latin typeface="Carlito"/>
                <a:ea typeface="Carlito"/>
                <a:cs typeface="Carlito"/>
              </a:defRPr>
            </a:defPPr>
            <a:lvl1pPr algn="l">
              <a:defRPr sz="1400" b="0" i="0">
                <a:solidFill>
                  <a:srgbClr val="5F6F7F"/>
                </a:solidFill>
                <a:latin typeface="Carlito"/>
                <a:ea typeface="Carlito"/>
                <a:cs typeface="Carlito"/>
              </a:defRPr>
            </a:lvl1pPr>
            <a:lvl2pPr algn="l">
              <a:defRPr sz="1400" b="0" i="0">
                <a:solidFill>
                  <a:srgbClr val="5F6F7F"/>
                </a:solidFill>
                <a:latin typeface="Carlito"/>
                <a:ea typeface="Carlito"/>
                <a:cs typeface="Carlito"/>
              </a:defRPr>
            </a:lvl2pPr>
            <a:lvl3pPr algn="l">
              <a:defRPr sz="1400" b="0" i="0">
                <a:solidFill>
                  <a:srgbClr val="5F6F7F"/>
                </a:solidFill>
                <a:latin typeface="Carlito"/>
                <a:ea typeface="Carlito"/>
                <a:cs typeface="Carlito"/>
              </a:defRPr>
            </a:lvl3pPr>
            <a:lvl4pPr algn="l">
              <a:defRPr sz="1400" b="0" i="0">
                <a:solidFill>
                  <a:srgbClr val="5F6F7F"/>
                </a:solidFill>
                <a:latin typeface="Carlito"/>
                <a:ea typeface="Carlito"/>
                <a:cs typeface="Carlito"/>
              </a:defRPr>
            </a:lvl4pPr>
            <a:lvl5pPr algn="l">
              <a:defRPr sz="1400" b="0" i="0">
                <a:solidFill>
                  <a:srgbClr val="5F6F7F"/>
                </a:solidFill>
                <a:latin typeface="Carlito"/>
                <a:ea typeface="Carlito"/>
                <a:cs typeface="Carlito"/>
              </a:defRPr>
            </a:lvl5pPr>
            <a:lvl6pPr algn="l">
              <a:defRPr sz="1400" b="0" i="0">
                <a:solidFill>
                  <a:srgbClr val="5F6F7F"/>
                </a:solidFill>
                <a:latin typeface="Carlito"/>
                <a:ea typeface="Carlito"/>
                <a:cs typeface="Carlito"/>
              </a:defRPr>
            </a:lvl6pPr>
            <a:lvl7pPr algn="l">
              <a:defRPr sz="1400" b="0" i="0">
                <a:solidFill>
                  <a:srgbClr val="5F6F7F"/>
                </a:solidFill>
                <a:latin typeface="Carlito"/>
                <a:ea typeface="Carlito"/>
                <a:cs typeface="Carlito"/>
              </a:defRPr>
            </a:lvl7pPr>
            <a:lvl8pPr algn="l">
              <a:defRPr sz="1400" b="0" i="0">
                <a:solidFill>
                  <a:srgbClr val="5F6F7F"/>
                </a:solidFill>
                <a:latin typeface="Carlito"/>
                <a:ea typeface="Carlito"/>
                <a:cs typeface="Carlito"/>
              </a:defRPr>
            </a:lvl8pPr>
            <a:lvl9pPr algn="l">
              <a:defRPr sz="1400" b="0" i="0">
                <a:solidFill>
                  <a:srgbClr val="5F6F7F"/>
                </a:solidFill>
                <a:latin typeface="Carlito"/>
                <a:ea typeface="Carlito"/>
                <a:cs typeface="Carlito"/>
              </a:defRPr>
            </a:lvl9pPr>
          </a:lstStyle>
          <a:p>
            <a:pPr algn="l">
              <a:defRPr sz="1400" b="0" i="0">
                <a:solidFill>
                  <a:srgbClr val="5F6F7F"/>
                </a:solidFill>
                <a:latin typeface="Carlito"/>
                <a:ea typeface="Carlito"/>
                <a:cs typeface="Carlito"/>
              </a:defRPr>
            </a:pPr>
            <a:r>
              <a:rPr sz="1400" b="0" i="0">
                <a:solidFill>
                  <a:srgbClr val="5F6F7F"/>
                </a:solidFill>
                <a:latin typeface="Carlito"/>
                <a:ea typeface="Carlito"/>
                <a:cs typeface="Carlito"/>
              </a:rPr>
              <a:t>Height</a:t>
            </a:r>
          </a:p>
        </p:txBody>
      </p:sp>
      <p:sp>
        <p:nvSpPr>
          <p:cNvPr id="29" name="Rectangle 28">
            <a:extLst>
              <a:ext uri="{FF2B5EF4-FFF2-40B4-BE49-F238E27FC236}">
                <a16:creationId xmlns:a16="http://schemas.microsoft.com/office/drawing/2014/main" id="{29710327-FBF7-4C41-BF03-D6179E7F3C17}"/>
              </a:ext>
            </a:extLst>
          </p:cNvPr>
          <p:cNvSpPr>
            <a:spLocks noGrp="1"/>
          </p:cNvSpPr>
          <p:nvPr/>
        </p:nvSpPr>
        <p:spPr>
          <a:xfrm>
            <a:off x="9477375" y="3562350"/>
            <a:ext cx="1238250" cy="400050"/>
          </a:xfrm>
          <a:prstGeom prst="rect">
            <a:avLst/>
          </a:prstGeom>
          <a:noFill/>
          <a:ln w="0">
            <a:noFill/>
            <a:prstDash val="solid"/>
          </a:ln>
        </p:spPr>
        <p:txBody>
          <a:bodyPr wrap="square" lIns="0" tIns="0" rIns="0" bIns="0" anchor="t">
            <a:normAutofit fontScale="93750"/>
          </a:bodyPr>
          <a:lstStyle>
            <a:defPPr algn="l">
              <a:defRPr sz="2800" b="1" i="0">
                <a:solidFill>
                  <a:srgbClr val="D4AF37"/>
                </a:solidFill>
                <a:latin typeface="Carlito"/>
                <a:ea typeface="Carlito"/>
                <a:cs typeface="Carlito"/>
              </a:defRPr>
            </a:defPPr>
            <a:lvl1pPr algn="l">
              <a:defRPr sz="2800" b="1" i="0">
                <a:solidFill>
                  <a:srgbClr val="D4AF37"/>
                </a:solidFill>
                <a:latin typeface="Carlito"/>
                <a:ea typeface="Carlito"/>
                <a:cs typeface="Carlito"/>
              </a:defRPr>
            </a:lvl1pPr>
            <a:lvl2pPr algn="l">
              <a:defRPr sz="2800" b="1" i="0">
                <a:solidFill>
                  <a:srgbClr val="D4AF37"/>
                </a:solidFill>
                <a:latin typeface="Carlito"/>
                <a:ea typeface="Carlito"/>
                <a:cs typeface="Carlito"/>
              </a:defRPr>
            </a:lvl2pPr>
            <a:lvl3pPr algn="l">
              <a:defRPr sz="2800" b="1" i="0">
                <a:solidFill>
                  <a:srgbClr val="D4AF37"/>
                </a:solidFill>
                <a:latin typeface="Carlito"/>
                <a:ea typeface="Carlito"/>
                <a:cs typeface="Carlito"/>
              </a:defRPr>
            </a:lvl3pPr>
            <a:lvl4pPr algn="l">
              <a:defRPr sz="2800" b="1" i="0">
                <a:solidFill>
                  <a:srgbClr val="D4AF37"/>
                </a:solidFill>
                <a:latin typeface="Carlito"/>
                <a:ea typeface="Carlito"/>
                <a:cs typeface="Carlito"/>
              </a:defRPr>
            </a:lvl4pPr>
            <a:lvl5pPr algn="l">
              <a:defRPr sz="2800" b="1" i="0">
                <a:solidFill>
                  <a:srgbClr val="D4AF37"/>
                </a:solidFill>
                <a:latin typeface="Carlito"/>
                <a:ea typeface="Carlito"/>
                <a:cs typeface="Carlito"/>
              </a:defRPr>
            </a:lvl5pPr>
            <a:lvl6pPr algn="l">
              <a:defRPr sz="2800" b="1" i="0">
                <a:solidFill>
                  <a:srgbClr val="D4AF37"/>
                </a:solidFill>
                <a:latin typeface="Carlito"/>
                <a:ea typeface="Carlito"/>
                <a:cs typeface="Carlito"/>
              </a:defRPr>
            </a:lvl6pPr>
            <a:lvl7pPr algn="l">
              <a:defRPr sz="2800" b="1" i="0">
                <a:solidFill>
                  <a:srgbClr val="D4AF37"/>
                </a:solidFill>
                <a:latin typeface="Carlito"/>
                <a:ea typeface="Carlito"/>
                <a:cs typeface="Carlito"/>
              </a:defRPr>
            </a:lvl7pPr>
            <a:lvl8pPr algn="l">
              <a:defRPr sz="2800" b="1" i="0">
                <a:solidFill>
                  <a:srgbClr val="D4AF37"/>
                </a:solidFill>
                <a:latin typeface="Carlito"/>
                <a:ea typeface="Carlito"/>
                <a:cs typeface="Carlito"/>
              </a:defRPr>
            </a:lvl8pPr>
            <a:lvl9pPr algn="l">
              <a:defRPr sz="2800" b="1" i="0">
                <a:solidFill>
                  <a:srgbClr val="D4AF37"/>
                </a:solidFill>
                <a:latin typeface="Carlito"/>
                <a:ea typeface="Carlito"/>
                <a:cs typeface="Carlito"/>
              </a:defRPr>
            </a:lvl9pPr>
          </a:lstStyle>
          <a:p>
            <a:pPr algn="l">
              <a:defRPr sz="2800" b="1" i="0">
                <a:solidFill>
                  <a:srgbClr val="D4AF37"/>
                </a:solidFill>
                <a:latin typeface="Carlito"/>
                <a:ea typeface="Carlito"/>
                <a:cs typeface="Carlito"/>
              </a:defRPr>
            </a:pPr>
            <a:r>
              <a:rPr sz="2800" b="1" i="0">
                <a:solidFill>
                  <a:srgbClr val="D4AF37"/>
                </a:solidFill>
                <a:latin typeface="Carlito"/>
                <a:ea typeface="Carlito"/>
                <a:cs typeface="Carlito"/>
              </a:rPr>
              <a:t>17.5%</a:t>
            </a:r>
          </a:p>
        </p:txBody>
      </p:sp>
      <p:sp>
        <p:nvSpPr>
          <p:cNvPr id="30" name="Rectangle 29">
            <a:extLst>
              <a:ext uri="{FF2B5EF4-FFF2-40B4-BE49-F238E27FC236}">
                <a16:creationId xmlns:a16="http://schemas.microsoft.com/office/drawing/2014/main" id="{67B34B1A-B91E-488C-8267-B01B295B49A1}"/>
              </a:ext>
            </a:extLst>
          </p:cNvPr>
          <p:cNvSpPr>
            <a:spLocks noGrp="1"/>
          </p:cNvSpPr>
          <p:nvPr/>
        </p:nvSpPr>
        <p:spPr>
          <a:xfrm>
            <a:off x="9477375" y="3981450"/>
            <a:ext cx="1238250" cy="228600"/>
          </a:xfrm>
          <a:prstGeom prst="rect">
            <a:avLst/>
          </a:prstGeom>
          <a:noFill/>
          <a:ln w="0">
            <a:noFill/>
            <a:prstDash val="solid"/>
          </a:ln>
        </p:spPr>
        <p:txBody>
          <a:bodyPr wrap="square" lIns="0" tIns="0" rIns="0" bIns="0" anchor="t">
            <a:normAutofit/>
          </a:bodyPr>
          <a:lstStyle>
            <a:defPPr algn="l">
              <a:defRPr sz="1400" b="0" i="0">
                <a:solidFill>
                  <a:srgbClr val="5F6F7F"/>
                </a:solidFill>
                <a:latin typeface="Carlito"/>
                <a:ea typeface="Carlito"/>
                <a:cs typeface="Carlito"/>
              </a:defRPr>
            </a:defPPr>
            <a:lvl1pPr algn="l">
              <a:defRPr sz="1400" b="0" i="0">
                <a:solidFill>
                  <a:srgbClr val="5F6F7F"/>
                </a:solidFill>
                <a:latin typeface="Carlito"/>
                <a:ea typeface="Carlito"/>
                <a:cs typeface="Carlito"/>
              </a:defRPr>
            </a:lvl1pPr>
            <a:lvl2pPr algn="l">
              <a:defRPr sz="1400" b="0" i="0">
                <a:solidFill>
                  <a:srgbClr val="5F6F7F"/>
                </a:solidFill>
                <a:latin typeface="Carlito"/>
                <a:ea typeface="Carlito"/>
                <a:cs typeface="Carlito"/>
              </a:defRPr>
            </a:lvl2pPr>
            <a:lvl3pPr algn="l">
              <a:defRPr sz="1400" b="0" i="0">
                <a:solidFill>
                  <a:srgbClr val="5F6F7F"/>
                </a:solidFill>
                <a:latin typeface="Carlito"/>
                <a:ea typeface="Carlito"/>
                <a:cs typeface="Carlito"/>
              </a:defRPr>
            </a:lvl3pPr>
            <a:lvl4pPr algn="l">
              <a:defRPr sz="1400" b="0" i="0">
                <a:solidFill>
                  <a:srgbClr val="5F6F7F"/>
                </a:solidFill>
                <a:latin typeface="Carlito"/>
                <a:ea typeface="Carlito"/>
                <a:cs typeface="Carlito"/>
              </a:defRPr>
            </a:lvl4pPr>
            <a:lvl5pPr algn="l">
              <a:defRPr sz="1400" b="0" i="0">
                <a:solidFill>
                  <a:srgbClr val="5F6F7F"/>
                </a:solidFill>
                <a:latin typeface="Carlito"/>
                <a:ea typeface="Carlito"/>
                <a:cs typeface="Carlito"/>
              </a:defRPr>
            </a:lvl5pPr>
            <a:lvl6pPr algn="l">
              <a:defRPr sz="1400" b="0" i="0">
                <a:solidFill>
                  <a:srgbClr val="5F6F7F"/>
                </a:solidFill>
                <a:latin typeface="Carlito"/>
                <a:ea typeface="Carlito"/>
                <a:cs typeface="Carlito"/>
              </a:defRPr>
            </a:lvl6pPr>
            <a:lvl7pPr algn="l">
              <a:defRPr sz="1400" b="0" i="0">
                <a:solidFill>
                  <a:srgbClr val="5F6F7F"/>
                </a:solidFill>
                <a:latin typeface="Carlito"/>
                <a:ea typeface="Carlito"/>
                <a:cs typeface="Carlito"/>
              </a:defRPr>
            </a:lvl7pPr>
            <a:lvl8pPr algn="l">
              <a:defRPr sz="1400" b="0" i="0">
                <a:solidFill>
                  <a:srgbClr val="5F6F7F"/>
                </a:solidFill>
                <a:latin typeface="Carlito"/>
                <a:ea typeface="Carlito"/>
                <a:cs typeface="Carlito"/>
              </a:defRPr>
            </a:lvl8pPr>
            <a:lvl9pPr algn="l">
              <a:defRPr sz="1400" b="0" i="0">
                <a:solidFill>
                  <a:srgbClr val="5F6F7F"/>
                </a:solidFill>
                <a:latin typeface="Carlito"/>
                <a:ea typeface="Carlito"/>
                <a:cs typeface="Carlito"/>
              </a:defRPr>
            </a:lvl9pPr>
          </a:lstStyle>
          <a:p>
            <a:pPr algn="l">
              <a:defRPr sz="1400" b="0" i="0">
                <a:solidFill>
                  <a:srgbClr val="5F6F7F"/>
                </a:solidFill>
                <a:latin typeface="Carlito"/>
                <a:ea typeface="Carlito"/>
                <a:cs typeface="Carlito"/>
              </a:defRPr>
            </a:pPr>
            <a:r>
              <a:rPr sz="1400" b="0" i="0">
                <a:solidFill>
                  <a:srgbClr val="5F6F7F"/>
                </a:solidFill>
                <a:latin typeface="Carlito"/>
                <a:ea typeface="Carlito"/>
                <a:cs typeface="Carlito"/>
              </a:rPr>
              <a:t>Weight</a:t>
            </a:r>
          </a:p>
        </p:txBody>
      </p:sp>
      <p:sp>
        <p:nvSpPr>
          <p:cNvPr id="31" name="Rectangle 30">
            <a:extLst>
              <a:ext uri="{FF2B5EF4-FFF2-40B4-BE49-F238E27FC236}">
                <a16:creationId xmlns:a16="http://schemas.microsoft.com/office/drawing/2014/main" id="{208A1B71-4325-466A-9DD6-C77EBF0E5406}"/>
              </a:ext>
            </a:extLst>
          </p:cNvPr>
          <p:cNvSpPr>
            <a:spLocks noGrp="1"/>
          </p:cNvSpPr>
          <p:nvPr/>
        </p:nvSpPr>
        <p:spPr>
          <a:xfrm>
            <a:off x="6429375" y="4572000"/>
            <a:ext cx="4429125" cy="895350"/>
          </a:xfrm>
          <a:prstGeom prst="rect">
            <a:avLst/>
          </a:prstGeom>
          <a:noFill/>
          <a:ln w="0">
            <a:noFill/>
            <a:prstDash val="solid"/>
          </a:ln>
        </p:spPr>
        <p:txBody>
          <a:bodyPr wrap="square" lIns="0" tIns="0" rIns="0" bIns="0" anchor="t">
            <a:normAutofit/>
          </a:bodyPr>
          <a:lstStyle>
            <a:defPPr algn="l">
              <a:defRPr sz="1700" b="0" i="0">
                <a:solidFill>
                  <a:srgbClr val="152536"/>
                </a:solidFill>
                <a:latin typeface="Carlito"/>
                <a:ea typeface="Carlito"/>
                <a:cs typeface="Carlito"/>
              </a:defRPr>
            </a:defPPr>
            <a:lvl1pPr algn="l">
              <a:defRPr sz="1700" b="0" i="0">
                <a:solidFill>
                  <a:srgbClr val="152536"/>
                </a:solidFill>
                <a:latin typeface="Carlito"/>
                <a:ea typeface="Carlito"/>
                <a:cs typeface="Carlito"/>
              </a:defRPr>
            </a:lvl1pPr>
            <a:lvl2pPr algn="l">
              <a:defRPr sz="1700" b="0" i="0">
                <a:solidFill>
                  <a:srgbClr val="152536"/>
                </a:solidFill>
                <a:latin typeface="Carlito"/>
                <a:ea typeface="Carlito"/>
                <a:cs typeface="Carlito"/>
              </a:defRPr>
            </a:lvl2pPr>
            <a:lvl3pPr algn="l">
              <a:defRPr sz="1700" b="0" i="0">
                <a:solidFill>
                  <a:srgbClr val="152536"/>
                </a:solidFill>
                <a:latin typeface="Carlito"/>
                <a:ea typeface="Carlito"/>
                <a:cs typeface="Carlito"/>
              </a:defRPr>
            </a:lvl3pPr>
            <a:lvl4pPr algn="l">
              <a:defRPr sz="1700" b="0" i="0">
                <a:solidFill>
                  <a:srgbClr val="152536"/>
                </a:solidFill>
                <a:latin typeface="Carlito"/>
                <a:ea typeface="Carlito"/>
                <a:cs typeface="Carlito"/>
              </a:defRPr>
            </a:lvl4pPr>
            <a:lvl5pPr algn="l">
              <a:defRPr sz="1700" b="0" i="0">
                <a:solidFill>
                  <a:srgbClr val="152536"/>
                </a:solidFill>
                <a:latin typeface="Carlito"/>
                <a:ea typeface="Carlito"/>
                <a:cs typeface="Carlito"/>
              </a:defRPr>
            </a:lvl5pPr>
            <a:lvl6pPr algn="l">
              <a:defRPr sz="1700" b="0" i="0">
                <a:solidFill>
                  <a:srgbClr val="152536"/>
                </a:solidFill>
                <a:latin typeface="Carlito"/>
                <a:ea typeface="Carlito"/>
                <a:cs typeface="Carlito"/>
              </a:defRPr>
            </a:lvl6pPr>
            <a:lvl7pPr algn="l">
              <a:defRPr sz="1700" b="0" i="0">
                <a:solidFill>
                  <a:srgbClr val="152536"/>
                </a:solidFill>
                <a:latin typeface="Carlito"/>
                <a:ea typeface="Carlito"/>
                <a:cs typeface="Carlito"/>
              </a:defRPr>
            </a:lvl7pPr>
            <a:lvl8pPr algn="l">
              <a:defRPr sz="1700" b="0" i="0">
                <a:solidFill>
                  <a:srgbClr val="152536"/>
                </a:solidFill>
                <a:latin typeface="Carlito"/>
                <a:ea typeface="Carlito"/>
                <a:cs typeface="Carlito"/>
              </a:defRPr>
            </a:lvl8pPr>
            <a:lvl9pPr algn="l">
              <a:defRPr sz="1700" b="0" i="0">
                <a:solidFill>
                  <a:srgbClr val="152536"/>
                </a:solidFill>
                <a:latin typeface="Carlito"/>
                <a:ea typeface="Carlito"/>
                <a:cs typeface="Carlito"/>
              </a:defRPr>
            </a:lvl9pPr>
          </a:lstStyle>
          <a:p>
            <a:pPr algn="l">
              <a:defRPr sz="1700" b="0" i="0">
                <a:solidFill>
                  <a:srgbClr val="152536"/>
                </a:solidFill>
                <a:latin typeface="Carlito"/>
                <a:ea typeface="Carlito"/>
                <a:cs typeface="Carlito"/>
              </a:defRPr>
            </a:pPr>
            <a:r>
              <a:rPr sz="1700" b="0" i="0">
                <a:solidFill>
                  <a:srgbClr val="152536"/>
                </a:solidFill>
                <a:latin typeface="Carlito"/>
                <a:ea typeface="Carlito"/>
                <a:cs typeface="Carlito"/>
              </a:rPr>
              <a:t>Values were retained and flagged rather than imputed, avoiding artificial athlete measurements.</a:t>
            </a:r>
          </a:p>
        </p:txBody>
      </p:sp>
      <p:sp>
        <p:nvSpPr>
          <p:cNvPr id="32" name="Rectangle 31">
            <a:extLst>
              <a:ext uri="{FF2B5EF4-FFF2-40B4-BE49-F238E27FC236}">
                <a16:creationId xmlns:a16="http://schemas.microsoft.com/office/drawing/2014/main" id="{5B6FD5CC-A336-482F-8837-24BDA6706E88}"/>
              </a:ext>
            </a:extLst>
          </p:cNvPr>
          <p:cNvSpPr>
            <a:spLocks noGrp="1"/>
          </p:cNvSpPr>
          <p:nvPr/>
        </p:nvSpPr>
        <p:spPr>
          <a:xfrm>
            <a:off x="609600" y="6515100"/>
            <a:ext cx="4953000" cy="171450"/>
          </a:xfrm>
          <a:prstGeom prst="rect">
            <a:avLst/>
          </a:prstGeom>
          <a:noFill/>
          <a:ln w="0">
            <a:noFill/>
            <a:prstDash val="solid"/>
          </a:ln>
        </p:spPr>
        <p:txBody>
          <a:bodyPr wrap="square" lIns="0" tIns="0" rIns="0" bIns="0" anchor="t">
            <a:normAutofit/>
          </a:bodyPr>
          <a:lstStyle>
            <a:defPPr algn="l">
              <a:defRPr sz="900" b="0" i="0">
                <a:solidFill>
                  <a:srgbClr val="5F6F7F"/>
                </a:solidFill>
                <a:latin typeface="Carlito"/>
                <a:ea typeface="Carlito"/>
                <a:cs typeface="Carlito"/>
              </a:defRPr>
            </a:defPPr>
            <a:lvl1pPr algn="l">
              <a:defRPr sz="900" b="0" i="0">
                <a:solidFill>
                  <a:srgbClr val="5F6F7F"/>
                </a:solidFill>
                <a:latin typeface="Carlito"/>
                <a:ea typeface="Carlito"/>
                <a:cs typeface="Carlito"/>
              </a:defRPr>
            </a:lvl1pPr>
            <a:lvl2pPr algn="l">
              <a:defRPr sz="900" b="0" i="0">
                <a:solidFill>
                  <a:srgbClr val="5F6F7F"/>
                </a:solidFill>
                <a:latin typeface="Carlito"/>
                <a:ea typeface="Carlito"/>
                <a:cs typeface="Carlito"/>
              </a:defRPr>
            </a:lvl2pPr>
            <a:lvl3pPr algn="l">
              <a:defRPr sz="900" b="0" i="0">
                <a:solidFill>
                  <a:srgbClr val="5F6F7F"/>
                </a:solidFill>
                <a:latin typeface="Carlito"/>
                <a:ea typeface="Carlito"/>
                <a:cs typeface="Carlito"/>
              </a:defRPr>
            </a:lvl3pPr>
            <a:lvl4pPr algn="l">
              <a:defRPr sz="900" b="0" i="0">
                <a:solidFill>
                  <a:srgbClr val="5F6F7F"/>
                </a:solidFill>
                <a:latin typeface="Carlito"/>
                <a:ea typeface="Carlito"/>
                <a:cs typeface="Carlito"/>
              </a:defRPr>
            </a:lvl4pPr>
            <a:lvl5pPr algn="l">
              <a:defRPr sz="900" b="0" i="0">
                <a:solidFill>
                  <a:srgbClr val="5F6F7F"/>
                </a:solidFill>
                <a:latin typeface="Carlito"/>
                <a:ea typeface="Carlito"/>
                <a:cs typeface="Carlito"/>
              </a:defRPr>
            </a:lvl5pPr>
            <a:lvl6pPr algn="l">
              <a:defRPr sz="900" b="0" i="0">
                <a:solidFill>
                  <a:srgbClr val="5F6F7F"/>
                </a:solidFill>
                <a:latin typeface="Carlito"/>
                <a:ea typeface="Carlito"/>
                <a:cs typeface="Carlito"/>
              </a:defRPr>
            </a:lvl6pPr>
            <a:lvl7pPr algn="l">
              <a:defRPr sz="900" b="0" i="0">
                <a:solidFill>
                  <a:srgbClr val="5F6F7F"/>
                </a:solidFill>
                <a:latin typeface="Carlito"/>
                <a:ea typeface="Carlito"/>
                <a:cs typeface="Carlito"/>
              </a:defRPr>
            </a:lvl7pPr>
            <a:lvl8pPr algn="l">
              <a:defRPr sz="900" b="0" i="0">
                <a:solidFill>
                  <a:srgbClr val="5F6F7F"/>
                </a:solidFill>
                <a:latin typeface="Carlito"/>
                <a:ea typeface="Carlito"/>
                <a:cs typeface="Carlito"/>
              </a:defRPr>
            </a:lvl8pPr>
            <a:lvl9pPr algn="l">
              <a:defRPr sz="900" b="0" i="0">
                <a:solidFill>
                  <a:srgbClr val="5F6F7F"/>
                </a:solidFill>
                <a:latin typeface="Carlito"/>
                <a:ea typeface="Carlito"/>
                <a:cs typeface="Carlito"/>
              </a:defRPr>
            </a:lvl9pPr>
          </a:lstStyle>
          <a:p>
            <a:pPr algn="l">
              <a:defRPr sz="900" b="0" i="0">
                <a:solidFill>
                  <a:srgbClr val="5F6F7F"/>
                </a:solidFill>
                <a:latin typeface="Carlito"/>
                <a:ea typeface="Carlito"/>
                <a:cs typeface="Carlito"/>
              </a:defRPr>
            </a:pPr>
            <a:r>
              <a:rPr sz="900" b="0" i="0">
                <a:solidFill>
                  <a:srgbClr val="5F6F7F"/>
                </a:solidFill>
                <a:latin typeface="Carlito"/>
                <a:ea typeface="Carlito"/>
                <a:cs typeface="Carlito"/>
              </a:rPr>
              <a:t>ASEAN Olympic Performance Intelligence System</a:t>
            </a:r>
          </a:p>
        </p:txBody>
      </p:sp>
      <p:sp>
        <p:nvSpPr>
          <p:cNvPr id="33" name="Rectangle 32">
            <a:extLst>
              <a:ext uri="{FF2B5EF4-FFF2-40B4-BE49-F238E27FC236}">
                <a16:creationId xmlns:a16="http://schemas.microsoft.com/office/drawing/2014/main" id="{4090AD1A-4164-4217-AE74-899C970F9967}"/>
              </a:ext>
            </a:extLst>
          </p:cNvPr>
          <p:cNvSpPr>
            <a:spLocks noGrp="1"/>
          </p:cNvSpPr>
          <p:nvPr/>
        </p:nvSpPr>
        <p:spPr>
          <a:xfrm>
            <a:off x="11049000" y="6486525"/>
            <a:ext cx="533400" cy="190500"/>
          </a:xfrm>
          <a:prstGeom prst="rect">
            <a:avLst/>
          </a:prstGeom>
          <a:noFill/>
          <a:ln w="0">
            <a:noFill/>
            <a:prstDash val="solid"/>
          </a:ln>
        </p:spPr>
        <p:txBody>
          <a:bodyPr wrap="square" lIns="0" tIns="0" rIns="0" bIns="0" anchor="t">
            <a:normAutofit/>
          </a:bodyPr>
          <a:lstStyle>
            <a:defPPr algn="r">
              <a:defRPr sz="1000" b="1" i="0">
                <a:solidFill>
                  <a:srgbClr val="071B33"/>
                </a:solidFill>
                <a:latin typeface="Carlito"/>
                <a:ea typeface="Carlito"/>
                <a:cs typeface="Carlito"/>
              </a:defRPr>
            </a:defPPr>
            <a:lvl1pPr algn="r">
              <a:defRPr sz="1000" b="1" i="0">
                <a:solidFill>
                  <a:srgbClr val="071B33"/>
                </a:solidFill>
                <a:latin typeface="Carlito"/>
                <a:ea typeface="Carlito"/>
                <a:cs typeface="Carlito"/>
              </a:defRPr>
            </a:lvl1pPr>
            <a:lvl2pPr algn="r">
              <a:defRPr sz="1000" b="1" i="0">
                <a:solidFill>
                  <a:srgbClr val="071B33"/>
                </a:solidFill>
                <a:latin typeface="Carlito"/>
                <a:ea typeface="Carlito"/>
                <a:cs typeface="Carlito"/>
              </a:defRPr>
            </a:lvl2pPr>
            <a:lvl3pPr algn="r">
              <a:defRPr sz="1000" b="1" i="0">
                <a:solidFill>
                  <a:srgbClr val="071B33"/>
                </a:solidFill>
                <a:latin typeface="Carlito"/>
                <a:ea typeface="Carlito"/>
                <a:cs typeface="Carlito"/>
              </a:defRPr>
            </a:lvl3pPr>
            <a:lvl4pPr algn="r">
              <a:defRPr sz="1000" b="1" i="0">
                <a:solidFill>
                  <a:srgbClr val="071B33"/>
                </a:solidFill>
                <a:latin typeface="Carlito"/>
                <a:ea typeface="Carlito"/>
                <a:cs typeface="Carlito"/>
              </a:defRPr>
            </a:lvl4pPr>
            <a:lvl5pPr algn="r">
              <a:defRPr sz="1000" b="1" i="0">
                <a:solidFill>
                  <a:srgbClr val="071B33"/>
                </a:solidFill>
                <a:latin typeface="Carlito"/>
                <a:ea typeface="Carlito"/>
                <a:cs typeface="Carlito"/>
              </a:defRPr>
            </a:lvl5pPr>
            <a:lvl6pPr algn="r">
              <a:defRPr sz="1000" b="1" i="0">
                <a:solidFill>
                  <a:srgbClr val="071B33"/>
                </a:solidFill>
                <a:latin typeface="Carlito"/>
                <a:ea typeface="Carlito"/>
                <a:cs typeface="Carlito"/>
              </a:defRPr>
            </a:lvl6pPr>
            <a:lvl7pPr algn="r">
              <a:defRPr sz="1000" b="1" i="0">
                <a:solidFill>
                  <a:srgbClr val="071B33"/>
                </a:solidFill>
                <a:latin typeface="Carlito"/>
                <a:ea typeface="Carlito"/>
                <a:cs typeface="Carlito"/>
              </a:defRPr>
            </a:lvl7pPr>
            <a:lvl8pPr algn="r">
              <a:defRPr sz="1000" b="1" i="0">
                <a:solidFill>
                  <a:srgbClr val="071B33"/>
                </a:solidFill>
                <a:latin typeface="Carlito"/>
                <a:ea typeface="Carlito"/>
                <a:cs typeface="Carlito"/>
              </a:defRPr>
            </a:lvl8pPr>
            <a:lvl9pPr algn="r">
              <a:defRPr sz="1000" b="1" i="0">
                <a:solidFill>
                  <a:srgbClr val="071B33"/>
                </a:solidFill>
                <a:latin typeface="Carlito"/>
                <a:ea typeface="Carlito"/>
                <a:cs typeface="Carlito"/>
              </a:defRPr>
            </a:lvl9pPr>
          </a:lstStyle>
          <a:p>
            <a:pPr algn="r">
              <a:defRPr sz="1000" b="1" i="0">
                <a:solidFill>
                  <a:srgbClr val="071B33"/>
                </a:solidFill>
                <a:latin typeface="Carlito"/>
                <a:ea typeface="Carlito"/>
                <a:cs typeface="Carlito"/>
              </a:defRPr>
            </a:pPr>
            <a:r>
              <a:rPr sz="1000" b="1" i="0">
                <a:solidFill>
                  <a:srgbClr val="071B33"/>
                </a:solidFill>
                <a:latin typeface="Carlito"/>
                <a:ea typeface="Carlito"/>
                <a:cs typeface="Carlito"/>
              </a:rPr>
              <a:t>03</a:t>
            </a:r>
          </a:p>
        </p:txBody>
      </p:sp>
      <p:sp>
        <p:nvSpPr>
          <p:cNvPr id="36" name="Rectangle 35">
            <a:extLst>
              <a:ext uri="{FF2B5EF4-FFF2-40B4-BE49-F238E27FC236}">
                <a16:creationId xmlns:a16="http://schemas.microsoft.com/office/drawing/2014/main" id="{5043F777-9695-E87E-4A15-A8DBB5619135}"/>
              </a:ext>
            </a:extLst>
          </p:cNvPr>
          <p:cNvSpPr>
            <a:spLocks noGrp="1"/>
          </p:cNvSpPr>
          <p:nvPr/>
        </p:nvSpPr>
        <p:spPr>
          <a:xfrm>
            <a:off x="895350" y="5298567"/>
            <a:ext cx="4724400" cy="495300"/>
          </a:xfrm>
          <a:prstGeom prst="rect">
            <a:avLst/>
          </a:prstGeom>
          <a:noFill/>
          <a:ln w="0">
            <a:noFill/>
            <a:prstDash val="solid"/>
          </a:ln>
        </p:spPr>
        <p:txBody>
          <a:bodyPr wrap="square" lIns="0" tIns="0" rIns="0" bIns="0" anchor="t">
            <a:normAutofit/>
          </a:bodyPr>
          <a:lstStyle>
            <a:defPPr algn="l">
              <a:defRPr sz="1600" b="0" i="0">
                <a:solidFill>
                  <a:srgbClr val="152536"/>
                </a:solidFill>
                <a:latin typeface="Carlito"/>
                <a:ea typeface="Carlito"/>
                <a:cs typeface="Carlito"/>
              </a:defRPr>
            </a:defPPr>
            <a:lvl1pPr algn="l">
              <a:defRPr sz="1600" b="0" i="0">
                <a:solidFill>
                  <a:srgbClr val="152536"/>
                </a:solidFill>
                <a:latin typeface="Carlito"/>
                <a:ea typeface="Carlito"/>
                <a:cs typeface="Carlito"/>
              </a:defRPr>
            </a:lvl1pPr>
            <a:lvl2pPr algn="l">
              <a:defRPr sz="1600" b="0" i="0">
                <a:solidFill>
                  <a:srgbClr val="152536"/>
                </a:solidFill>
                <a:latin typeface="Carlito"/>
                <a:ea typeface="Carlito"/>
                <a:cs typeface="Carlito"/>
              </a:defRPr>
            </a:lvl2pPr>
            <a:lvl3pPr algn="l">
              <a:defRPr sz="1600" b="0" i="0">
                <a:solidFill>
                  <a:srgbClr val="152536"/>
                </a:solidFill>
                <a:latin typeface="Carlito"/>
                <a:ea typeface="Carlito"/>
                <a:cs typeface="Carlito"/>
              </a:defRPr>
            </a:lvl3pPr>
            <a:lvl4pPr algn="l">
              <a:defRPr sz="1600" b="0" i="0">
                <a:solidFill>
                  <a:srgbClr val="152536"/>
                </a:solidFill>
                <a:latin typeface="Carlito"/>
                <a:ea typeface="Carlito"/>
                <a:cs typeface="Carlito"/>
              </a:defRPr>
            </a:lvl4pPr>
            <a:lvl5pPr algn="l">
              <a:defRPr sz="1600" b="0" i="0">
                <a:solidFill>
                  <a:srgbClr val="152536"/>
                </a:solidFill>
                <a:latin typeface="Carlito"/>
                <a:ea typeface="Carlito"/>
                <a:cs typeface="Carlito"/>
              </a:defRPr>
            </a:lvl5pPr>
            <a:lvl6pPr algn="l">
              <a:defRPr sz="1600" b="0" i="0">
                <a:solidFill>
                  <a:srgbClr val="152536"/>
                </a:solidFill>
                <a:latin typeface="Carlito"/>
                <a:ea typeface="Carlito"/>
                <a:cs typeface="Carlito"/>
              </a:defRPr>
            </a:lvl6pPr>
            <a:lvl7pPr algn="l">
              <a:defRPr sz="1600" b="0" i="0">
                <a:solidFill>
                  <a:srgbClr val="152536"/>
                </a:solidFill>
                <a:latin typeface="Carlito"/>
                <a:ea typeface="Carlito"/>
                <a:cs typeface="Carlito"/>
              </a:defRPr>
            </a:lvl7pPr>
            <a:lvl8pPr algn="l">
              <a:defRPr sz="1600" b="0" i="0">
                <a:solidFill>
                  <a:srgbClr val="152536"/>
                </a:solidFill>
                <a:latin typeface="Carlito"/>
                <a:ea typeface="Carlito"/>
                <a:cs typeface="Carlito"/>
              </a:defRPr>
            </a:lvl8pPr>
            <a:lvl9pPr algn="l">
              <a:defRPr sz="1600" b="0" i="0">
                <a:solidFill>
                  <a:srgbClr val="152536"/>
                </a:solidFill>
                <a:latin typeface="Carlito"/>
                <a:ea typeface="Carlito"/>
                <a:cs typeface="Carlito"/>
              </a:defRPr>
            </a:lvl9pPr>
          </a:lstStyle>
          <a:p>
            <a:pPr>
              <a:defRPr sz="1600" b="0" i="0">
                <a:solidFill>
                  <a:srgbClr val="152536"/>
                </a:solidFill>
                <a:latin typeface="Carlito"/>
                <a:ea typeface="Carlito"/>
                <a:cs typeface="Carlito"/>
              </a:defRPr>
            </a:pPr>
            <a:r>
              <a:rPr lang="en-US" sz="1400" dirty="0"/>
              <a:t>Deduplicated team medals by Games, NOC, Event and Medal</a:t>
            </a:r>
            <a:endParaRPr sz="1400" b="0" i="0" dirty="0">
              <a:solidFill>
                <a:srgbClr val="152536"/>
              </a:solidFill>
              <a:latin typeface="Carlito"/>
              <a:ea typeface="Carlito"/>
              <a:cs typeface="Carlito"/>
            </a:endParaRPr>
          </a:p>
        </p:txBody>
      </p:sp>
    </p:spTree>
    <p:extLst>
      <p:ext uri="{BB962C8B-B14F-4D97-AF65-F5344CB8AC3E}">
        <p14:creationId xmlns:p14="http://schemas.microsoft.com/office/powerpoint/2010/main" val="1184545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3F8"/>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2DFAB8D-4A5C-4EF0-9D73-AF7B7D71C165}"/>
              </a:ext>
            </a:extLst>
          </p:cNvPr>
          <p:cNvSpPr>
            <a:spLocks noGrp="1"/>
          </p:cNvSpPr>
          <p:nvPr/>
        </p:nvSpPr>
        <p:spPr>
          <a:xfrm>
            <a:off x="609600" y="361950"/>
            <a:ext cx="10477500" cy="457200"/>
          </a:xfrm>
          <a:prstGeom prst="rect">
            <a:avLst/>
          </a:prstGeom>
          <a:noFill/>
          <a:ln w="0">
            <a:noFill/>
            <a:prstDash val="solid"/>
          </a:ln>
        </p:spPr>
        <p:txBody>
          <a:bodyPr wrap="square" lIns="0" tIns="0" rIns="0" bIns="0" anchor="t">
            <a:normAutofit/>
          </a:bodyPr>
          <a:lstStyle>
            <a:defPPr algn="l">
              <a:defRPr sz="2800" b="1" i="0">
                <a:solidFill>
                  <a:srgbClr val="071B33"/>
                </a:solidFill>
                <a:latin typeface="Carlito"/>
                <a:ea typeface="Carlito"/>
                <a:cs typeface="Carlito"/>
              </a:defRPr>
            </a:defPPr>
            <a:lvl1pPr algn="l">
              <a:defRPr sz="2800" b="1" i="0">
                <a:solidFill>
                  <a:srgbClr val="071B33"/>
                </a:solidFill>
                <a:latin typeface="Carlito"/>
                <a:ea typeface="Carlito"/>
                <a:cs typeface="Carlito"/>
              </a:defRPr>
            </a:lvl1pPr>
            <a:lvl2pPr algn="l">
              <a:defRPr sz="2800" b="1" i="0">
                <a:solidFill>
                  <a:srgbClr val="071B33"/>
                </a:solidFill>
                <a:latin typeface="Carlito"/>
                <a:ea typeface="Carlito"/>
                <a:cs typeface="Carlito"/>
              </a:defRPr>
            </a:lvl2pPr>
            <a:lvl3pPr algn="l">
              <a:defRPr sz="2800" b="1" i="0">
                <a:solidFill>
                  <a:srgbClr val="071B33"/>
                </a:solidFill>
                <a:latin typeface="Carlito"/>
                <a:ea typeface="Carlito"/>
                <a:cs typeface="Carlito"/>
              </a:defRPr>
            </a:lvl3pPr>
            <a:lvl4pPr algn="l">
              <a:defRPr sz="2800" b="1" i="0">
                <a:solidFill>
                  <a:srgbClr val="071B33"/>
                </a:solidFill>
                <a:latin typeface="Carlito"/>
                <a:ea typeface="Carlito"/>
                <a:cs typeface="Carlito"/>
              </a:defRPr>
            </a:lvl4pPr>
            <a:lvl5pPr algn="l">
              <a:defRPr sz="2800" b="1" i="0">
                <a:solidFill>
                  <a:srgbClr val="071B33"/>
                </a:solidFill>
                <a:latin typeface="Carlito"/>
                <a:ea typeface="Carlito"/>
                <a:cs typeface="Carlito"/>
              </a:defRPr>
            </a:lvl5pPr>
            <a:lvl6pPr algn="l">
              <a:defRPr sz="2800" b="1" i="0">
                <a:solidFill>
                  <a:srgbClr val="071B33"/>
                </a:solidFill>
                <a:latin typeface="Carlito"/>
                <a:ea typeface="Carlito"/>
                <a:cs typeface="Carlito"/>
              </a:defRPr>
            </a:lvl6pPr>
            <a:lvl7pPr algn="l">
              <a:defRPr sz="2800" b="1" i="0">
                <a:solidFill>
                  <a:srgbClr val="071B33"/>
                </a:solidFill>
                <a:latin typeface="Carlito"/>
                <a:ea typeface="Carlito"/>
                <a:cs typeface="Carlito"/>
              </a:defRPr>
            </a:lvl7pPr>
            <a:lvl8pPr algn="l">
              <a:defRPr sz="2800" b="1" i="0">
                <a:solidFill>
                  <a:srgbClr val="071B33"/>
                </a:solidFill>
                <a:latin typeface="Carlito"/>
                <a:ea typeface="Carlito"/>
                <a:cs typeface="Carlito"/>
              </a:defRPr>
            </a:lvl8pPr>
            <a:lvl9pPr algn="l">
              <a:defRPr sz="2800" b="1" i="0">
                <a:solidFill>
                  <a:srgbClr val="071B33"/>
                </a:solidFill>
                <a:latin typeface="Carlito"/>
                <a:ea typeface="Carlito"/>
                <a:cs typeface="Carlito"/>
              </a:defRPr>
            </a:lvl9pPr>
          </a:lstStyle>
          <a:p>
            <a:pPr algn="l">
              <a:defRPr sz="2800" b="1" i="0">
                <a:solidFill>
                  <a:srgbClr val="071B33"/>
                </a:solidFill>
                <a:latin typeface="Carlito"/>
                <a:ea typeface="Carlito"/>
                <a:cs typeface="Carlito"/>
              </a:defRPr>
            </a:pPr>
            <a:r>
              <a:rPr sz="2800" b="1" i="0">
                <a:solidFill>
                  <a:srgbClr val="071B33"/>
                </a:solidFill>
                <a:latin typeface="Carlito"/>
                <a:ea typeface="Carlito"/>
                <a:cs typeface="Carlito"/>
              </a:rPr>
              <a:t>Analytics system delivered</a:t>
            </a:r>
          </a:p>
        </p:txBody>
      </p:sp>
      <p:sp>
        <p:nvSpPr>
          <p:cNvPr id="2" name="Rectangle 1">
            <a:extLst>
              <a:ext uri="{FF2B5EF4-FFF2-40B4-BE49-F238E27FC236}">
                <a16:creationId xmlns:a16="http://schemas.microsoft.com/office/drawing/2014/main" id="{DE4A95B3-BF71-48C3-BBA1-DEE9A05DB162}"/>
              </a:ext>
            </a:extLst>
          </p:cNvPr>
          <p:cNvSpPr>
            <a:spLocks noGrp="1"/>
          </p:cNvSpPr>
          <p:nvPr/>
        </p:nvSpPr>
        <p:spPr>
          <a:xfrm>
            <a:off x="609600" y="828675"/>
            <a:ext cx="10668000" cy="285750"/>
          </a:xfrm>
          <a:prstGeom prst="rect">
            <a:avLst/>
          </a:prstGeom>
          <a:noFill/>
          <a:ln w="0">
            <a:noFill/>
            <a:prstDash val="solid"/>
          </a:ln>
        </p:spPr>
        <p:txBody>
          <a:bodyPr wrap="square" lIns="0" tIns="0" rIns="0" bIns="0" anchor="t">
            <a:normAutofit/>
          </a:bodyPr>
          <a:lstStyle>
            <a:defPPr algn="l">
              <a:defRPr sz="1400" b="0" i="0">
                <a:solidFill>
                  <a:srgbClr val="5F6F7F"/>
                </a:solidFill>
                <a:latin typeface="Carlito"/>
                <a:ea typeface="Carlito"/>
                <a:cs typeface="Carlito"/>
              </a:defRPr>
            </a:defPPr>
            <a:lvl1pPr algn="l">
              <a:defRPr sz="1400" b="0" i="0">
                <a:solidFill>
                  <a:srgbClr val="5F6F7F"/>
                </a:solidFill>
                <a:latin typeface="Carlito"/>
                <a:ea typeface="Carlito"/>
                <a:cs typeface="Carlito"/>
              </a:defRPr>
            </a:lvl1pPr>
            <a:lvl2pPr algn="l">
              <a:defRPr sz="1400" b="0" i="0">
                <a:solidFill>
                  <a:srgbClr val="5F6F7F"/>
                </a:solidFill>
                <a:latin typeface="Carlito"/>
                <a:ea typeface="Carlito"/>
                <a:cs typeface="Carlito"/>
              </a:defRPr>
            </a:lvl2pPr>
            <a:lvl3pPr algn="l">
              <a:defRPr sz="1400" b="0" i="0">
                <a:solidFill>
                  <a:srgbClr val="5F6F7F"/>
                </a:solidFill>
                <a:latin typeface="Carlito"/>
                <a:ea typeface="Carlito"/>
                <a:cs typeface="Carlito"/>
              </a:defRPr>
            </a:lvl3pPr>
            <a:lvl4pPr algn="l">
              <a:defRPr sz="1400" b="0" i="0">
                <a:solidFill>
                  <a:srgbClr val="5F6F7F"/>
                </a:solidFill>
                <a:latin typeface="Carlito"/>
                <a:ea typeface="Carlito"/>
                <a:cs typeface="Carlito"/>
              </a:defRPr>
            </a:lvl4pPr>
            <a:lvl5pPr algn="l">
              <a:defRPr sz="1400" b="0" i="0">
                <a:solidFill>
                  <a:srgbClr val="5F6F7F"/>
                </a:solidFill>
                <a:latin typeface="Carlito"/>
                <a:ea typeface="Carlito"/>
                <a:cs typeface="Carlito"/>
              </a:defRPr>
            </a:lvl5pPr>
            <a:lvl6pPr algn="l">
              <a:defRPr sz="1400" b="0" i="0">
                <a:solidFill>
                  <a:srgbClr val="5F6F7F"/>
                </a:solidFill>
                <a:latin typeface="Carlito"/>
                <a:ea typeface="Carlito"/>
                <a:cs typeface="Carlito"/>
              </a:defRPr>
            </a:lvl6pPr>
            <a:lvl7pPr algn="l">
              <a:defRPr sz="1400" b="0" i="0">
                <a:solidFill>
                  <a:srgbClr val="5F6F7F"/>
                </a:solidFill>
                <a:latin typeface="Carlito"/>
                <a:ea typeface="Carlito"/>
                <a:cs typeface="Carlito"/>
              </a:defRPr>
            </a:lvl7pPr>
            <a:lvl8pPr algn="l">
              <a:defRPr sz="1400" b="0" i="0">
                <a:solidFill>
                  <a:srgbClr val="5F6F7F"/>
                </a:solidFill>
                <a:latin typeface="Carlito"/>
                <a:ea typeface="Carlito"/>
                <a:cs typeface="Carlito"/>
              </a:defRPr>
            </a:lvl8pPr>
            <a:lvl9pPr algn="l">
              <a:defRPr sz="1400" b="0" i="0">
                <a:solidFill>
                  <a:srgbClr val="5F6F7F"/>
                </a:solidFill>
                <a:latin typeface="Carlito"/>
                <a:ea typeface="Carlito"/>
                <a:cs typeface="Carlito"/>
              </a:defRPr>
            </a:lvl9pPr>
          </a:lstStyle>
          <a:p>
            <a:pPr algn="l">
              <a:defRPr sz="1400" b="0" i="0">
                <a:solidFill>
                  <a:srgbClr val="5F6F7F"/>
                </a:solidFill>
                <a:latin typeface="Carlito"/>
                <a:ea typeface="Carlito"/>
                <a:cs typeface="Carlito"/>
              </a:defRPr>
            </a:pPr>
            <a:r>
              <a:rPr sz="1400" b="0" i="0">
                <a:solidFill>
                  <a:srgbClr val="5F6F7F"/>
                </a:solidFill>
                <a:latin typeface="Carlito"/>
                <a:ea typeface="Carlito"/>
                <a:cs typeface="Carlito"/>
              </a:rPr>
              <a:t>Power BI supports interactive exploration while Python provides auditable preparation and deeper analysis</a:t>
            </a:r>
          </a:p>
        </p:txBody>
      </p:sp>
      <p:sp>
        <p:nvSpPr>
          <p:cNvPr id="3" name="Rectangle 2">
            <a:extLst>
              <a:ext uri="{FF2B5EF4-FFF2-40B4-BE49-F238E27FC236}">
                <a16:creationId xmlns:a16="http://schemas.microsoft.com/office/drawing/2014/main" id="{DFECC51F-A483-4395-B954-2F7A1A6F65A7}"/>
              </a:ext>
            </a:extLst>
          </p:cNvPr>
          <p:cNvSpPr>
            <a:spLocks noGrp="1"/>
          </p:cNvSpPr>
          <p:nvPr/>
        </p:nvSpPr>
        <p:spPr>
          <a:xfrm>
            <a:off x="609600" y="1181100"/>
            <a:ext cx="10972800" cy="28575"/>
          </a:xfrm>
          <a:prstGeom prst="rect">
            <a:avLst/>
          </a:prstGeom>
          <a:solidFill>
            <a:srgbClr val="D4AF37"/>
          </a:solidFill>
          <a:ln w="0">
            <a:noFill/>
            <a:prstDash val="solid"/>
          </a:ln>
        </p:spPr>
        <p:txBody>
          <a:bodyPr/>
          <a:lstStyle/>
          <a:p>
            <a:endParaRPr lang="en-SG"/>
          </a:p>
        </p:txBody>
      </p:sp>
      <p:sp>
        <p:nvSpPr>
          <p:cNvPr id="4" name="Rectangle 3">
            <a:extLst>
              <a:ext uri="{FF2B5EF4-FFF2-40B4-BE49-F238E27FC236}">
                <a16:creationId xmlns:a16="http://schemas.microsoft.com/office/drawing/2014/main" id="{690D2640-D4E5-4167-B469-BF20366D95AA}"/>
              </a:ext>
            </a:extLst>
          </p:cNvPr>
          <p:cNvSpPr>
            <a:spLocks noGrp="1"/>
          </p:cNvSpPr>
          <p:nvPr/>
        </p:nvSpPr>
        <p:spPr>
          <a:xfrm>
            <a:off x="609600" y="1409700"/>
            <a:ext cx="2857500" cy="285750"/>
          </a:xfrm>
          <a:prstGeom prst="rect">
            <a:avLst/>
          </a:prstGeom>
          <a:noFill/>
          <a:ln w="0">
            <a:noFill/>
            <a:prstDash val="solid"/>
          </a:ln>
        </p:spPr>
        <p:txBody>
          <a:bodyPr wrap="square" lIns="0" tIns="0" rIns="0" bIns="0" anchor="t">
            <a:normAutofit/>
          </a:bodyPr>
          <a:lstStyle>
            <a:defPPr algn="l">
              <a:defRPr sz="1800" b="1" i="0">
                <a:solidFill>
                  <a:srgbClr val="071B33"/>
                </a:solidFill>
                <a:latin typeface="Carlito"/>
                <a:ea typeface="Carlito"/>
                <a:cs typeface="Carlito"/>
              </a:defRPr>
            </a:defPPr>
            <a:lvl1pPr algn="l">
              <a:defRPr sz="1800" b="1" i="0">
                <a:solidFill>
                  <a:srgbClr val="071B33"/>
                </a:solidFill>
                <a:latin typeface="Carlito"/>
                <a:ea typeface="Carlito"/>
                <a:cs typeface="Carlito"/>
              </a:defRPr>
            </a:lvl1pPr>
            <a:lvl2pPr algn="l">
              <a:defRPr sz="1800" b="1" i="0">
                <a:solidFill>
                  <a:srgbClr val="071B33"/>
                </a:solidFill>
                <a:latin typeface="Carlito"/>
                <a:ea typeface="Carlito"/>
                <a:cs typeface="Carlito"/>
              </a:defRPr>
            </a:lvl2pPr>
            <a:lvl3pPr algn="l">
              <a:defRPr sz="1800" b="1" i="0">
                <a:solidFill>
                  <a:srgbClr val="071B33"/>
                </a:solidFill>
                <a:latin typeface="Carlito"/>
                <a:ea typeface="Carlito"/>
                <a:cs typeface="Carlito"/>
              </a:defRPr>
            </a:lvl3pPr>
            <a:lvl4pPr algn="l">
              <a:defRPr sz="1800" b="1" i="0">
                <a:solidFill>
                  <a:srgbClr val="071B33"/>
                </a:solidFill>
                <a:latin typeface="Carlito"/>
                <a:ea typeface="Carlito"/>
                <a:cs typeface="Carlito"/>
              </a:defRPr>
            </a:lvl4pPr>
            <a:lvl5pPr algn="l">
              <a:defRPr sz="1800" b="1" i="0">
                <a:solidFill>
                  <a:srgbClr val="071B33"/>
                </a:solidFill>
                <a:latin typeface="Carlito"/>
                <a:ea typeface="Carlito"/>
                <a:cs typeface="Carlito"/>
              </a:defRPr>
            </a:lvl5pPr>
            <a:lvl6pPr algn="l">
              <a:defRPr sz="1800" b="1" i="0">
                <a:solidFill>
                  <a:srgbClr val="071B33"/>
                </a:solidFill>
                <a:latin typeface="Carlito"/>
                <a:ea typeface="Carlito"/>
                <a:cs typeface="Carlito"/>
              </a:defRPr>
            </a:lvl6pPr>
            <a:lvl7pPr algn="l">
              <a:defRPr sz="1800" b="1" i="0">
                <a:solidFill>
                  <a:srgbClr val="071B33"/>
                </a:solidFill>
                <a:latin typeface="Carlito"/>
                <a:ea typeface="Carlito"/>
                <a:cs typeface="Carlito"/>
              </a:defRPr>
            </a:lvl7pPr>
            <a:lvl8pPr algn="l">
              <a:defRPr sz="1800" b="1" i="0">
                <a:solidFill>
                  <a:srgbClr val="071B33"/>
                </a:solidFill>
                <a:latin typeface="Carlito"/>
                <a:ea typeface="Carlito"/>
                <a:cs typeface="Carlito"/>
              </a:defRPr>
            </a:lvl8pPr>
            <a:lvl9pPr algn="l">
              <a:defRPr sz="1800" b="1" i="0">
                <a:solidFill>
                  <a:srgbClr val="071B33"/>
                </a:solidFill>
                <a:latin typeface="Carlito"/>
                <a:ea typeface="Carlito"/>
                <a:cs typeface="Carlito"/>
              </a:defRPr>
            </a:lvl9pPr>
          </a:lstStyle>
          <a:p>
            <a:pPr algn="l">
              <a:defRPr sz="1800" b="1" i="0">
                <a:solidFill>
                  <a:srgbClr val="071B33"/>
                </a:solidFill>
                <a:latin typeface="Carlito"/>
                <a:ea typeface="Carlito"/>
                <a:cs typeface="Carlito"/>
              </a:defRPr>
            </a:pPr>
            <a:r>
              <a:rPr sz="1800" b="1" i="0">
                <a:solidFill>
                  <a:srgbClr val="071B33"/>
                </a:solidFill>
                <a:latin typeface="Carlito"/>
                <a:ea typeface="Carlito"/>
                <a:cs typeface="Carlito"/>
              </a:rPr>
              <a:t>Executive overview</a:t>
            </a:r>
          </a:p>
        </p:txBody>
      </p:sp>
      <p:sp>
        <p:nvSpPr>
          <p:cNvPr id="5" name="Rectangle 4">
            <a:extLst>
              <a:ext uri="{FF2B5EF4-FFF2-40B4-BE49-F238E27FC236}">
                <a16:creationId xmlns:a16="http://schemas.microsoft.com/office/drawing/2014/main" id="{3AC2DE1B-37FC-4564-84F7-AB1E494C8E81}"/>
              </a:ext>
            </a:extLst>
          </p:cNvPr>
          <p:cNvSpPr>
            <a:spLocks noGrp="1"/>
          </p:cNvSpPr>
          <p:nvPr/>
        </p:nvSpPr>
        <p:spPr>
          <a:xfrm>
            <a:off x="6286500" y="1409700"/>
            <a:ext cx="2857500" cy="285750"/>
          </a:xfrm>
          <a:prstGeom prst="rect">
            <a:avLst/>
          </a:prstGeom>
          <a:noFill/>
          <a:ln w="0">
            <a:noFill/>
            <a:prstDash val="solid"/>
          </a:ln>
        </p:spPr>
        <p:txBody>
          <a:bodyPr wrap="square" lIns="0" tIns="0" rIns="0" bIns="0" anchor="t">
            <a:normAutofit/>
          </a:bodyPr>
          <a:lstStyle>
            <a:defPPr algn="l">
              <a:defRPr sz="1800" b="1" i="0">
                <a:solidFill>
                  <a:srgbClr val="071B33"/>
                </a:solidFill>
                <a:latin typeface="Carlito"/>
                <a:ea typeface="Carlito"/>
                <a:cs typeface="Carlito"/>
              </a:defRPr>
            </a:defPPr>
            <a:lvl1pPr algn="l">
              <a:defRPr sz="1800" b="1" i="0">
                <a:solidFill>
                  <a:srgbClr val="071B33"/>
                </a:solidFill>
                <a:latin typeface="Carlito"/>
                <a:ea typeface="Carlito"/>
                <a:cs typeface="Carlito"/>
              </a:defRPr>
            </a:lvl1pPr>
            <a:lvl2pPr algn="l">
              <a:defRPr sz="1800" b="1" i="0">
                <a:solidFill>
                  <a:srgbClr val="071B33"/>
                </a:solidFill>
                <a:latin typeface="Carlito"/>
                <a:ea typeface="Carlito"/>
                <a:cs typeface="Carlito"/>
              </a:defRPr>
            </a:lvl2pPr>
            <a:lvl3pPr algn="l">
              <a:defRPr sz="1800" b="1" i="0">
                <a:solidFill>
                  <a:srgbClr val="071B33"/>
                </a:solidFill>
                <a:latin typeface="Carlito"/>
                <a:ea typeface="Carlito"/>
                <a:cs typeface="Carlito"/>
              </a:defRPr>
            </a:lvl3pPr>
            <a:lvl4pPr algn="l">
              <a:defRPr sz="1800" b="1" i="0">
                <a:solidFill>
                  <a:srgbClr val="071B33"/>
                </a:solidFill>
                <a:latin typeface="Carlito"/>
                <a:ea typeface="Carlito"/>
                <a:cs typeface="Carlito"/>
              </a:defRPr>
            </a:lvl4pPr>
            <a:lvl5pPr algn="l">
              <a:defRPr sz="1800" b="1" i="0">
                <a:solidFill>
                  <a:srgbClr val="071B33"/>
                </a:solidFill>
                <a:latin typeface="Carlito"/>
                <a:ea typeface="Carlito"/>
                <a:cs typeface="Carlito"/>
              </a:defRPr>
            </a:lvl5pPr>
            <a:lvl6pPr algn="l">
              <a:defRPr sz="1800" b="1" i="0">
                <a:solidFill>
                  <a:srgbClr val="071B33"/>
                </a:solidFill>
                <a:latin typeface="Carlito"/>
                <a:ea typeface="Carlito"/>
                <a:cs typeface="Carlito"/>
              </a:defRPr>
            </a:lvl6pPr>
            <a:lvl7pPr algn="l">
              <a:defRPr sz="1800" b="1" i="0">
                <a:solidFill>
                  <a:srgbClr val="071B33"/>
                </a:solidFill>
                <a:latin typeface="Carlito"/>
                <a:ea typeface="Carlito"/>
                <a:cs typeface="Carlito"/>
              </a:defRPr>
            </a:lvl7pPr>
            <a:lvl8pPr algn="l">
              <a:defRPr sz="1800" b="1" i="0">
                <a:solidFill>
                  <a:srgbClr val="071B33"/>
                </a:solidFill>
                <a:latin typeface="Carlito"/>
                <a:ea typeface="Carlito"/>
                <a:cs typeface="Carlito"/>
              </a:defRPr>
            </a:lvl8pPr>
            <a:lvl9pPr algn="l">
              <a:defRPr sz="1800" b="1" i="0">
                <a:solidFill>
                  <a:srgbClr val="071B33"/>
                </a:solidFill>
                <a:latin typeface="Carlito"/>
                <a:ea typeface="Carlito"/>
                <a:cs typeface="Carlito"/>
              </a:defRPr>
            </a:lvl9pPr>
          </a:lstStyle>
          <a:p>
            <a:pPr algn="l">
              <a:defRPr sz="1800" b="1" i="0">
                <a:solidFill>
                  <a:srgbClr val="071B33"/>
                </a:solidFill>
                <a:latin typeface="Carlito"/>
                <a:ea typeface="Carlito"/>
                <a:cs typeface="Carlito"/>
              </a:defRPr>
            </a:pPr>
            <a:r>
              <a:rPr sz="1800" b="1" i="0">
                <a:solidFill>
                  <a:srgbClr val="071B33"/>
                </a:solidFill>
                <a:latin typeface="Carlito"/>
                <a:ea typeface="Carlito"/>
                <a:cs typeface="Carlito"/>
              </a:rPr>
              <a:t>Performance analysis</a:t>
            </a:r>
          </a:p>
        </p:txBody>
      </p:sp>
      <p:pic>
        <p:nvPicPr>
          <p:cNvPr id="6" name="Picture 5">
            <a:extLst>
              <a:ext uri="{FF2B5EF4-FFF2-40B4-BE49-F238E27FC236}">
                <a16:creationId xmlns:a16="http://schemas.microsoft.com/office/drawing/2014/main" id="{A59121F6-9268-4A7A-BD95-5D2EED8940B4}"/>
              </a:ext>
            </a:extLst>
          </p:cNvPr>
          <p:cNvPicPr>
            <a:picLocks noChangeAspect="1"/>
          </p:cNvPicPr>
          <p:nvPr/>
        </p:nvPicPr>
        <p:blipFill>
          <a:blip r:embed="rId3"/>
          <a:srcRect l="6000" t="15500" r="19400" b="6500"/>
          <a:stretch/>
        </p:blipFill>
        <p:spPr>
          <a:xfrm>
            <a:off x="609600" y="1809750"/>
            <a:ext cx="5295900" cy="2981325"/>
          </a:xfrm>
          <a:prstGeom prst="roundRect">
            <a:avLst>
              <a:gd name="adj" fmla="val 3195"/>
            </a:avLst>
          </a:prstGeom>
        </p:spPr>
      </p:pic>
      <p:pic>
        <p:nvPicPr>
          <p:cNvPr id="7" name="Picture 6">
            <a:extLst>
              <a:ext uri="{FF2B5EF4-FFF2-40B4-BE49-F238E27FC236}">
                <a16:creationId xmlns:a16="http://schemas.microsoft.com/office/drawing/2014/main" id="{A6C0A762-6775-46B1-BA05-BEC2416E860C}"/>
              </a:ext>
            </a:extLst>
          </p:cNvPr>
          <p:cNvPicPr>
            <a:picLocks noChangeAspect="1"/>
          </p:cNvPicPr>
          <p:nvPr/>
        </p:nvPicPr>
        <p:blipFill>
          <a:blip r:embed="rId4"/>
          <a:srcRect l="2100" t="15500" r="28100" b="11400"/>
          <a:stretch/>
        </p:blipFill>
        <p:spPr>
          <a:xfrm>
            <a:off x="6286500" y="1809750"/>
            <a:ext cx="5295900" cy="2981325"/>
          </a:xfrm>
          <a:prstGeom prst="roundRect">
            <a:avLst>
              <a:gd name="adj" fmla="val 3195"/>
            </a:avLst>
          </a:prstGeom>
        </p:spPr>
      </p:pic>
      <p:sp>
        <p:nvSpPr>
          <p:cNvPr id="8" name="Rectangle 7">
            <a:extLst>
              <a:ext uri="{FF2B5EF4-FFF2-40B4-BE49-F238E27FC236}">
                <a16:creationId xmlns:a16="http://schemas.microsoft.com/office/drawing/2014/main" id="{BB7F45D5-5EAD-477B-B3A0-3908BBF793CD}"/>
              </a:ext>
            </a:extLst>
          </p:cNvPr>
          <p:cNvSpPr>
            <a:spLocks noGrp="1"/>
          </p:cNvSpPr>
          <p:nvPr/>
        </p:nvSpPr>
        <p:spPr>
          <a:xfrm>
            <a:off x="609600" y="5048250"/>
            <a:ext cx="1714500" cy="247650"/>
          </a:xfrm>
          <a:prstGeom prst="rect">
            <a:avLst/>
          </a:prstGeom>
          <a:noFill/>
          <a:ln w="0">
            <a:noFill/>
            <a:prstDash val="solid"/>
          </a:ln>
        </p:spPr>
        <p:txBody>
          <a:bodyPr wrap="square" lIns="0" tIns="0" rIns="0" bIns="0" anchor="t">
            <a:normAutofit/>
          </a:bodyPr>
          <a:lstStyle>
            <a:defPPr algn="l">
              <a:defRPr sz="1500" b="1" i="0">
                <a:solidFill>
                  <a:srgbClr val="CD7F32"/>
                </a:solidFill>
                <a:latin typeface="Carlito"/>
                <a:ea typeface="Carlito"/>
                <a:cs typeface="Carlito"/>
              </a:defRPr>
            </a:defPPr>
            <a:lvl1pPr algn="l">
              <a:defRPr sz="1500" b="1" i="0">
                <a:solidFill>
                  <a:srgbClr val="CD7F32"/>
                </a:solidFill>
                <a:latin typeface="Carlito"/>
                <a:ea typeface="Carlito"/>
                <a:cs typeface="Carlito"/>
              </a:defRPr>
            </a:lvl1pPr>
            <a:lvl2pPr algn="l">
              <a:defRPr sz="1500" b="1" i="0">
                <a:solidFill>
                  <a:srgbClr val="CD7F32"/>
                </a:solidFill>
                <a:latin typeface="Carlito"/>
                <a:ea typeface="Carlito"/>
                <a:cs typeface="Carlito"/>
              </a:defRPr>
            </a:lvl2pPr>
            <a:lvl3pPr algn="l">
              <a:defRPr sz="1500" b="1" i="0">
                <a:solidFill>
                  <a:srgbClr val="CD7F32"/>
                </a:solidFill>
                <a:latin typeface="Carlito"/>
                <a:ea typeface="Carlito"/>
                <a:cs typeface="Carlito"/>
              </a:defRPr>
            </a:lvl3pPr>
            <a:lvl4pPr algn="l">
              <a:defRPr sz="1500" b="1" i="0">
                <a:solidFill>
                  <a:srgbClr val="CD7F32"/>
                </a:solidFill>
                <a:latin typeface="Carlito"/>
                <a:ea typeface="Carlito"/>
                <a:cs typeface="Carlito"/>
              </a:defRPr>
            </a:lvl4pPr>
            <a:lvl5pPr algn="l">
              <a:defRPr sz="1500" b="1" i="0">
                <a:solidFill>
                  <a:srgbClr val="CD7F32"/>
                </a:solidFill>
                <a:latin typeface="Carlito"/>
                <a:ea typeface="Carlito"/>
                <a:cs typeface="Carlito"/>
              </a:defRPr>
            </a:lvl5pPr>
            <a:lvl6pPr algn="l">
              <a:defRPr sz="1500" b="1" i="0">
                <a:solidFill>
                  <a:srgbClr val="CD7F32"/>
                </a:solidFill>
                <a:latin typeface="Carlito"/>
                <a:ea typeface="Carlito"/>
                <a:cs typeface="Carlito"/>
              </a:defRPr>
            </a:lvl6pPr>
            <a:lvl7pPr algn="l">
              <a:defRPr sz="1500" b="1" i="0">
                <a:solidFill>
                  <a:srgbClr val="CD7F32"/>
                </a:solidFill>
                <a:latin typeface="Carlito"/>
                <a:ea typeface="Carlito"/>
                <a:cs typeface="Carlito"/>
              </a:defRPr>
            </a:lvl7pPr>
            <a:lvl8pPr algn="l">
              <a:defRPr sz="1500" b="1" i="0">
                <a:solidFill>
                  <a:srgbClr val="CD7F32"/>
                </a:solidFill>
                <a:latin typeface="Carlito"/>
                <a:ea typeface="Carlito"/>
                <a:cs typeface="Carlito"/>
              </a:defRPr>
            </a:lvl8pPr>
            <a:lvl9pPr algn="l">
              <a:defRPr sz="1500" b="1" i="0">
                <a:solidFill>
                  <a:srgbClr val="CD7F32"/>
                </a:solidFill>
                <a:latin typeface="Carlito"/>
                <a:ea typeface="Carlito"/>
                <a:cs typeface="Carlito"/>
              </a:defRPr>
            </a:lvl9pPr>
          </a:lstStyle>
          <a:p>
            <a:pPr algn="l">
              <a:defRPr sz="1500" b="1" i="0">
                <a:solidFill>
                  <a:srgbClr val="CD7F32"/>
                </a:solidFill>
                <a:latin typeface="Carlito"/>
                <a:ea typeface="Carlito"/>
                <a:cs typeface="Carlito"/>
              </a:defRPr>
            </a:pPr>
            <a:r>
              <a:rPr sz="1500" b="1" i="0">
                <a:solidFill>
                  <a:srgbClr val="CD7F32"/>
                </a:solidFill>
                <a:latin typeface="Carlito"/>
                <a:ea typeface="Carlito"/>
                <a:cs typeface="Carlito"/>
              </a:rPr>
              <a:t>Management view</a:t>
            </a:r>
          </a:p>
        </p:txBody>
      </p:sp>
      <p:sp>
        <p:nvSpPr>
          <p:cNvPr id="9" name="Rectangle 8">
            <a:extLst>
              <a:ext uri="{FF2B5EF4-FFF2-40B4-BE49-F238E27FC236}">
                <a16:creationId xmlns:a16="http://schemas.microsoft.com/office/drawing/2014/main" id="{A1F7C82C-41E9-4CC5-A586-D5E08421CF07}"/>
              </a:ext>
            </a:extLst>
          </p:cNvPr>
          <p:cNvSpPr>
            <a:spLocks noGrp="1"/>
          </p:cNvSpPr>
          <p:nvPr/>
        </p:nvSpPr>
        <p:spPr>
          <a:xfrm>
            <a:off x="609600" y="5353050"/>
            <a:ext cx="4857750" cy="571500"/>
          </a:xfrm>
          <a:prstGeom prst="rect">
            <a:avLst/>
          </a:prstGeom>
          <a:noFill/>
          <a:ln w="0">
            <a:noFill/>
            <a:prstDash val="solid"/>
          </a:ln>
        </p:spPr>
        <p:txBody>
          <a:bodyPr wrap="square" lIns="0" tIns="0" rIns="0" bIns="0" anchor="t">
            <a:normAutofit/>
          </a:bodyPr>
          <a:lstStyle>
            <a:defPPr algn="l">
              <a:defRPr sz="1600" b="0" i="0">
                <a:solidFill>
                  <a:srgbClr val="152536"/>
                </a:solidFill>
                <a:latin typeface="Carlito"/>
                <a:ea typeface="Carlito"/>
                <a:cs typeface="Carlito"/>
              </a:defRPr>
            </a:defPPr>
            <a:lvl1pPr algn="l">
              <a:defRPr sz="1600" b="0" i="0">
                <a:solidFill>
                  <a:srgbClr val="152536"/>
                </a:solidFill>
                <a:latin typeface="Carlito"/>
                <a:ea typeface="Carlito"/>
                <a:cs typeface="Carlito"/>
              </a:defRPr>
            </a:lvl1pPr>
            <a:lvl2pPr algn="l">
              <a:defRPr sz="1600" b="0" i="0">
                <a:solidFill>
                  <a:srgbClr val="152536"/>
                </a:solidFill>
                <a:latin typeface="Carlito"/>
                <a:ea typeface="Carlito"/>
                <a:cs typeface="Carlito"/>
              </a:defRPr>
            </a:lvl2pPr>
            <a:lvl3pPr algn="l">
              <a:defRPr sz="1600" b="0" i="0">
                <a:solidFill>
                  <a:srgbClr val="152536"/>
                </a:solidFill>
                <a:latin typeface="Carlito"/>
                <a:ea typeface="Carlito"/>
                <a:cs typeface="Carlito"/>
              </a:defRPr>
            </a:lvl3pPr>
            <a:lvl4pPr algn="l">
              <a:defRPr sz="1600" b="0" i="0">
                <a:solidFill>
                  <a:srgbClr val="152536"/>
                </a:solidFill>
                <a:latin typeface="Carlito"/>
                <a:ea typeface="Carlito"/>
                <a:cs typeface="Carlito"/>
              </a:defRPr>
            </a:lvl4pPr>
            <a:lvl5pPr algn="l">
              <a:defRPr sz="1600" b="0" i="0">
                <a:solidFill>
                  <a:srgbClr val="152536"/>
                </a:solidFill>
                <a:latin typeface="Carlito"/>
                <a:ea typeface="Carlito"/>
                <a:cs typeface="Carlito"/>
              </a:defRPr>
            </a:lvl5pPr>
            <a:lvl6pPr algn="l">
              <a:defRPr sz="1600" b="0" i="0">
                <a:solidFill>
                  <a:srgbClr val="152536"/>
                </a:solidFill>
                <a:latin typeface="Carlito"/>
                <a:ea typeface="Carlito"/>
                <a:cs typeface="Carlito"/>
              </a:defRPr>
            </a:lvl6pPr>
            <a:lvl7pPr algn="l">
              <a:defRPr sz="1600" b="0" i="0">
                <a:solidFill>
                  <a:srgbClr val="152536"/>
                </a:solidFill>
                <a:latin typeface="Carlito"/>
                <a:ea typeface="Carlito"/>
                <a:cs typeface="Carlito"/>
              </a:defRPr>
            </a:lvl7pPr>
            <a:lvl8pPr algn="l">
              <a:defRPr sz="1600" b="0" i="0">
                <a:solidFill>
                  <a:srgbClr val="152536"/>
                </a:solidFill>
                <a:latin typeface="Carlito"/>
                <a:ea typeface="Carlito"/>
                <a:cs typeface="Carlito"/>
              </a:defRPr>
            </a:lvl8pPr>
            <a:lvl9pPr algn="l">
              <a:defRPr sz="1600" b="0" i="0">
                <a:solidFill>
                  <a:srgbClr val="152536"/>
                </a:solidFill>
                <a:latin typeface="Carlito"/>
                <a:ea typeface="Carlito"/>
                <a:cs typeface="Carlito"/>
              </a:defRPr>
            </a:lvl9pPr>
          </a:lstStyle>
          <a:p>
            <a:pPr algn="l">
              <a:defRPr sz="1600" b="0" i="0">
                <a:solidFill>
                  <a:srgbClr val="152536"/>
                </a:solidFill>
                <a:latin typeface="Carlito"/>
                <a:ea typeface="Carlito"/>
                <a:cs typeface="Carlito"/>
              </a:defRPr>
            </a:pPr>
            <a:r>
              <a:rPr sz="1600" b="0" i="0">
                <a:solidFill>
                  <a:srgbClr val="152536"/>
                </a:solidFill>
                <a:latin typeface="Carlito"/>
                <a:ea typeface="Carlito"/>
                <a:cs typeface="Carlito"/>
              </a:rPr>
              <a:t>Headline KPIs, country ranking and the medal trend provide a consistent regional baseline.</a:t>
            </a:r>
          </a:p>
        </p:txBody>
      </p:sp>
      <p:sp>
        <p:nvSpPr>
          <p:cNvPr id="10" name="Rectangle 9">
            <a:extLst>
              <a:ext uri="{FF2B5EF4-FFF2-40B4-BE49-F238E27FC236}">
                <a16:creationId xmlns:a16="http://schemas.microsoft.com/office/drawing/2014/main" id="{635F0920-0E7F-41A3-A951-15E01F3DB23E}"/>
              </a:ext>
            </a:extLst>
          </p:cNvPr>
          <p:cNvSpPr>
            <a:spLocks noGrp="1"/>
          </p:cNvSpPr>
          <p:nvPr/>
        </p:nvSpPr>
        <p:spPr>
          <a:xfrm>
            <a:off x="6286500" y="5048250"/>
            <a:ext cx="1714500" cy="247650"/>
          </a:xfrm>
          <a:prstGeom prst="rect">
            <a:avLst/>
          </a:prstGeom>
          <a:noFill/>
          <a:ln w="0">
            <a:noFill/>
            <a:prstDash val="solid"/>
          </a:ln>
        </p:spPr>
        <p:txBody>
          <a:bodyPr wrap="square" lIns="0" tIns="0" rIns="0" bIns="0" anchor="t">
            <a:normAutofit/>
          </a:bodyPr>
          <a:lstStyle>
            <a:defPPr algn="l">
              <a:defRPr sz="1500" b="1" i="0">
                <a:solidFill>
                  <a:srgbClr val="CD7F32"/>
                </a:solidFill>
                <a:latin typeface="Carlito"/>
                <a:ea typeface="Carlito"/>
                <a:cs typeface="Carlito"/>
              </a:defRPr>
            </a:defPPr>
            <a:lvl1pPr algn="l">
              <a:defRPr sz="1500" b="1" i="0">
                <a:solidFill>
                  <a:srgbClr val="CD7F32"/>
                </a:solidFill>
                <a:latin typeface="Carlito"/>
                <a:ea typeface="Carlito"/>
                <a:cs typeface="Carlito"/>
              </a:defRPr>
            </a:lvl1pPr>
            <a:lvl2pPr algn="l">
              <a:defRPr sz="1500" b="1" i="0">
                <a:solidFill>
                  <a:srgbClr val="CD7F32"/>
                </a:solidFill>
                <a:latin typeface="Carlito"/>
                <a:ea typeface="Carlito"/>
                <a:cs typeface="Carlito"/>
              </a:defRPr>
            </a:lvl2pPr>
            <a:lvl3pPr algn="l">
              <a:defRPr sz="1500" b="1" i="0">
                <a:solidFill>
                  <a:srgbClr val="CD7F32"/>
                </a:solidFill>
                <a:latin typeface="Carlito"/>
                <a:ea typeface="Carlito"/>
                <a:cs typeface="Carlito"/>
              </a:defRPr>
            </a:lvl3pPr>
            <a:lvl4pPr algn="l">
              <a:defRPr sz="1500" b="1" i="0">
                <a:solidFill>
                  <a:srgbClr val="CD7F32"/>
                </a:solidFill>
                <a:latin typeface="Carlito"/>
                <a:ea typeface="Carlito"/>
                <a:cs typeface="Carlito"/>
              </a:defRPr>
            </a:lvl4pPr>
            <a:lvl5pPr algn="l">
              <a:defRPr sz="1500" b="1" i="0">
                <a:solidFill>
                  <a:srgbClr val="CD7F32"/>
                </a:solidFill>
                <a:latin typeface="Carlito"/>
                <a:ea typeface="Carlito"/>
                <a:cs typeface="Carlito"/>
              </a:defRPr>
            </a:lvl5pPr>
            <a:lvl6pPr algn="l">
              <a:defRPr sz="1500" b="1" i="0">
                <a:solidFill>
                  <a:srgbClr val="CD7F32"/>
                </a:solidFill>
                <a:latin typeface="Carlito"/>
                <a:ea typeface="Carlito"/>
                <a:cs typeface="Carlito"/>
              </a:defRPr>
            </a:lvl6pPr>
            <a:lvl7pPr algn="l">
              <a:defRPr sz="1500" b="1" i="0">
                <a:solidFill>
                  <a:srgbClr val="CD7F32"/>
                </a:solidFill>
                <a:latin typeface="Carlito"/>
                <a:ea typeface="Carlito"/>
                <a:cs typeface="Carlito"/>
              </a:defRPr>
            </a:lvl7pPr>
            <a:lvl8pPr algn="l">
              <a:defRPr sz="1500" b="1" i="0">
                <a:solidFill>
                  <a:srgbClr val="CD7F32"/>
                </a:solidFill>
                <a:latin typeface="Carlito"/>
                <a:ea typeface="Carlito"/>
                <a:cs typeface="Carlito"/>
              </a:defRPr>
            </a:lvl8pPr>
            <a:lvl9pPr algn="l">
              <a:defRPr sz="1500" b="1" i="0">
                <a:solidFill>
                  <a:srgbClr val="CD7F32"/>
                </a:solidFill>
                <a:latin typeface="Carlito"/>
                <a:ea typeface="Carlito"/>
                <a:cs typeface="Carlito"/>
              </a:defRPr>
            </a:lvl9pPr>
          </a:lstStyle>
          <a:p>
            <a:pPr algn="l">
              <a:defRPr sz="1500" b="1" i="0">
                <a:solidFill>
                  <a:srgbClr val="CD7F32"/>
                </a:solidFill>
                <a:latin typeface="Carlito"/>
                <a:ea typeface="Carlito"/>
                <a:cs typeface="Carlito"/>
              </a:defRPr>
            </a:pPr>
            <a:r>
              <a:rPr sz="1500" b="1" i="0">
                <a:solidFill>
                  <a:srgbClr val="CD7F32"/>
                </a:solidFill>
                <a:latin typeface="Carlito"/>
                <a:ea typeface="Carlito"/>
                <a:cs typeface="Carlito"/>
              </a:rPr>
              <a:t>Analytical view</a:t>
            </a:r>
          </a:p>
        </p:txBody>
      </p:sp>
      <p:sp>
        <p:nvSpPr>
          <p:cNvPr id="11" name="Rectangle 10">
            <a:extLst>
              <a:ext uri="{FF2B5EF4-FFF2-40B4-BE49-F238E27FC236}">
                <a16:creationId xmlns:a16="http://schemas.microsoft.com/office/drawing/2014/main" id="{67EB7B45-4337-48AC-91EF-2D84F6D687BE}"/>
              </a:ext>
            </a:extLst>
          </p:cNvPr>
          <p:cNvSpPr>
            <a:spLocks noGrp="1"/>
          </p:cNvSpPr>
          <p:nvPr/>
        </p:nvSpPr>
        <p:spPr>
          <a:xfrm>
            <a:off x="6286500" y="5353050"/>
            <a:ext cx="5143500" cy="742950"/>
          </a:xfrm>
          <a:prstGeom prst="rect">
            <a:avLst/>
          </a:prstGeom>
          <a:noFill/>
          <a:ln w="0">
            <a:noFill/>
            <a:prstDash val="solid"/>
          </a:ln>
        </p:spPr>
        <p:txBody>
          <a:bodyPr wrap="square" lIns="0" tIns="0" rIns="0" bIns="0" anchor="t">
            <a:normAutofit/>
          </a:bodyPr>
          <a:lstStyle>
            <a:defPPr algn="l">
              <a:defRPr sz="1600" b="0" i="0">
                <a:solidFill>
                  <a:srgbClr val="152536"/>
                </a:solidFill>
                <a:latin typeface="Carlito"/>
                <a:ea typeface="Carlito"/>
                <a:cs typeface="Carlito"/>
              </a:defRPr>
            </a:defPPr>
            <a:lvl1pPr algn="l">
              <a:defRPr sz="1600" b="0" i="0">
                <a:solidFill>
                  <a:srgbClr val="152536"/>
                </a:solidFill>
                <a:latin typeface="Carlito"/>
                <a:ea typeface="Carlito"/>
                <a:cs typeface="Carlito"/>
              </a:defRPr>
            </a:lvl1pPr>
            <a:lvl2pPr algn="l">
              <a:defRPr sz="1600" b="0" i="0">
                <a:solidFill>
                  <a:srgbClr val="152536"/>
                </a:solidFill>
                <a:latin typeface="Carlito"/>
                <a:ea typeface="Carlito"/>
                <a:cs typeface="Carlito"/>
              </a:defRPr>
            </a:lvl2pPr>
            <a:lvl3pPr algn="l">
              <a:defRPr sz="1600" b="0" i="0">
                <a:solidFill>
                  <a:srgbClr val="152536"/>
                </a:solidFill>
                <a:latin typeface="Carlito"/>
                <a:ea typeface="Carlito"/>
                <a:cs typeface="Carlito"/>
              </a:defRPr>
            </a:lvl3pPr>
            <a:lvl4pPr algn="l">
              <a:defRPr sz="1600" b="0" i="0">
                <a:solidFill>
                  <a:srgbClr val="152536"/>
                </a:solidFill>
                <a:latin typeface="Carlito"/>
                <a:ea typeface="Carlito"/>
                <a:cs typeface="Carlito"/>
              </a:defRPr>
            </a:lvl4pPr>
            <a:lvl5pPr algn="l">
              <a:defRPr sz="1600" b="0" i="0">
                <a:solidFill>
                  <a:srgbClr val="152536"/>
                </a:solidFill>
                <a:latin typeface="Carlito"/>
                <a:ea typeface="Carlito"/>
                <a:cs typeface="Carlito"/>
              </a:defRPr>
            </a:lvl5pPr>
            <a:lvl6pPr algn="l">
              <a:defRPr sz="1600" b="0" i="0">
                <a:solidFill>
                  <a:srgbClr val="152536"/>
                </a:solidFill>
                <a:latin typeface="Carlito"/>
                <a:ea typeface="Carlito"/>
                <a:cs typeface="Carlito"/>
              </a:defRPr>
            </a:lvl6pPr>
            <a:lvl7pPr algn="l">
              <a:defRPr sz="1600" b="0" i="0">
                <a:solidFill>
                  <a:srgbClr val="152536"/>
                </a:solidFill>
                <a:latin typeface="Carlito"/>
                <a:ea typeface="Carlito"/>
                <a:cs typeface="Carlito"/>
              </a:defRPr>
            </a:lvl7pPr>
            <a:lvl8pPr algn="l">
              <a:defRPr sz="1600" b="0" i="0">
                <a:solidFill>
                  <a:srgbClr val="152536"/>
                </a:solidFill>
                <a:latin typeface="Carlito"/>
                <a:ea typeface="Carlito"/>
                <a:cs typeface="Carlito"/>
              </a:defRPr>
            </a:lvl8pPr>
            <a:lvl9pPr algn="l">
              <a:defRPr sz="1600" b="0" i="0">
                <a:solidFill>
                  <a:srgbClr val="152536"/>
                </a:solidFill>
                <a:latin typeface="Carlito"/>
                <a:ea typeface="Carlito"/>
                <a:cs typeface="Carlito"/>
              </a:defRPr>
            </a:lvl9pPr>
          </a:lstStyle>
          <a:p>
            <a:pPr algn="l">
              <a:defRPr sz="1600" b="0" i="0">
                <a:solidFill>
                  <a:srgbClr val="152536"/>
                </a:solidFill>
                <a:latin typeface="Carlito"/>
                <a:ea typeface="Carlito"/>
                <a:cs typeface="Carlito"/>
              </a:defRPr>
            </a:pPr>
            <a:r>
              <a:rPr sz="1600" b="0" i="0">
                <a:solidFill>
                  <a:srgbClr val="152536"/>
                </a:solidFill>
                <a:latin typeface="Carlito"/>
                <a:ea typeface="Carlito"/>
                <a:cs typeface="Carlito"/>
              </a:rPr>
              <a:t>Country, sport, year and gender slicers allow focused comparisons. A Singapore swimming check correctly returned Joseph Schooling’s 2016 gold medal.</a:t>
            </a:r>
          </a:p>
        </p:txBody>
      </p:sp>
      <p:sp>
        <p:nvSpPr>
          <p:cNvPr id="12" name="Rectangle 11">
            <a:extLst>
              <a:ext uri="{FF2B5EF4-FFF2-40B4-BE49-F238E27FC236}">
                <a16:creationId xmlns:a16="http://schemas.microsoft.com/office/drawing/2014/main" id="{CF21C09F-22C5-4F3B-94FB-5522D2E38A15}"/>
              </a:ext>
            </a:extLst>
          </p:cNvPr>
          <p:cNvSpPr>
            <a:spLocks noGrp="1"/>
          </p:cNvSpPr>
          <p:nvPr/>
        </p:nvSpPr>
        <p:spPr>
          <a:xfrm>
            <a:off x="609600" y="6515100"/>
            <a:ext cx="4953000" cy="171450"/>
          </a:xfrm>
          <a:prstGeom prst="rect">
            <a:avLst/>
          </a:prstGeom>
          <a:noFill/>
          <a:ln w="0">
            <a:noFill/>
            <a:prstDash val="solid"/>
          </a:ln>
        </p:spPr>
        <p:txBody>
          <a:bodyPr wrap="square" lIns="0" tIns="0" rIns="0" bIns="0" anchor="t">
            <a:normAutofit/>
          </a:bodyPr>
          <a:lstStyle>
            <a:defPPr algn="l">
              <a:defRPr sz="900" b="0" i="0">
                <a:solidFill>
                  <a:srgbClr val="5F6F7F"/>
                </a:solidFill>
                <a:latin typeface="Carlito"/>
                <a:ea typeface="Carlito"/>
                <a:cs typeface="Carlito"/>
              </a:defRPr>
            </a:defPPr>
            <a:lvl1pPr algn="l">
              <a:defRPr sz="900" b="0" i="0">
                <a:solidFill>
                  <a:srgbClr val="5F6F7F"/>
                </a:solidFill>
                <a:latin typeface="Carlito"/>
                <a:ea typeface="Carlito"/>
                <a:cs typeface="Carlito"/>
              </a:defRPr>
            </a:lvl1pPr>
            <a:lvl2pPr algn="l">
              <a:defRPr sz="900" b="0" i="0">
                <a:solidFill>
                  <a:srgbClr val="5F6F7F"/>
                </a:solidFill>
                <a:latin typeface="Carlito"/>
                <a:ea typeface="Carlito"/>
                <a:cs typeface="Carlito"/>
              </a:defRPr>
            </a:lvl2pPr>
            <a:lvl3pPr algn="l">
              <a:defRPr sz="900" b="0" i="0">
                <a:solidFill>
                  <a:srgbClr val="5F6F7F"/>
                </a:solidFill>
                <a:latin typeface="Carlito"/>
                <a:ea typeface="Carlito"/>
                <a:cs typeface="Carlito"/>
              </a:defRPr>
            </a:lvl3pPr>
            <a:lvl4pPr algn="l">
              <a:defRPr sz="900" b="0" i="0">
                <a:solidFill>
                  <a:srgbClr val="5F6F7F"/>
                </a:solidFill>
                <a:latin typeface="Carlito"/>
                <a:ea typeface="Carlito"/>
                <a:cs typeface="Carlito"/>
              </a:defRPr>
            </a:lvl4pPr>
            <a:lvl5pPr algn="l">
              <a:defRPr sz="900" b="0" i="0">
                <a:solidFill>
                  <a:srgbClr val="5F6F7F"/>
                </a:solidFill>
                <a:latin typeface="Carlito"/>
                <a:ea typeface="Carlito"/>
                <a:cs typeface="Carlito"/>
              </a:defRPr>
            </a:lvl5pPr>
            <a:lvl6pPr algn="l">
              <a:defRPr sz="900" b="0" i="0">
                <a:solidFill>
                  <a:srgbClr val="5F6F7F"/>
                </a:solidFill>
                <a:latin typeface="Carlito"/>
                <a:ea typeface="Carlito"/>
                <a:cs typeface="Carlito"/>
              </a:defRPr>
            </a:lvl6pPr>
            <a:lvl7pPr algn="l">
              <a:defRPr sz="900" b="0" i="0">
                <a:solidFill>
                  <a:srgbClr val="5F6F7F"/>
                </a:solidFill>
                <a:latin typeface="Carlito"/>
                <a:ea typeface="Carlito"/>
                <a:cs typeface="Carlito"/>
              </a:defRPr>
            </a:lvl7pPr>
            <a:lvl8pPr algn="l">
              <a:defRPr sz="900" b="0" i="0">
                <a:solidFill>
                  <a:srgbClr val="5F6F7F"/>
                </a:solidFill>
                <a:latin typeface="Carlito"/>
                <a:ea typeface="Carlito"/>
                <a:cs typeface="Carlito"/>
              </a:defRPr>
            </a:lvl8pPr>
            <a:lvl9pPr algn="l">
              <a:defRPr sz="900" b="0" i="0">
                <a:solidFill>
                  <a:srgbClr val="5F6F7F"/>
                </a:solidFill>
                <a:latin typeface="Carlito"/>
                <a:ea typeface="Carlito"/>
                <a:cs typeface="Carlito"/>
              </a:defRPr>
            </a:lvl9pPr>
          </a:lstStyle>
          <a:p>
            <a:pPr algn="l">
              <a:defRPr sz="900" b="0" i="0">
                <a:solidFill>
                  <a:srgbClr val="5F6F7F"/>
                </a:solidFill>
                <a:latin typeface="Carlito"/>
                <a:ea typeface="Carlito"/>
                <a:cs typeface="Carlito"/>
              </a:defRPr>
            </a:pPr>
            <a:r>
              <a:rPr sz="900" b="0" i="0">
                <a:solidFill>
                  <a:srgbClr val="5F6F7F"/>
                </a:solidFill>
                <a:latin typeface="Carlito"/>
                <a:ea typeface="Carlito"/>
                <a:cs typeface="Carlito"/>
              </a:rPr>
              <a:t>ASEAN Olympic Performance Intelligence System</a:t>
            </a:r>
          </a:p>
        </p:txBody>
      </p:sp>
      <p:sp>
        <p:nvSpPr>
          <p:cNvPr id="13" name="Rectangle 12">
            <a:extLst>
              <a:ext uri="{FF2B5EF4-FFF2-40B4-BE49-F238E27FC236}">
                <a16:creationId xmlns:a16="http://schemas.microsoft.com/office/drawing/2014/main" id="{CD88B9A2-1C5F-49E3-A989-EBAD1F61237D}"/>
              </a:ext>
            </a:extLst>
          </p:cNvPr>
          <p:cNvSpPr>
            <a:spLocks noGrp="1"/>
          </p:cNvSpPr>
          <p:nvPr/>
        </p:nvSpPr>
        <p:spPr>
          <a:xfrm>
            <a:off x="11049000" y="6486525"/>
            <a:ext cx="533400" cy="190500"/>
          </a:xfrm>
          <a:prstGeom prst="rect">
            <a:avLst/>
          </a:prstGeom>
          <a:noFill/>
          <a:ln w="0">
            <a:noFill/>
            <a:prstDash val="solid"/>
          </a:ln>
        </p:spPr>
        <p:txBody>
          <a:bodyPr wrap="square" lIns="0" tIns="0" rIns="0" bIns="0" anchor="t">
            <a:normAutofit/>
          </a:bodyPr>
          <a:lstStyle>
            <a:defPPr algn="r">
              <a:defRPr sz="1000" b="1" i="0">
                <a:solidFill>
                  <a:srgbClr val="071B33"/>
                </a:solidFill>
                <a:latin typeface="Carlito"/>
                <a:ea typeface="Carlito"/>
                <a:cs typeface="Carlito"/>
              </a:defRPr>
            </a:defPPr>
            <a:lvl1pPr algn="r">
              <a:defRPr sz="1000" b="1" i="0">
                <a:solidFill>
                  <a:srgbClr val="071B33"/>
                </a:solidFill>
                <a:latin typeface="Carlito"/>
                <a:ea typeface="Carlito"/>
                <a:cs typeface="Carlito"/>
              </a:defRPr>
            </a:lvl1pPr>
            <a:lvl2pPr algn="r">
              <a:defRPr sz="1000" b="1" i="0">
                <a:solidFill>
                  <a:srgbClr val="071B33"/>
                </a:solidFill>
                <a:latin typeface="Carlito"/>
                <a:ea typeface="Carlito"/>
                <a:cs typeface="Carlito"/>
              </a:defRPr>
            </a:lvl2pPr>
            <a:lvl3pPr algn="r">
              <a:defRPr sz="1000" b="1" i="0">
                <a:solidFill>
                  <a:srgbClr val="071B33"/>
                </a:solidFill>
                <a:latin typeface="Carlito"/>
                <a:ea typeface="Carlito"/>
                <a:cs typeface="Carlito"/>
              </a:defRPr>
            </a:lvl3pPr>
            <a:lvl4pPr algn="r">
              <a:defRPr sz="1000" b="1" i="0">
                <a:solidFill>
                  <a:srgbClr val="071B33"/>
                </a:solidFill>
                <a:latin typeface="Carlito"/>
                <a:ea typeface="Carlito"/>
                <a:cs typeface="Carlito"/>
              </a:defRPr>
            </a:lvl4pPr>
            <a:lvl5pPr algn="r">
              <a:defRPr sz="1000" b="1" i="0">
                <a:solidFill>
                  <a:srgbClr val="071B33"/>
                </a:solidFill>
                <a:latin typeface="Carlito"/>
                <a:ea typeface="Carlito"/>
                <a:cs typeface="Carlito"/>
              </a:defRPr>
            </a:lvl5pPr>
            <a:lvl6pPr algn="r">
              <a:defRPr sz="1000" b="1" i="0">
                <a:solidFill>
                  <a:srgbClr val="071B33"/>
                </a:solidFill>
                <a:latin typeface="Carlito"/>
                <a:ea typeface="Carlito"/>
                <a:cs typeface="Carlito"/>
              </a:defRPr>
            </a:lvl6pPr>
            <a:lvl7pPr algn="r">
              <a:defRPr sz="1000" b="1" i="0">
                <a:solidFill>
                  <a:srgbClr val="071B33"/>
                </a:solidFill>
                <a:latin typeface="Carlito"/>
                <a:ea typeface="Carlito"/>
                <a:cs typeface="Carlito"/>
              </a:defRPr>
            </a:lvl7pPr>
            <a:lvl8pPr algn="r">
              <a:defRPr sz="1000" b="1" i="0">
                <a:solidFill>
                  <a:srgbClr val="071B33"/>
                </a:solidFill>
                <a:latin typeface="Carlito"/>
                <a:ea typeface="Carlito"/>
                <a:cs typeface="Carlito"/>
              </a:defRPr>
            </a:lvl8pPr>
            <a:lvl9pPr algn="r">
              <a:defRPr sz="1000" b="1" i="0">
                <a:solidFill>
                  <a:srgbClr val="071B33"/>
                </a:solidFill>
                <a:latin typeface="Carlito"/>
                <a:ea typeface="Carlito"/>
                <a:cs typeface="Carlito"/>
              </a:defRPr>
            </a:lvl9pPr>
          </a:lstStyle>
          <a:p>
            <a:pPr algn="r">
              <a:defRPr sz="1000" b="1" i="0">
                <a:solidFill>
                  <a:srgbClr val="071B33"/>
                </a:solidFill>
                <a:latin typeface="Carlito"/>
                <a:ea typeface="Carlito"/>
                <a:cs typeface="Carlito"/>
              </a:defRPr>
            </a:pPr>
            <a:r>
              <a:rPr sz="1000" b="1" i="0">
                <a:solidFill>
                  <a:srgbClr val="071B33"/>
                </a:solidFill>
                <a:latin typeface="Carlito"/>
                <a:ea typeface="Carlito"/>
                <a:cs typeface="Carlito"/>
              </a:rPr>
              <a:t>04</a:t>
            </a:r>
          </a:p>
        </p:txBody>
      </p:sp>
    </p:spTree>
    <p:extLst>
      <p:ext uri="{BB962C8B-B14F-4D97-AF65-F5344CB8AC3E}">
        <p14:creationId xmlns:p14="http://schemas.microsoft.com/office/powerpoint/2010/main" val="402489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E948652-E1FF-4C81-91BF-E2212AFB82D3}"/>
              </a:ext>
            </a:extLst>
          </p:cNvPr>
          <p:cNvSpPr>
            <a:spLocks noGrp="1"/>
          </p:cNvSpPr>
          <p:nvPr/>
        </p:nvSpPr>
        <p:spPr>
          <a:xfrm>
            <a:off x="609600" y="361950"/>
            <a:ext cx="10477500" cy="457200"/>
          </a:xfrm>
          <a:prstGeom prst="rect">
            <a:avLst/>
          </a:prstGeom>
          <a:noFill/>
          <a:ln w="0">
            <a:noFill/>
            <a:prstDash val="solid"/>
          </a:ln>
        </p:spPr>
        <p:txBody>
          <a:bodyPr wrap="square" lIns="0" tIns="0" rIns="0" bIns="0" anchor="t">
            <a:normAutofit/>
          </a:bodyPr>
          <a:lstStyle>
            <a:defPPr algn="l">
              <a:defRPr sz="2800" b="1" i="0">
                <a:solidFill>
                  <a:srgbClr val="071B33"/>
                </a:solidFill>
                <a:latin typeface="Carlito"/>
                <a:ea typeface="Carlito"/>
                <a:cs typeface="Carlito"/>
              </a:defRPr>
            </a:defPPr>
            <a:lvl1pPr algn="l">
              <a:defRPr sz="2800" b="1" i="0">
                <a:solidFill>
                  <a:srgbClr val="071B33"/>
                </a:solidFill>
                <a:latin typeface="Carlito"/>
                <a:ea typeface="Carlito"/>
                <a:cs typeface="Carlito"/>
              </a:defRPr>
            </a:lvl1pPr>
            <a:lvl2pPr algn="l">
              <a:defRPr sz="2800" b="1" i="0">
                <a:solidFill>
                  <a:srgbClr val="071B33"/>
                </a:solidFill>
                <a:latin typeface="Carlito"/>
                <a:ea typeface="Carlito"/>
                <a:cs typeface="Carlito"/>
              </a:defRPr>
            </a:lvl2pPr>
            <a:lvl3pPr algn="l">
              <a:defRPr sz="2800" b="1" i="0">
                <a:solidFill>
                  <a:srgbClr val="071B33"/>
                </a:solidFill>
                <a:latin typeface="Carlito"/>
                <a:ea typeface="Carlito"/>
                <a:cs typeface="Carlito"/>
              </a:defRPr>
            </a:lvl3pPr>
            <a:lvl4pPr algn="l">
              <a:defRPr sz="2800" b="1" i="0">
                <a:solidFill>
                  <a:srgbClr val="071B33"/>
                </a:solidFill>
                <a:latin typeface="Carlito"/>
                <a:ea typeface="Carlito"/>
                <a:cs typeface="Carlito"/>
              </a:defRPr>
            </a:lvl4pPr>
            <a:lvl5pPr algn="l">
              <a:defRPr sz="2800" b="1" i="0">
                <a:solidFill>
                  <a:srgbClr val="071B33"/>
                </a:solidFill>
                <a:latin typeface="Carlito"/>
                <a:ea typeface="Carlito"/>
                <a:cs typeface="Carlito"/>
              </a:defRPr>
            </a:lvl5pPr>
            <a:lvl6pPr algn="l">
              <a:defRPr sz="2800" b="1" i="0">
                <a:solidFill>
                  <a:srgbClr val="071B33"/>
                </a:solidFill>
                <a:latin typeface="Carlito"/>
                <a:ea typeface="Carlito"/>
                <a:cs typeface="Carlito"/>
              </a:defRPr>
            </a:lvl6pPr>
            <a:lvl7pPr algn="l">
              <a:defRPr sz="2800" b="1" i="0">
                <a:solidFill>
                  <a:srgbClr val="071B33"/>
                </a:solidFill>
                <a:latin typeface="Carlito"/>
                <a:ea typeface="Carlito"/>
                <a:cs typeface="Carlito"/>
              </a:defRPr>
            </a:lvl7pPr>
            <a:lvl8pPr algn="l">
              <a:defRPr sz="2800" b="1" i="0">
                <a:solidFill>
                  <a:srgbClr val="071B33"/>
                </a:solidFill>
                <a:latin typeface="Carlito"/>
                <a:ea typeface="Carlito"/>
                <a:cs typeface="Carlito"/>
              </a:defRPr>
            </a:lvl8pPr>
            <a:lvl9pPr algn="l">
              <a:defRPr sz="2800" b="1" i="0">
                <a:solidFill>
                  <a:srgbClr val="071B33"/>
                </a:solidFill>
                <a:latin typeface="Carlito"/>
                <a:ea typeface="Carlito"/>
                <a:cs typeface="Carlito"/>
              </a:defRPr>
            </a:lvl9pPr>
          </a:lstStyle>
          <a:p>
            <a:pPr algn="l">
              <a:defRPr sz="2800" b="1" i="0">
                <a:solidFill>
                  <a:srgbClr val="071B33"/>
                </a:solidFill>
                <a:latin typeface="Carlito"/>
                <a:ea typeface="Carlito"/>
                <a:cs typeface="Carlito"/>
              </a:defRPr>
            </a:pPr>
            <a:r>
              <a:rPr sz="2800" b="1" i="0">
                <a:solidFill>
                  <a:srgbClr val="071B33"/>
                </a:solidFill>
                <a:latin typeface="Carlito"/>
                <a:ea typeface="Carlito"/>
                <a:cs typeface="Carlito"/>
              </a:rPr>
              <a:t>Participation broadened as medal performance strengthened</a:t>
            </a:r>
          </a:p>
        </p:txBody>
      </p:sp>
      <p:sp>
        <p:nvSpPr>
          <p:cNvPr id="2" name="Rectangle 1">
            <a:extLst>
              <a:ext uri="{FF2B5EF4-FFF2-40B4-BE49-F238E27FC236}">
                <a16:creationId xmlns:a16="http://schemas.microsoft.com/office/drawing/2014/main" id="{00D78FED-8CBE-4103-82DD-13ABE626F971}"/>
              </a:ext>
            </a:extLst>
          </p:cNvPr>
          <p:cNvSpPr>
            <a:spLocks noGrp="1"/>
          </p:cNvSpPr>
          <p:nvPr/>
        </p:nvSpPr>
        <p:spPr>
          <a:xfrm>
            <a:off x="609600" y="828675"/>
            <a:ext cx="10668000" cy="285750"/>
          </a:xfrm>
          <a:prstGeom prst="rect">
            <a:avLst/>
          </a:prstGeom>
          <a:noFill/>
          <a:ln w="0">
            <a:noFill/>
            <a:prstDash val="solid"/>
          </a:ln>
        </p:spPr>
        <p:txBody>
          <a:bodyPr wrap="square" lIns="0" tIns="0" rIns="0" bIns="0" anchor="t">
            <a:normAutofit/>
          </a:bodyPr>
          <a:lstStyle>
            <a:defPPr algn="l">
              <a:defRPr sz="1400" b="0" i="0">
                <a:solidFill>
                  <a:srgbClr val="5F6F7F"/>
                </a:solidFill>
                <a:latin typeface="Carlito"/>
                <a:ea typeface="Carlito"/>
                <a:cs typeface="Carlito"/>
              </a:defRPr>
            </a:defPPr>
            <a:lvl1pPr algn="l">
              <a:defRPr sz="1400" b="0" i="0">
                <a:solidFill>
                  <a:srgbClr val="5F6F7F"/>
                </a:solidFill>
                <a:latin typeface="Carlito"/>
                <a:ea typeface="Carlito"/>
                <a:cs typeface="Carlito"/>
              </a:defRPr>
            </a:lvl1pPr>
            <a:lvl2pPr algn="l">
              <a:defRPr sz="1400" b="0" i="0">
                <a:solidFill>
                  <a:srgbClr val="5F6F7F"/>
                </a:solidFill>
                <a:latin typeface="Carlito"/>
                <a:ea typeface="Carlito"/>
                <a:cs typeface="Carlito"/>
              </a:defRPr>
            </a:lvl2pPr>
            <a:lvl3pPr algn="l">
              <a:defRPr sz="1400" b="0" i="0">
                <a:solidFill>
                  <a:srgbClr val="5F6F7F"/>
                </a:solidFill>
                <a:latin typeface="Carlito"/>
                <a:ea typeface="Carlito"/>
                <a:cs typeface="Carlito"/>
              </a:defRPr>
            </a:lvl3pPr>
            <a:lvl4pPr algn="l">
              <a:defRPr sz="1400" b="0" i="0">
                <a:solidFill>
                  <a:srgbClr val="5F6F7F"/>
                </a:solidFill>
                <a:latin typeface="Carlito"/>
                <a:ea typeface="Carlito"/>
                <a:cs typeface="Carlito"/>
              </a:defRPr>
            </a:lvl4pPr>
            <a:lvl5pPr algn="l">
              <a:defRPr sz="1400" b="0" i="0">
                <a:solidFill>
                  <a:srgbClr val="5F6F7F"/>
                </a:solidFill>
                <a:latin typeface="Carlito"/>
                <a:ea typeface="Carlito"/>
                <a:cs typeface="Carlito"/>
              </a:defRPr>
            </a:lvl5pPr>
            <a:lvl6pPr algn="l">
              <a:defRPr sz="1400" b="0" i="0">
                <a:solidFill>
                  <a:srgbClr val="5F6F7F"/>
                </a:solidFill>
                <a:latin typeface="Carlito"/>
                <a:ea typeface="Carlito"/>
                <a:cs typeface="Carlito"/>
              </a:defRPr>
            </a:lvl6pPr>
            <a:lvl7pPr algn="l">
              <a:defRPr sz="1400" b="0" i="0">
                <a:solidFill>
                  <a:srgbClr val="5F6F7F"/>
                </a:solidFill>
                <a:latin typeface="Carlito"/>
                <a:ea typeface="Carlito"/>
                <a:cs typeface="Carlito"/>
              </a:defRPr>
            </a:lvl7pPr>
            <a:lvl8pPr algn="l">
              <a:defRPr sz="1400" b="0" i="0">
                <a:solidFill>
                  <a:srgbClr val="5F6F7F"/>
                </a:solidFill>
                <a:latin typeface="Carlito"/>
                <a:ea typeface="Carlito"/>
                <a:cs typeface="Carlito"/>
              </a:defRPr>
            </a:lvl8pPr>
            <a:lvl9pPr algn="l">
              <a:defRPr sz="1400" b="0" i="0">
                <a:solidFill>
                  <a:srgbClr val="5F6F7F"/>
                </a:solidFill>
                <a:latin typeface="Carlito"/>
                <a:ea typeface="Carlito"/>
                <a:cs typeface="Carlito"/>
              </a:defRPr>
            </a:lvl9pPr>
          </a:lstStyle>
          <a:p>
            <a:pPr algn="l">
              <a:defRPr sz="1400" b="0" i="0">
                <a:solidFill>
                  <a:srgbClr val="5F6F7F"/>
                </a:solidFill>
                <a:latin typeface="Carlito"/>
                <a:ea typeface="Carlito"/>
                <a:cs typeface="Carlito"/>
              </a:defRPr>
            </a:pPr>
            <a:r>
              <a:rPr sz="1400" b="0" i="0">
                <a:solidFill>
                  <a:srgbClr val="5F6F7F"/>
                </a:solidFill>
                <a:latin typeface="Carlito"/>
                <a:ea typeface="Carlito"/>
                <a:cs typeface="Carlito"/>
              </a:rPr>
              <a:t>Female participation approached parity by 2016, while official medals reached a dataset peak</a:t>
            </a:r>
          </a:p>
        </p:txBody>
      </p:sp>
      <p:sp>
        <p:nvSpPr>
          <p:cNvPr id="3" name="Rectangle 2">
            <a:extLst>
              <a:ext uri="{FF2B5EF4-FFF2-40B4-BE49-F238E27FC236}">
                <a16:creationId xmlns:a16="http://schemas.microsoft.com/office/drawing/2014/main" id="{D8EAC8C9-7E32-42C5-9927-6AF785B1BE0C}"/>
              </a:ext>
            </a:extLst>
          </p:cNvPr>
          <p:cNvSpPr>
            <a:spLocks noGrp="1"/>
          </p:cNvSpPr>
          <p:nvPr/>
        </p:nvSpPr>
        <p:spPr>
          <a:xfrm>
            <a:off x="609600" y="1181100"/>
            <a:ext cx="10972800" cy="28575"/>
          </a:xfrm>
          <a:prstGeom prst="rect">
            <a:avLst/>
          </a:prstGeom>
          <a:solidFill>
            <a:srgbClr val="D4AF37"/>
          </a:solidFill>
          <a:ln w="0">
            <a:noFill/>
            <a:prstDash val="solid"/>
          </a:ln>
        </p:spPr>
        <p:txBody>
          <a:bodyPr/>
          <a:lstStyle/>
          <a:p>
            <a:endParaRPr lang="en-SG"/>
          </a:p>
        </p:txBody>
      </p:sp>
      <p:graphicFrame>
        <p:nvGraphicFramePr>
          <p:cNvPr id="4" name="Chart">
            <a:extLst>
              <a:ext uri="{FF2B5EF4-FFF2-40B4-BE49-F238E27FC236}">
                <a16:creationId xmlns:a16="http://schemas.microsoft.com/office/drawing/2014/main" id="{8C191C39-8928-41E4-B4E8-A5B04A13CC00}"/>
              </a:ext>
            </a:extLst>
          </p:cNvPr>
          <p:cNvGraphicFramePr/>
          <p:nvPr/>
        </p:nvGraphicFramePr>
        <p:xfrm>
          <a:off x="571500" y="1504950"/>
          <a:ext cx="6858000" cy="40005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a:extLst>
              <a:ext uri="{FF2B5EF4-FFF2-40B4-BE49-F238E27FC236}">
                <a16:creationId xmlns:a16="http://schemas.microsoft.com/office/drawing/2014/main" id="{7692B130-F543-475B-98F8-A3A053BAF98F}"/>
              </a:ext>
            </a:extLst>
          </p:cNvPr>
          <p:cNvGraphicFramePr/>
          <p:nvPr/>
        </p:nvGraphicFramePr>
        <p:xfrm>
          <a:off x="7810500" y="1504950"/>
          <a:ext cx="3714750" cy="2571750"/>
        </p:xfrm>
        <a:graphic>
          <a:graphicData uri="http://schemas.openxmlformats.org/drawingml/2006/chart">
            <c:chart xmlns:c="http://schemas.openxmlformats.org/drawingml/2006/chart" xmlns:r="http://schemas.openxmlformats.org/officeDocument/2006/relationships" r:id="rId4"/>
          </a:graphicData>
        </a:graphic>
      </p:graphicFrame>
      <p:sp>
        <p:nvSpPr>
          <p:cNvPr id="6" name="Rectangle 5">
            <a:extLst>
              <a:ext uri="{FF2B5EF4-FFF2-40B4-BE49-F238E27FC236}">
                <a16:creationId xmlns:a16="http://schemas.microsoft.com/office/drawing/2014/main" id="{179A81C6-09B0-496A-89BE-5650B56FFF18}"/>
              </a:ext>
            </a:extLst>
          </p:cNvPr>
          <p:cNvSpPr>
            <a:spLocks noGrp="1"/>
          </p:cNvSpPr>
          <p:nvPr/>
        </p:nvSpPr>
        <p:spPr>
          <a:xfrm>
            <a:off x="7962900" y="4381500"/>
            <a:ext cx="1619250" cy="523875"/>
          </a:xfrm>
          <a:prstGeom prst="rect">
            <a:avLst/>
          </a:prstGeom>
          <a:noFill/>
          <a:ln w="0">
            <a:noFill/>
            <a:prstDash val="solid"/>
          </a:ln>
        </p:spPr>
        <p:txBody>
          <a:bodyPr wrap="square" lIns="0" tIns="0" rIns="0" bIns="0" anchor="t">
            <a:normAutofit/>
          </a:bodyPr>
          <a:lstStyle>
            <a:defPPr algn="l">
              <a:defRPr sz="3400" b="1" i="0">
                <a:solidFill>
                  <a:srgbClr val="D4AF37"/>
                </a:solidFill>
                <a:latin typeface="Carlito"/>
                <a:ea typeface="Carlito"/>
                <a:cs typeface="Carlito"/>
              </a:defRPr>
            </a:defPPr>
            <a:lvl1pPr algn="l">
              <a:defRPr sz="3400" b="1" i="0">
                <a:solidFill>
                  <a:srgbClr val="D4AF37"/>
                </a:solidFill>
                <a:latin typeface="Carlito"/>
                <a:ea typeface="Carlito"/>
                <a:cs typeface="Carlito"/>
              </a:defRPr>
            </a:lvl1pPr>
            <a:lvl2pPr algn="l">
              <a:defRPr sz="3400" b="1" i="0">
                <a:solidFill>
                  <a:srgbClr val="D4AF37"/>
                </a:solidFill>
                <a:latin typeface="Carlito"/>
                <a:ea typeface="Carlito"/>
                <a:cs typeface="Carlito"/>
              </a:defRPr>
            </a:lvl2pPr>
            <a:lvl3pPr algn="l">
              <a:defRPr sz="3400" b="1" i="0">
                <a:solidFill>
                  <a:srgbClr val="D4AF37"/>
                </a:solidFill>
                <a:latin typeface="Carlito"/>
                <a:ea typeface="Carlito"/>
                <a:cs typeface="Carlito"/>
              </a:defRPr>
            </a:lvl3pPr>
            <a:lvl4pPr algn="l">
              <a:defRPr sz="3400" b="1" i="0">
                <a:solidFill>
                  <a:srgbClr val="D4AF37"/>
                </a:solidFill>
                <a:latin typeface="Carlito"/>
                <a:ea typeface="Carlito"/>
                <a:cs typeface="Carlito"/>
              </a:defRPr>
            </a:lvl4pPr>
            <a:lvl5pPr algn="l">
              <a:defRPr sz="3400" b="1" i="0">
                <a:solidFill>
                  <a:srgbClr val="D4AF37"/>
                </a:solidFill>
                <a:latin typeface="Carlito"/>
                <a:ea typeface="Carlito"/>
                <a:cs typeface="Carlito"/>
              </a:defRPr>
            </a:lvl5pPr>
            <a:lvl6pPr algn="l">
              <a:defRPr sz="3400" b="1" i="0">
                <a:solidFill>
                  <a:srgbClr val="D4AF37"/>
                </a:solidFill>
                <a:latin typeface="Carlito"/>
                <a:ea typeface="Carlito"/>
                <a:cs typeface="Carlito"/>
              </a:defRPr>
            </a:lvl6pPr>
            <a:lvl7pPr algn="l">
              <a:defRPr sz="3400" b="1" i="0">
                <a:solidFill>
                  <a:srgbClr val="D4AF37"/>
                </a:solidFill>
                <a:latin typeface="Carlito"/>
                <a:ea typeface="Carlito"/>
                <a:cs typeface="Carlito"/>
              </a:defRPr>
            </a:lvl7pPr>
            <a:lvl8pPr algn="l">
              <a:defRPr sz="3400" b="1" i="0">
                <a:solidFill>
                  <a:srgbClr val="D4AF37"/>
                </a:solidFill>
                <a:latin typeface="Carlito"/>
                <a:ea typeface="Carlito"/>
                <a:cs typeface="Carlito"/>
              </a:defRPr>
            </a:lvl8pPr>
            <a:lvl9pPr algn="l">
              <a:defRPr sz="3400" b="1" i="0">
                <a:solidFill>
                  <a:srgbClr val="D4AF37"/>
                </a:solidFill>
                <a:latin typeface="Carlito"/>
                <a:ea typeface="Carlito"/>
                <a:cs typeface="Carlito"/>
              </a:defRPr>
            </a:lvl9pPr>
          </a:lstStyle>
          <a:p>
            <a:pPr algn="l">
              <a:defRPr sz="3400" b="1" i="0">
                <a:solidFill>
                  <a:srgbClr val="D4AF37"/>
                </a:solidFill>
                <a:latin typeface="Carlito"/>
                <a:ea typeface="Carlito"/>
                <a:cs typeface="Carlito"/>
              </a:defRPr>
            </a:pPr>
            <a:r>
              <a:rPr sz="3400" b="1" i="0">
                <a:solidFill>
                  <a:srgbClr val="D4AF37"/>
                </a:solidFill>
                <a:latin typeface="Carlito"/>
                <a:ea typeface="Carlito"/>
                <a:cs typeface="Carlito"/>
              </a:rPr>
              <a:t>49.6%</a:t>
            </a:r>
          </a:p>
        </p:txBody>
      </p:sp>
      <p:sp>
        <p:nvSpPr>
          <p:cNvPr id="7" name="Rectangle 6">
            <a:extLst>
              <a:ext uri="{FF2B5EF4-FFF2-40B4-BE49-F238E27FC236}">
                <a16:creationId xmlns:a16="http://schemas.microsoft.com/office/drawing/2014/main" id="{53F4AFE5-3297-4A47-BD58-1C94DAA03DB8}"/>
              </a:ext>
            </a:extLst>
          </p:cNvPr>
          <p:cNvSpPr>
            <a:spLocks noGrp="1"/>
          </p:cNvSpPr>
          <p:nvPr/>
        </p:nvSpPr>
        <p:spPr>
          <a:xfrm>
            <a:off x="7962900" y="4933950"/>
            <a:ext cx="1809750" cy="685800"/>
          </a:xfrm>
          <a:prstGeom prst="rect">
            <a:avLst/>
          </a:prstGeom>
          <a:noFill/>
          <a:ln w="0">
            <a:noFill/>
            <a:prstDash val="solid"/>
          </a:ln>
        </p:spPr>
        <p:txBody>
          <a:bodyPr wrap="square" lIns="0" tIns="0" rIns="0" bIns="0" anchor="t">
            <a:normAutofit/>
          </a:bodyPr>
          <a:lstStyle>
            <a:defPPr algn="l">
              <a:defRPr sz="1400" b="0" i="0">
                <a:solidFill>
                  <a:srgbClr val="152536"/>
                </a:solidFill>
                <a:latin typeface="Carlito"/>
                <a:ea typeface="Carlito"/>
                <a:cs typeface="Carlito"/>
              </a:defRPr>
            </a:defPPr>
            <a:lvl1pPr algn="l">
              <a:defRPr sz="1400" b="0" i="0">
                <a:solidFill>
                  <a:srgbClr val="152536"/>
                </a:solidFill>
                <a:latin typeface="Carlito"/>
                <a:ea typeface="Carlito"/>
                <a:cs typeface="Carlito"/>
              </a:defRPr>
            </a:lvl1pPr>
            <a:lvl2pPr algn="l">
              <a:defRPr sz="1400" b="0" i="0">
                <a:solidFill>
                  <a:srgbClr val="152536"/>
                </a:solidFill>
                <a:latin typeface="Carlito"/>
                <a:ea typeface="Carlito"/>
                <a:cs typeface="Carlito"/>
              </a:defRPr>
            </a:lvl2pPr>
            <a:lvl3pPr algn="l">
              <a:defRPr sz="1400" b="0" i="0">
                <a:solidFill>
                  <a:srgbClr val="152536"/>
                </a:solidFill>
                <a:latin typeface="Carlito"/>
                <a:ea typeface="Carlito"/>
                <a:cs typeface="Carlito"/>
              </a:defRPr>
            </a:lvl3pPr>
            <a:lvl4pPr algn="l">
              <a:defRPr sz="1400" b="0" i="0">
                <a:solidFill>
                  <a:srgbClr val="152536"/>
                </a:solidFill>
                <a:latin typeface="Carlito"/>
                <a:ea typeface="Carlito"/>
                <a:cs typeface="Carlito"/>
              </a:defRPr>
            </a:lvl4pPr>
            <a:lvl5pPr algn="l">
              <a:defRPr sz="1400" b="0" i="0">
                <a:solidFill>
                  <a:srgbClr val="152536"/>
                </a:solidFill>
                <a:latin typeface="Carlito"/>
                <a:ea typeface="Carlito"/>
                <a:cs typeface="Carlito"/>
              </a:defRPr>
            </a:lvl5pPr>
            <a:lvl6pPr algn="l">
              <a:defRPr sz="1400" b="0" i="0">
                <a:solidFill>
                  <a:srgbClr val="152536"/>
                </a:solidFill>
                <a:latin typeface="Carlito"/>
                <a:ea typeface="Carlito"/>
                <a:cs typeface="Carlito"/>
              </a:defRPr>
            </a:lvl6pPr>
            <a:lvl7pPr algn="l">
              <a:defRPr sz="1400" b="0" i="0">
                <a:solidFill>
                  <a:srgbClr val="152536"/>
                </a:solidFill>
                <a:latin typeface="Carlito"/>
                <a:ea typeface="Carlito"/>
                <a:cs typeface="Carlito"/>
              </a:defRPr>
            </a:lvl7pPr>
            <a:lvl8pPr algn="l">
              <a:defRPr sz="1400" b="0" i="0">
                <a:solidFill>
                  <a:srgbClr val="152536"/>
                </a:solidFill>
                <a:latin typeface="Carlito"/>
                <a:ea typeface="Carlito"/>
                <a:cs typeface="Carlito"/>
              </a:defRPr>
            </a:lvl8pPr>
            <a:lvl9pPr algn="l">
              <a:defRPr sz="1400" b="0" i="0">
                <a:solidFill>
                  <a:srgbClr val="152536"/>
                </a:solidFill>
                <a:latin typeface="Carlito"/>
                <a:ea typeface="Carlito"/>
                <a:cs typeface="Carlito"/>
              </a:defRPr>
            </a:lvl9pPr>
          </a:lstStyle>
          <a:p>
            <a:pPr algn="l">
              <a:defRPr sz="1400" b="0" i="0">
                <a:solidFill>
                  <a:srgbClr val="152536"/>
                </a:solidFill>
                <a:latin typeface="Carlito"/>
                <a:ea typeface="Carlito"/>
                <a:cs typeface="Carlito"/>
              </a:defRPr>
            </a:pPr>
            <a:r>
              <a:rPr sz="1400" b="0" i="0">
                <a:solidFill>
                  <a:srgbClr val="152536"/>
                </a:solidFill>
                <a:latin typeface="Carlito"/>
                <a:ea typeface="Carlito"/>
                <a:cs typeface="Carlito"/>
              </a:rPr>
              <a:t>female share of 2016 ASEAN Summer participations</a:t>
            </a:r>
          </a:p>
        </p:txBody>
      </p:sp>
      <p:sp>
        <p:nvSpPr>
          <p:cNvPr id="8" name="Rectangle 7">
            <a:extLst>
              <a:ext uri="{FF2B5EF4-FFF2-40B4-BE49-F238E27FC236}">
                <a16:creationId xmlns:a16="http://schemas.microsoft.com/office/drawing/2014/main" id="{6DEDDEA9-A58C-43B7-A71E-AFF0E53401E2}"/>
              </a:ext>
            </a:extLst>
          </p:cNvPr>
          <p:cNvSpPr>
            <a:spLocks noGrp="1"/>
          </p:cNvSpPr>
          <p:nvPr/>
        </p:nvSpPr>
        <p:spPr>
          <a:xfrm>
            <a:off x="10096500" y="4381500"/>
            <a:ext cx="952500" cy="523875"/>
          </a:xfrm>
          <a:prstGeom prst="rect">
            <a:avLst/>
          </a:prstGeom>
          <a:noFill/>
          <a:ln w="0">
            <a:noFill/>
            <a:prstDash val="solid"/>
          </a:ln>
        </p:spPr>
        <p:txBody>
          <a:bodyPr wrap="square" lIns="0" tIns="0" rIns="0" bIns="0" anchor="t">
            <a:normAutofit/>
          </a:bodyPr>
          <a:lstStyle>
            <a:defPPr algn="l">
              <a:defRPr sz="3400" b="1" i="0">
                <a:solidFill>
                  <a:srgbClr val="CD7F32"/>
                </a:solidFill>
                <a:latin typeface="Carlito"/>
                <a:ea typeface="Carlito"/>
                <a:cs typeface="Carlito"/>
              </a:defRPr>
            </a:defPPr>
            <a:lvl1pPr algn="l">
              <a:defRPr sz="3400" b="1" i="0">
                <a:solidFill>
                  <a:srgbClr val="CD7F32"/>
                </a:solidFill>
                <a:latin typeface="Carlito"/>
                <a:ea typeface="Carlito"/>
                <a:cs typeface="Carlito"/>
              </a:defRPr>
            </a:lvl1pPr>
            <a:lvl2pPr algn="l">
              <a:defRPr sz="3400" b="1" i="0">
                <a:solidFill>
                  <a:srgbClr val="CD7F32"/>
                </a:solidFill>
                <a:latin typeface="Carlito"/>
                <a:ea typeface="Carlito"/>
                <a:cs typeface="Carlito"/>
              </a:defRPr>
            </a:lvl2pPr>
            <a:lvl3pPr algn="l">
              <a:defRPr sz="3400" b="1" i="0">
                <a:solidFill>
                  <a:srgbClr val="CD7F32"/>
                </a:solidFill>
                <a:latin typeface="Carlito"/>
                <a:ea typeface="Carlito"/>
                <a:cs typeface="Carlito"/>
              </a:defRPr>
            </a:lvl3pPr>
            <a:lvl4pPr algn="l">
              <a:defRPr sz="3400" b="1" i="0">
                <a:solidFill>
                  <a:srgbClr val="CD7F32"/>
                </a:solidFill>
                <a:latin typeface="Carlito"/>
                <a:ea typeface="Carlito"/>
                <a:cs typeface="Carlito"/>
              </a:defRPr>
            </a:lvl4pPr>
            <a:lvl5pPr algn="l">
              <a:defRPr sz="3400" b="1" i="0">
                <a:solidFill>
                  <a:srgbClr val="CD7F32"/>
                </a:solidFill>
                <a:latin typeface="Carlito"/>
                <a:ea typeface="Carlito"/>
                <a:cs typeface="Carlito"/>
              </a:defRPr>
            </a:lvl5pPr>
            <a:lvl6pPr algn="l">
              <a:defRPr sz="3400" b="1" i="0">
                <a:solidFill>
                  <a:srgbClr val="CD7F32"/>
                </a:solidFill>
                <a:latin typeface="Carlito"/>
                <a:ea typeface="Carlito"/>
                <a:cs typeface="Carlito"/>
              </a:defRPr>
            </a:lvl6pPr>
            <a:lvl7pPr algn="l">
              <a:defRPr sz="3400" b="1" i="0">
                <a:solidFill>
                  <a:srgbClr val="CD7F32"/>
                </a:solidFill>
                <a:latin typeface="Carlito"/>
                <a:ea typeface="Carlito"/>
                <a:cs typeface="Carlito"/>
              </a:defRPr>
            </a:lvl7pPr>
            <a:lvl8pPr algn="l">
              <a:defRPr sz="3400" b="1" i="0">
                <a:solidFill>
                  <a:srgbClr val="CD7F32"/>
                </a:solidFill>
                <a:latin typeface="Carlito"/>
                <a:ea typeface="Carlito"/>
                <a:cs typeface="Carlito"/>
              </a:defRPr>
            </a:lvl8pPr>
            <a:lvl9pPr algn="l">
              <a:defRPr sz="3400" b="1" i="0">
                <a:solidFill>
                  <a:srgbClr val="CD7F32"/>
                </a:solidFill>
                <a:latin typeface="Carlito"/>
                <a:ea typeface="Carlito"/>
                <a:cs typeface="Carlito"/>
              </a:defRPr>
            </a:lvl9pPr>
          </a:lstStyle>
          <a:p>
            <a:pPr algn="l">
              <a:defRPr sz="3400" b="1" i="0">
                <a:solidFill>
                  <a:srgbClr val="CD7F32"/>
                </a:solidFill>
                <a:latin typeface="Carlito"/>
                <a:ea typeface="Carlito"/>
                <a:cs typeface="Carlito"/>
              </a:defRPr>
            </a:pPr>
            <a:r>
              <a:rPr sz="3400" b="1" i="0">
                <a:solidFill>
                  <a:srgbClr val="CD7F32"/>
                </a:solidFill>
                <a:latin typeface="Carlito"/>
                <a:ea typeface="Carlito"/>
                <a:cs typeface="Carlito"/>
              </a:rPr>
              <a:t>18</a:t>
            </a:r>
          </a:p>
        </p:txBody>
      </p:sp>
      <p:sp>
        <p:nvSpPr>
          <p:cNvPr id="9" name="Rectangle 8">
            <a:extLst>
              <a:ext uri="{FF2B5EF4-FFF2-40B4-BE49-F238E27FC236}">
                <a16:creationId xmlns:a16="http://schemas.microsoft.com/office/drawing/2014/main" id="{65D9A146-6BA9-4CBA-874F-A47958F4B600}"/>
              </a:ext>
            </a:extLst>
          </p:cNvPr>
          <p:cNvSpPr>
            <a:spLocks noGrp="1"/>
          </p:cNvSpPr>
          <p:nvPr/>
        </p:nvSpPr>
        <p:spPr>
          <a:xfrm>
            <a:off x="9953625" y="4933950"/>
            <a:ext cx="1571625" cy="685800"/>
          </a:xfrm>
          <a:prstGeom prst="rect">
            <a:avLst/>
          </a:prstGeom>
          <a:noFill/>
          <a:ln w="0">
            <a:noFill/>
            <a:prstDash val="solid"/>
          </a:ln>
        </p:spPr>
        <p:txBody>
          <a:bodyPr wrap="square" lIns="0" tIns="0" rIns="0" bIns="0" anchor="t">
            <a:normAutofit fontScale="94133"/>
          </a:bodyPr>
          <a:lstStyle>
            <a:defPPr algn="l">
              <a:defRPr sz="1400" b="0" i="0">
                <a:solidFill>
                  <a:srgbClr val="152536"/>
                </a:solidFill>
                <a:latin typeface="Carlito"/>
                <a:ea typeface="Carlito"/>
                <a:cs typeface="Carlito"/>
              </a:defRPr>
            </a:defPPr>
            <a:lvl1pPr algn="l">
              <a:defRPr sz="1400" b="0" i="0">
                <a:solidFill>
                  <a:srgbClr val="152536"/>
                </a:solidFill>
                <a:latin typeface="Carlito"/>
                <a:ea typeface="Carlito"/>
                <a:cs typeface="Carlito"/>
              </a:defRPr>
            </a:lvl1pPr>
            <a:lvl2pPr algn="l">
              <a:defRPr sz="1400" b="0" i="0">
                <a:solidFill>
                  <a:srgbClr val="152536"/>
                </a:solidFill>
                <a:latin typeface="Carlito"/>
                <a:ea typeface="Carlito"/>
                <a:cs typeface="Carlito"/>
              </a:defRPr>
            </a:lvl2pPr>
            <a:lvl3pPr algn="l">
              <a:defRPr sz="1400" b="0" i="0">
                <a:solidFill>
                  <a:srgbClr val="152536"/>
                </a:solidFill>
                <a:latin typeface="Carlito"/>
                <a:ea typeface="Carlito"/>
                <a:cs typeface="Carlito"/>
              </a:defRPr>
            </a:lvl3pPr>
            <a:lvl4pPr algn="l">
              <a:defRPr sz="1400" b="0" i="0">
                <a:solidFill>
                  <a:srgbClr val="152536"/>
                </a:solidFill>
                <a:latin typeface="Carlito"/>
                <a:ea typeface="Carlito"/>
                <a:cs typeface="Carlito"/>
              </a:defRPr>
            </a:lvl4pPr>
            <a:lvl5pPr algn="l">
              <a:defRPr sz="1400" b="0" i="0">
                <a:solidFill>
                  <a:srgbClr val="152536"/>
                </a:solidFill>
                <a:latin typeface="Carlito"/>
                <a:ea typeface="Carlito"/>
                <a:cs typeface="Carlito"/>
              </a:defRPr>
            </a:lvl5pPr>
            <a:lvl6pPr algn="l">
              <a:defRPr sz="1400" b="0" i="0">
                <a:solidFill>
                  <a:srgbClr val="152536"/>
                </a:solidFill>
                <a:latin typeface="Carlito"/>
                <a:ea typeface="Carlito"/>
                <a:cs typeface="Carlito"/>
              </a:defRPr>
            </a:lvl6pPr>
            <a:lvl7pPr algn="l">
              <a:defRPr sz="1400" b="0" i="0">
                <a:solidFill>
                  <a:srgbClr val="152536"/>
                </a:solidFill>
                <a:latin typeface="Carlito"/>
                <a:ea typeface="Carlito"/>
                <a:cs typeface="Carlito"/>
              </a:defRPr>
            </a:lvl7pPr>
            <a:lvl8pPr algn="l">
              <a:defRPr sz="1400" b="0" i="0">
                <a:solidFill>
                  <a:srgbClr val="152536"/>
                </a:solidFill>
                <a:latin typeface="Carlito"/>
                <a:ea typeface="Carlito"/>
                <a:cs typeface="Carlito"/>
              </a:defRPr>
            </a:lvl8pPr>
            <a:lvl9pPr algn="l">
              <a:defRPr sz="1400" b="0" i="0">
                <a:solidFill>
                  <a:srgbClr val="152536"/>
                </a:solidFill>
                <a:latin typeface="Carlito"/>
                <a:ea typeface="Carlito"/>
                <a:cs typeface="Carlito"/>
              </a:defRPr>
            </a:lvl9pPr>
          </a:lstStyle>
          <a:p>
            <a:pPr algn="l">
              <a:defRPr sz="1400" b="0" i="0">
                <a:solidFill>
                  <a:srgbClr val="152536"/>
                </a:solidFill>
                <a:latin typeface="Carlito"/>
                <a:ea typeface="Carlito"/>
                <a:cs typeface="Carlito"/>
              </a:defRPr>
            </a:pPr>
            <a:r>
              <a:rPr sz="1400" b="0" i="0">
                <a:solidFill>
                  <a:srgbClr val="152536"/>
                </a:solidFill>
                <a:latin typeface="Carlito"/>
                <a:ea typeface="Carlito"/>
                <a:cs typeface="Carlito"/>
              </a:rPr>
              <a:t>official medals in 2016, the highest edition total in the dataset</a:t>
            </a:r>
          </a:p>
        </p:txBody>
      </p:sp>
      <p:sp>
        <p:nvSpPr>
          <p:cNvPr id="10" name="Rectangle 9">
            <a:extLst>
              <a:ext uri="{FF2B5EF4-FFF2-40B4-BE49-F238E27FC236}">
                <a16:creationId xmlns:a16="http://schemas.microsoft.com/office/drawing/2014/main" id="{94343DCA-0BFB-4C99-9F04-12E1E4B9412F}"/>
              </a:ext>
            </a:extLst>
          </p:cNvPr>
          <p:cNvSpPr>
            <a:spLocks noGrp="1"/>
          </p:cNvSpPr>
          <p:nvPr/>
        </p:nvSpPr>
        <p:spPr>
          <a:xfrm>
            <a:off x="609600" y="5953125"/>
            <a:ext cx="8286750" cy="247650"/>
          </a:xfrm>
          <a:prstGeom prst="rect">
            <a:avLst/>
          </a:prstGeom>
          <a:noFill/>
          <a:ln w="0">
            <a:noFill/>
            <a:prstDash val="solid"/>
          </a:ln>
        </p:spPr>
        <p:txBody>
          <a:bodyPr wrap="square" lIns="0" tIns="0" rIns="0" bIns="0" anchor="t">
            <a:normAutofit/>
          </a:bodyPr>
          <a:lstStyle>
            <a:defPPr algn="l">
              <a:defRPr sz="1100" b="0" i="1">
                <a:solidFill>
                  <a:srgbClr val="5F6F7F"/>
                </a:solidFill>
                <a:latin typeface="Carlito"/>
                <a:ea typeface="Carlito"/>
                <a:cs typeface="Carlito"/>
              </a:defRPr>
            </a:defPPr>
            <a:lvl1pPr algn="l">
              <a:defRPr sz="1100" b="0" i="1">
                <a:solidFill>
                  <a:srgbClr val="5F6F7F"/>
                </a:solidFill>
                <a:latin typeface="Carlito"/>
                <a:ea typeface="Carlito"/>
                <a:cs typeface="Carlito"/>
              </a:defRPr>
            </a:lvl1pPr>
            <a:lvl2pPr algn="l">
              <a:defRPr sz="1100" b="0" i="1">
                <a:solidFill>
                  <a:srgbClr val="5F6F7F"/>
                </a:solidFill>
                <a:latin typeface="Carlito"/>
                <a:ea typeface="Carlito"/>
                <a:cs typeface="Carlito"/>
              </a:defRPr>
            </a:lvl2pPr>
            <a:lvl3pPr algn="l">
              <a:defRPr sz="1100" b="0" i="1">
                <a:solidFill>
                  <a:srgbClr val="5F6F7F"/>
                </a:solidFill>
                <a:latin typeface="Carlito"/>
                <a:ea typeface="Carlito"/>
                <a:cs typeface="Carlito"/>
              </a:defRPr>
            </a:lvl3pPr>
            <a:lvl4pPr algn="l">
              <a:defRPr sz="1100" b="0" i="1">
                <a:solidFill>
                  <a:srgbClr val="5F6F7F"/>
                </a:solidFill>
                <a:latin typeface="Carlito"/>
                <a:ea typeface="Carlito"/>
                <a:cs typeface="Carlito"/>
              </a:defRPr>
            </a:lvl4pPr>
            <a:lvl5pPr algn="l">
              <a:defRPr sz="1100" b="0" i="1">
                <a:solidFill>
                  <a:srgbClr val="5F6F7F"/>
                </a:solidFill>
                <a:latin typeface="Carlito"/>
                <a:ea typeface="Carlito"/>
                <a:cs typeface="Carlito"/>
              </a:defRPr>
            </a:lvl5pPr>
            <a:lvl6pPr algn="l">
              <a:defRPr sz="1100" b="0" i="1">
                <a:solidFill>
                  <a:srgbClr val="5F6F7F"/>
                </a:solidFill>
                <a:latin typeface="Carlito"/>
                <a:ea typeface="Carlito"/>
                <a:cs typeface="Carlito"/>
              </a:defRPr>
            </a:lvl6pPr>
            <a:lvl7pPr algn="l">
              <a:defRPr sz="1100" b="0" i="1">
                <a:solidFill>
                  <a:srgbClr val="5F6F7F"/>
                </a:solidFill>
                <a:latin typeface="Carlito"/>
                <a:ea typeface="Carlito"/>
                <a:cs typeface="Carlito"/>
              </a:defRPr>
            </a:lvl7pPr>
            <a:lvl8pPr algn="l">
              <a:defRPr sz="1100" b="0" i="1">
                <a:solidFill>
                  <a:srgbClr val="5F6F7F"/>
                </a:solidFill>
                <a:latin typeface="Carlito"/>
                <a:ea typeface="Carlito"/>
                <a:cs typeface="Carlito"/>
              </a:defRPr>
            </a:lvl8pPr>
            <a:lvl9pPr algn="l">
              <a:defRPr sz="1100" b="0" i="1">
                <a:solidFill>
                  <a:srgbClr val="5F6F7F"/>
                </a:solidFill>
                <a:latin typeface="Carlito"/>
                <a:ea typeface="Carlito"/>
                <a:cs typeface="Carlito"/>
              </a:defRPr>
            </a:lvl9pPr>
          </a:lstStyle>
          <a:p>
            <a:pPr algn="l">
              <a:defRPr sz="1100" b="0" i="1">
                <a:solidFill>
                  <a:srgbClr val="5F6F7F"/>
                </a:solidFill>
                <a:latin typeface="Carlito"/>
                <a:ea typeface="Carlito"/>
                <a:cs typeface="Carlito"/>
              </a:defRPr>
            </a:pPr>
            <a:r>
              <a:rPr sz="1100" b="0" i="1">
                <a:solidFill>
                  <a:srgbClr val="5F6F7F"/>
                </a:solidFill>
                <a:latin typeface="Carlito"/>
                <a:ea typeface="Carlito"/>
                <a:cs typeface="Carlito"/>
              </a:rPr>
              <a:t>Trend charts show Summer editions. The overall KPI includes 14 Winter athlete-event records.</a:t>
            </a:r>
          </a:p>
        </p:txBody>
      </p:sp>
      <p:sp>
        <p:nvSpPr>
          <p:cNvPr id="11" name="Rectangle 10">
            <a:extLst>
              <a:ext uri="{FF2B5EF4-FFF2-40B4-BE49-F238E27FC236}">
                <a16:creationId xmlns:a16="http://schemas.microsoft.com/office/drawing/2014/main" id="{57C4A7B9-86F1-4C8F-878E-721782247D9D}"/>
              </a:ext>
            </a:extLst>
          </p:cNvPr>
          <p:cNvSpPr>
            <a:spLocks noGrp="1"/>
          </p:cNvSpPr>
          <p:nvPr/>
        </p:nvSpPr>
        <p:spPr>
          <a:xfrm>
            <a:off x="609600" y="6515100"/>
            <a:ext cx="4953000" cy="171450"/>
          </a:xfrm>
          <a:prstGeom prst="rect">
            <a:avLst/>
          </a:prstGeom>
          <a:noFill/>
          <a:ln w="0">
            <a:noFill/>
            <a:prstDash val="solid"/>
          </a:ln>
        </p:spPr>
        <p:txBody>
          <a:bodyPr wrap="square" lIns="0" tIns="0" rIns="0" bIns="0" anchor="t">
            <a:normAutofit/>
          </a:bodyPr>
          <a:lstStyle>
            <a:defPPr algn="l">
              <a:defRPr sz="900" b="0" i="0">
                <a:solidFill>
                  <a:srgbClr val="5F6F7F"/>
                </a:solidFill>
                <a:latin typeface="Carlito"/>
                <a:ea typeface="Carlito"/>
                <a:cs typeface="Carlito"/>
              </a:defRPr>
            </a:defPPr>
            <a:lvl1pPr algn="l">
              <a:defRPr sz="900" b="0" i="0">
                <a:solidFill>
                  <a:srgbClr val="5F6F7F"/>
                </a:solidFill>
                <a:latin typeface="Carlito"/>
                <a:ea typeface="Carlito"/>
                <a:cs typeface="Carlito"/>
              </a:defRPr>
            </a:lvl1pPr>
            <a:lvl2pPr algn="l">
              <a:defRPr sz="900" b="0" i="0">
                <a:solidFill>
                  <a:srgbClr val="5F6F7F"/>
                </a:solidFill>
                <a:latin typeface="Carlito"/>
                <a:ea typeface="Carlito"/>
                <a:cs typeface="Carlito"/>
              </a:defRPr>
            </a:lvl2pPr>
            <a:lvl3pPr algn="l">
              <a:defRPr sz="900" b="0" i="0">
                <a:solidFill>
                  <a:srgbClr val="5F6F7F"/>
                </a:solidFill>
                <a:latin typeface="Carlito"/>
                <a:ea typeface="Carlito"/>
                <a:cs typeface="Carlito"/>
              </a:defRPr>
            </a:lvl3pPr>
            <a:lvl4pPr algn="l">
              <a:defRPr sz="900" b="0" i="0">
                <a:solidFill>
                  <a:srgbClr val="5F6F7F"/>
                </a:solidFill>
                <a:latin typeface="Carlito"/>
                <a:ea typeface="Carlito"/>
                <a:cs typeface="Carlito"/>
              </a:defRPr>
            </a:lvl4pPr>
            <a:lvl5pPr algn="l">
              <a:defRPr sz="900" b="0" i="0">
                <a:solidFill>
                  <a:srgbClr val="5F6F7F"/>
                </a:solidFill>
                <a:latin typeface="Carlito"/>
                <a:ea typeface="Carlito"/>
                <a:cs typeface="Carlito"/>
              </a:defRPr>
            </a:lvl5pPr>
            <a:lvl6pPr algn="l">
              <a:defRPr sz="900" b="0" i="0">
                <a:solidFill>
                  <a:srgbClr val="5F6F7F"/>
                </a:solidFill>
                <a:latin typeface="Carlito"/>
                <a:ea typeface="Carlito"/>
                <a:cs typeface="Carlito"/>
              </a:defRPr>
            </a:lvl6pPr>
            <a:lvl7pPr algn="l">
              <a:defRPr sz="900" b="0" i="0">
                <a:solidFill>
                  <a:srgbClr val="5F6F7F"/>
                </a:solidFill>
                <a:latin typeface="Carlito"/>
                <a:ea typeface="Carlito"/>
                <a:cs typeface="Carlito"/>
              </a:defRPr>
            </a:lvl7pPr>
            <a:lvl8pPr algn="l">
              <a:defRPr sz="900" b="0" i="0">
                <a:solidFill>
                  <a:srgbClr val="5F6F7F"/>
                </a:solidFill>
                <a:latin typeface="Carlito"/>
                <a:ea typeface="Carlito"/>
                <a:cs typeface="Carlito"/>
              </a:defRPr>
            </a:lvl8pPr>
            <a:lvl9pPr algn="l">
              <a:defRPr sz="900" b="0" i="0">
                <a:solidFill>
                  <a:srgbClr val="5F6F7F"/>
                </a:solidFill>
                <a:latin typeface="Carlito"/>
                <a:ea typeface="Carlito"/>
                <a:cs typeface="Carlito"/>
              </a:defRPr>
            </a:lvl9pPr>
          </a:lstStyle>
          <a:p>
            <a:pPr algn="l">
              <a:defRPr sz="900" b="0" i="0">
                <a:solidFill>
                  <a:srgbClr val="5F6F7F"/>
                </a:solidFill>
                <a:latin typeface="Carlito"/>
                <a:ea typeface="Carlito"/>
                <a:cs typeface="Carlito"/>
              </a:defRPr>
            </a:pPr>
            <a:r>
              <a:rPr sz="900" b="0" i="0">
                <a:solidFill>
                  <a:srgbClr val="5F6F7F"/>
                </a:solidFill>
                <a:latin typeface="Carlito"/>
                <a:ea typeface="Carlito"/>
                <a:cs typeface="Carlito"/>
              </a:rPr>
              <a:t>ASEAN Olympic Performance Intelligence System</a:t>
            </a:r>
          </a:p>
        </p:txBody>
      </p:sp>
      <p:sp>
        <p:nvSpPr>
          <p:cNvPr id="12" name="Rectangle 11">
            <a:extLst>
              <a:ext uri="{FF2B5EF4-FFF2-40B4-BE49-F238E27FC236}">
                <a16:creationId xmlns:a16="http://schemas.microsoft.com/office/drawing/2014/main" id="{276DBB04-CD7E-4BEC-AA1F-24011B6DDE36}"/>
              </a:ext>
            </a:extLst>
          </p:cNvPr>
          <p:cNvSpPr>
            <a:spLocks noGrp="1"/>
          </p:cNvSpPr>
          <p:nvPr/>
        </p:nvSpPr>
        <p:spPr>
          <a:xfrm>
            <a:off x="11049000" y="6486525"/>
            <a:ext cx="533400" cy="190500"/>
          </a:xfrm>
          <a:prstGeom prst="rect">
            <a:avLst/>
          </a:prstGeom>
          <a:noFill/>
          <a:ln w="0">
            <a:noFill/>
            <a:prstDash val="solid"/>
          </a:ln>
        </p:spPr>
        <p:txBody>
          <a:bodyPr wrap="square" lIns="0" tIns="0" rIns="0" bIns="0" anchor="t">
            <a:normAutofit/>
          </a:bodyPr>
          <a:lstStyle>
            <a:defPPr algn="r">
              <a:defRPr sz="1000" b="1" i="0">
                <a:solidFill>
                  <a:srgbClr val="071B33"/>
                </a:solidFill>
                <a:latin typeface="Carlito"/>
                <a:ea typeface="Carlito"/>
                <a:cs typeface="Carlito"/>
              </a:defRPr>
            </a:defPPr>
            <a:lvl1pPr algn="r">
              <a:defRPr sz="1000" b="1" i="0">
                <a:solidFill>
                  <a:srgbClr val="071B33"/>
                </a:solidFill>
                <a:latin typeface="Carlito"/>
                <a:ea typeface="Carlito"/>
                <a:cs typeface="Carlito"/>
              </a:defRPr>
            </a:lvl1pPr>
            <a:lvl2pPr algn="r">
              <a:defRPr sz="1000" b="1" i="0">
                <a:solidFill>
                  <a:srgbClr val="071B33"/>
                </a:solidFill>
                <a:latin typeface="Carlito"/>
                <a:ea typeface="Carlito"/>
                <a:cs typeface="Carlito"/>
              </a:defRPr>
            </a:lvl2pPr>
            <a:lvl3pPr algn="r">
              <a:defRPr sz="1000" b="1" i="0">
                <a:solidFill>
                  <a:srgbClr val="071B33"/>
                </a:solidFill>
                <a:latin typeface="Carlito"/>
                <a:ea typeface="Carlito"/>
                <a:cs typeface="Carlito"/>
              </a:defRPr>
            </a:lvl3pPr>
            <a:lvl4pPr algn="r">
              <a:defRPr sz="1000" b="1" i="0">
                <a:solidFill>
                  <a:srgbClr val="071B33"/>
                </a:solidFill>
                <a:latin typeface="Carlito"/>
                <a:ea typeface="Carlito"/>
                <a:cs typeface="Carlito"/>
              </a:defRPr>
            </a:lvl4pPr>
            <a:lvl5pPr algn="r">
              <a:defRPr sz="1000" b="1" i="0">
                <a:solidFill>
                  <a:srgbClr val="071B33"/>
                </a:solidFill>
                <a:latin typeface="Carlito"/>
                <a:ea typeface="Carlito"/>
                <a:cs typeface="Carlito"/>
              </a:defRPr>
            </a:lvl5pPr>
            <a:lvl6pPr algn="r">
              <a:defRPr sz="1000" b="1" i="0">
                <a:solidFill>
                  <a:srgbClr val="071B33"/>
                </a:solidFill>
                <a:latin typeface="Carlito"/>
                <a:ea typeface="Carlito"/>
                <a:cs typeface="Carlito"/>
              </a:defRPr>
            </a:lvl6pPr>
            <a:lvl7pPr algn="r">
              <a:defRPr sz="1000" b="1" i="0">
                <a:solidFill>
                  <a:srgbClr val="071B33"/>
                </a:solidFill>
                <a:latin typeface="Carlito"/>
                <a:ea typeface="Carlito"/>
                <a:cs typeface="Carlito"/>
              </a:defRPr>
            </a:lvl7pPr>
            <a:lvl8pPr algn="r">
              <a:defRPr sz="1000" b="1" i="0">
                <a:solidFill>
                  <a:srgbClr val="071B33"/>
                </a:solidFill>
                <a:latin typeface="Carlito"/>
                <a:ea typeface="Carlito"/>
                <a:cs typeface="Carlito"/>
              </a:defRPr>
            </a:lvl8pPr>
            <a:lvl9pPr algn="r">
              <a:defRPr sz="1000" b="1" i="0">
                <a:solidFill>
                  <a:srgbClr val="071B33"/>
                </a:solidFill>
                <a:latin typeface="Carlito"/>
                <a:ea typeface="Carlito"/>
                <a:cs typeface="Carlito"/>
              </a:defRPr>
            </a:lvl9pPr>
          </a:lstStyle>
          <a:p>
            <a:pPr algn="r">
              <a:defRPr sz="1000" b="1" i="0">
                <a:solidFill>
                  <a:srgbClr val="071B33"/>
                </a:solidFill>
                <a:latin typeface="Carlito"/>
                <a:ea typeface="Carlito"/>
                <a:cs typeface="Carlito"/>
              </a:defRPr>
            </a:pPr>
            <a:r>
              <a:rPr sz="1000" b="1" i="0">
                <a:solidFill>
                  <a:srgbClr val="071B33"/>
                </a:solidFill>
                <a:latin typeface="Carlito"/>
                <a:ea typeface="Carlito"/>
                <a:cs typeface="Carlito"/>
              </a:rPr>
              <a:t>05</a:t>
            </a:r>
          </a:p>
        </p:txBody>
      </p:sp>
    </p:spTree>
    <p:extLst>
      <p:ext uri="{BB962C8B-B14F-4D97-AF65-F5344CB8AC3E}">
        <p14:creationId xmlns:p14="http://schemas.microsoft.com/office/powerpoint/2010/main" val="1422885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78F1C3B-3B5D-4687-8220-F0C0EC76D9F3}"/>
              </a:ext>
            </a:extLst>
          </p:cNvPr>
          <p:cNvSpPr>
            <a:spLocks noGrp="1"/>
          </p:cNvSpPr>
          <p:nvPr/>
        </p:nvSpPr>
        <p:spPr>
          <a:xfrm>
            <a:off x="609600" y="361950"/>
            <a:ext cx="10477500" cy="457200"/>
          </a:xfrm>
          <a:prstGeom prst="rect">
            <a:avLst/>
          </a:prstGeom>
          <a:noFill/>
          <a:ln w="0">
            <a:noFill/>
            <a:prstDash val="solid"/>
          </a:ln>
        </p:spPr>
        <p:txBody>
          <a:bodyPr wrap="square" lIns="0" tIns="0" rIns="0" bIns="0" anchor="t">
            <a:normAutofit fontScale="96092"/>
          </a:bodyPr>
          <a:lstStyle>
            <a:defPPr algn="l">
              <a:defRPr sz="2800" b="1" i="0">
                <a:solidFill>
                  <a:srgbClr val="071B33"/>
                </a:solidFill>
                <a:latin typeface="Carlito"/>
                <a:ea typeface="Carlito"/>
                <a:cs typeface="Carlito"/>
              </a:defRPr>
            </a:defPPr>
            <a:lvl1pPr algn="l">
              <a:defRPr sz="2800" b="1" i="0">
                <a:solidFill>
                  <a:srgbClr val="071B33"/>
                </a:solidFill>
                <a:latin typeface="Carlito"/>
                <a:ea typeface="Carlito"/>
                <a:cs typeface="Carlito"/>
              </a:defRPr>
            </a:lvl1pPr>
            <a:lvl2pPr algn="l">
              <a:defRPr sz="2800" b="1" i="0">
                <a:solidFill>
                  <a:srgbClr val="071B33"/>
                </a:solidFill>
                <a:latin typeface="Carlito"/>
                <a:ea typeface="Carlito"/>
                <a:cs typeface="Carlito"/>
              </a:defRPr>
            </a:lvl2pPr>
            <a:lvl3pPr algn="l">
              <a:defRPr sz="2800" b="1" i="0">
                <a:solidFill>
                  <a:srgbClr val="071B33"/>
                </a:solidFill>
                <a:latin typeface="Carlito"/>
                <a:ea typeface="Carlito"/>
                <a:cs typeface="Carlito"/>
              </a:defRPr>
            </a:lvl3pPr>
            <a:lvl4pPr algn="l">
              <a:defRPr sz="2800" b="1" i="0">
                <a:solidFill>
                  <a:srgbClr val="071B33"/>
                </a:solidFill>
                <a:latin typeface="Carlito"/>
                <a:ea typeface="Carlito"/>
                <a:cs typeface="Carlito"/>
              </a:defRPr>
            </a:lvl4pPr>
            <a:lvl5pPr algn="l">
              <a:defRPr sz="2800" b="1" i="0">
                <a:solidFill>
                  <a:srgbClr val="071B33"/>
                </a:solidFill>
                <a:latin typeface="Carlito"/>
                <a:ea typeface="Carlito"/>
                <a:cs typeface="Carlito"/>
              </a:defRPr>
            </a:lvl5pPr>
            <a:lvl6pPr algn="l">
              <a:defRPr sz="2800" b="1" i="0">
                <a:solidFill>
                  <a:srgbClr val="071B33"/>
                </a:solidFill>
                <a:latin typeface="Carlito"/>
                <a:ea typeface="Carlito"/>
                <a:cs typeface="Carlito"/>
              </a:defRPr>
            </a:lvl6pPr>
            <a:lvl7pPr algn="l">
              <a:defRPr sz="2800" b="1" i="0">
                <a:solidFill>
                  <a:srgbClr val="071B33"/>
                </a:solidFill>
                <a:latin typeface="Carlito"/>
                <a:ea typeface="Carlito"/>
                <a:cs typeface="Carlito"/>
              </a:defRPr>
            </a:lvl7pPr>
            <a:lvl8pPr algn="l">
              <a:defRPr sz="2800" b="1" i="0">
                <a:solidFill>
                  <a:srgbClr val="071B33"/>
                </a:solidFill>
                <a:latin typeface="Carlito"/>
                <a:ea typeface="Carlito"/>
                <a:cs typeface="Carlito"/>
              </a:defRPr>
            </a:lvl8pPr>
            <a:lvl9pPr algn="l">
              <a:defRPr sz="2800" b="1" i="0">
                <a:solidFill>
                  <a:srgbClr val="071B33"/>
                </a:solidFill>
                <a:latin typeface="Carlito"/>
                <a:ea typeface="Carlito"/>
                <a:cs typeface="Carlito"/>
              </a:defRPr>
            </a:lvl9pPr>
          </a:lstStyle>
          <a:p>
            <a:pPr algn="l">
              <a:defRPr sz="2800" b="1" i="0">
                <a:solidFill>
                  <a:srgbClr val="071B33"/>
                </a:solidFill>
                <a:latin typeface="Carlito"/>
                <a:ea typeface="Carlito"/>
                <a:cs typeface="Carlito"/>
              </a:defRPr>
            </a:pPr>
            <a:r>
              <a:rPr sz="2800" b="1" i="0">
                <a:solidFill>
                  <a:srgbClr val="071B33"/>
                </a:solidFill>
                <a:latin typeface="Carlito"/>
                <a:ea typeface="Carlito"/>
                <a:cs typeface="Carlito"/>
              </a:rPr>
              <a:t>Indonesia and Thailand account for two-thirds of ASEAN medals</a:t>
            </a:r>
          </a:p>
        </p:txBody>
      </p:sp>
      <p:sp>
        <p:nvSpPr>
          <p:cNvPr id="2" name="Rectangle 1">
            <a:extLst>
              <a:ext uri="{FF2B5EF4-FFF2-40B4-BE49-F238E27FC236}">
                <a16:creationId xmlns:a16="http://schemas.microsoft.com/office/drawing/2014/main" id="{D22B0567-7D2B-4CA8-BC7D-EA1BD115479B}"/>
              </a:ext>
            </a:extLst>
          </p:cNvPr>
          <p:cNvSpPr>
            <a:spLocks noGrp="1"/>
          </p:cNvSpPr>
          <p:nvPr/>
        </p:nvSpPr>
        <p:spPr>
          <a:xfrm>
            <a:off x="609600" y="828675"/>
            <a:ext cx="10668000" cy="285750"/>
          </a:xfrm>
          <a:prstGeom prst="rect">
            <a:avLst/>
          </a:prstGeom>
          <a:noFill/>
          <a:ln w="0">
            <a:noFill/>
            <a:prstDash val="solid"/>
          </a:ln>
        </p:spPr>
        <p:txBody>
          <a:bodyPr wrap="square" lIns="0" tIns="0" rIns="0" bIns="0" anchor="t">
            <a:normAutofit/>
          </a:bodyPr>
          <a:lstStyle>
            <a:defPPr algn="l">
              <a:defRPr sz="1400" b="0" i="0">
                <a:solidFill>
                  <a:srgbClr val="5F6F7F"/>
                </a:solidFill>
                <a:latin typeface="Carlito"/>
                <a:ea typeface="Carlito"/>
                <a:cs typeface="Carlito"/>
              </a:defRPr>
            </a:defPPr>
            <a:lvl1pPr algn="l">
              <a:defRPr sz="1400" b="0" i="0">
                <a:solidFill>
                  <a:srgbClr val="5F6F7F"/>
                </a:solidFill>
                <a:latin typeface="Carlito"/>
                <a:ea typeface="Carlito"/>
                <a:cs typeface="Carlito"/>
              </a:defRPr>
            </a:lvl1pPr>
            <a:lvl2pPr algn="l">
              <a:defRPr sz="1400" b="0" i="0">
                <a:solidFill>
                  <a:srgbClr val="5F6F7F"/>
                </a:solidFill>
                <a:latin typeface="Carlito"/>
                <a:ea typeface="Carlito"/>
                <a:cs typeface="Carlito"/>
              </a:defRPr>
            </a:lvl2pPr>
            <a:lvl3pPr algn="l">
              <a:defRPr sz="1400" b="0" i="0">
                <a:solidFill>
                  <a:srgbClr val="5F6F7F"/>
                </a:solidFill>
                <a:latin typeface="Carlito"/>
                <a:ea typeface="Carlito"/>
                <a:cs typeface="Carlito"/>
              </a:defRPr>
            </a:lvl3pPr>
            <a:lvl4pPr algn="l">
              <a:defRPr sz="1400" b="0" i="0">
                <a:solidFill>
                  <a:srgbClr val="5F6F7F"/>
                </a:solidFill>
                <a:latin typeface="Carlito"/>
                <a:ea typeface="Carlito"/>
                <a:cs typeface="Carlito"/>
              </a:defRPr>
            </a:lvl4pPr>
            <a:lvl5pPr algn="l">
              <a:defRPr sz="1400" b="0" i="0">
                <a:solidFill>
                  <a:srgbClr val="5F6F7F"/>
                </a:solidFill>
                <a:latin typeface="Carlito"/>
                <a:ea typeface="Carlito"/>
                <a:cs typeface="Carlito"/>
              </a:defRPr>
            </a:lvl5pPr>
            <a:lvl6pPr algn="l">
              <a:defRPr sz="1400" b="0" i="0">
                <a:solidFill>
                  <a:srgbClr val="5F6F7F"/>
                </a:solidFill>
                <a:latin typeface="Carlito"/>
                <a:ea typeface="Carlito"/>
                <a:cs typeface="Carlito"/>
              </a:defRPr>
            </a:lvl6pPr>
            <a:lvl7pPr algn="l">
              <a:defRPr sz="1400" b="0" i="0">
                <a:solidFill>
                  <a:srgbClr val="5F6F7F"/>
                </a:solidFill>
                <a:latin typeface="Carlito"/>
                <a:ea typeface="Carlito"/>
                <a:cs typeface="Carlito"/>
              </a:defRPr>
            </a:lvl7pPr>
            <a:lvl8pPr algn="l">
              <a:defRPr sz="1400" b="0" i="0">
                <a:solidFill>
                  <a:srgbClr val="5F6F7F"/>
                </a:solidFill>
                <a:latin typeface="Carlito"/>
                <a:ea typeface="Carlito"/>
                <a:cs typeface="Carlito"/>
              </a:defRPr>
            </a:lvl8pPr>
            <a:lvl9pPr algn="l">
              <a:defRPr sz="1400" b="0" i="0">
                <a:solidFill>
                  <a:srgbClr val="5F6F7F"/>
                </a:solidFill>
                <a:latin typeface="Carlito"/>
                <a:ea typeface="Carlito"/>
                <a:cs typeface="Carlito"/>
              </a:defRPr>
            </a:lvl9pPr>
          </a:lstStyle>
          <a:p>
            <a:pPr algn="l">
              <a:defRPr sz="1400" b="0" i="0">
                <a:solidFill>
                  <a:srgbClr val="5F6F7F"/>
                </a:solidFill>
                <a:latin typeface="Carlito"/>
                <a:ea typeface="Carlito"/>
                <a:cs typeface="Carlito"/>
              </a:defRPr>
            </a:pPr>
            <a:r>
              <a:rPr sz="1400" b="0" i="0">
                <a:solidFill>
                  <a:srgbClr val="5F6F7F"/>
                </a:solidFill>
                <a:latin typeface="Carlito"/>
                <a:ea typeface="Carlito"/>
                <a:cs typeface="Carlito"/>
              </a:rPr>
              <a:t>Country outcomes vary widely despite broad regional participation</a:t>
            </a:r>
          </a:p>
        </p:txBody>
      </p:sp>
      <p:sp>
        <p:nvSpPr>
          <p:cNvPr id="3" name="Rectangle 2">
            <a:extLst>
              <a:ext uri="{FF2B5EF4-FFF2-40B4-BE49-F238E27FC236}">
                <a16:creationId xmlns:a16="http://schemas.microsoft.com/office/drawing/2014/main" id="{FCE696C9-BEF9-47E1-8068-A6D7889676DB}"/>
              </a:ext>
            </a:extLst>
          </p:cNvPr>
          <p:cNvSpPr>
            <a:spLocks noGrp="1"/>
          </p:cNvSpPr>
          <p:nvPr/>
        </p:nvSpPr>
        <p:spPr>
          <a:xfrm>
            <a:off x="609600" y="1181100"/>
            <a:ext cx="10972800" cy="28575"/>
          </a:xfrm>
          <a:prstGeom prst="rect">
            <a:avLst/>
          </a:prstGeom>
          <a:solidFill>
            <a:srgbClr val="D4AF37"/>
          </a:solidFill>
          <a:ln w="0">
            <a:noFill/>
            <a:prstDash val="solid"/>
          </a:ln>
        </p:spPr>
        <p:txBody>
          <a:bodyPr/>
          <a:lstStyle/>
          <a:p>
            <a:endParaRPr lang="en-SG"/>
          </a:p>
        </p:txBody>
      </p:sp>
      <p:graphicFrame>
        <p:nvGraphicFramePr>
          <p:cNvPr id="4" name="Chart">
            <a:extLst>
              <a:ext uri="{FF2B5EF4-FFF2-40B4-BE49-F238E27FC236}">
                <a16:creationId xmlns:a16="http://schemas.microsoft.com/office/drawing/2014/main" id="{3C7679AB-AB4C-4824-B87E-F535A72D263F}"/>
              </a:ext>
            </a:extLst>
          </p:cNvPr>
          <p:cNvGraphicFramePr/>
          <p:nvPr/>
        </p:nvGraphicFramePr>
        <p:xfrm>
          <a:off x="571500" y="1476375"/>
          <a:ext cx="7524750"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CC215928-50C9-4612-B814-6BDDF54EA819}"/>
              </a:ext>
            </a:extLst>
          </p:cNvPr>
          <p:cNvSpPr>
            <a:spLocks noGrp="1"/>
          </p:cNvSpPr>
          <p:nvPr/>
        </p:nvSpPr>
        <p:spPr>
          <a:xfrm>
            <a:off x="8620125" y="1666875"/>
            <a:ext cx="2238375" cy="666750"/>
          </a:xfrm>
          <a:prstGeom prst="rect">
            <a:avLst/>
          </a:prstGeom>
          <a:noFill/>
          <a:ln w="0">
            <a:noFill/>
            <a:prstDash val="solid"/>
          </a:ln>
        </p:spPr>
        <p:txBody>
          <a:bodyPr wrap="square" lIns="0" tIns="0" rIns="0" bIns="0" anchor="t">
            <a:normAutofit/>
          </a:bodyPr>
          <a:lstStyle>
            <a:defPPr algn="l">
              <a:defRPr sz="4200" b="1" i="0">
                <a:solidFill>
                  <a:srgbClr val="D4AF37"/>
                </a:solidFill>
                <a:latin typeface="Carlito"/>
                <a:ea typeface="Carlito"/>
                <a:cs typeface="Carlito"/>
              </a:defRPr>
            </a:defPPr>
            <a:lvl1pPr algn="l">
              <a:defRPr sz="4200" b="1" i="0">
                <a:solidFill>
                  <a:srgbClr val="D4AF37"/>
                </a:solidFill>
                <a:latin typeface="Carlito"/>
                <a:ea typeface="Carlito"/>
                <a:cs typeface="Carlito"/>
              </a:defRPr>
            </a:lvl1pPr>
            <a:lvl2pPr algn="l">
              <a:defRPr sz="4200" b="1" i="0">
                <a:solidFill>
                  <a:srgbClr val="D4AF37"/>
                </a:solidFill>
                <a:latin typeface="Carlito"/>
                <a:ea typeface="Carlito"/>
                <a:cs typeface="Carlito"/>
              </a:defRPr>
            </a:lvl2pPr>
            <a:lvl3pPr algn="l">
              <a:defRPr sz="4200" b="1" i="0">
                <a:solidFill>
                  <a:srgbClr val="D4AF37"/>
                </a:solidFill>
                <a:latin typeface="Carlito"/>
                <a:ea typeface="Carlito"/>
                <a:cs typeface="Carlito"/>
              </a:defRPr>
            </a:lvl3pPr>
            <a:lvl4pPr algn="l">
              <a:defRPr sz="4200" b="1" i="0">
                <a:solidFill>
                  <a:srgbClr val="D4AF37"/>
                </a:solidFill>
                <a:latin typeface="Carlito"/>
                <a:ea typeface="Carlito"/>
                <a:cs typeface="Carlito"/>
              </a:defRPr>
            </a:lvl4pPr>
            <a:lvl5pPr algn="l">
              <a:defRPr sz="4200" b="1" i="0">
                <a:solidFill>
                  <a:srgbClr val="D4AF37"/>
                </a:solidFill>
                <a:latin typeface="Carlito"/>
                <a:ea typeface="Carlito"/>
                <a:cs typeface="Carlito"/>
              </a:defRPr>
            </a:lvl5pPr>
            <a:lvl6pPr algn="l">
              <a:defRPr sz="4200" b="1" i="0">
                <a:solidFill>
                  <a:srgbClr val="D4AF37"/>
                </a:solidFill>
                <a:latin typeface="Carlito"/>
                <a:ea typeface="Carlito"/>
                <a:cs typeface="Carlito"/>
              </a:defRPr>
            </a:lvl6pPr>
            <a:lvl7pPr algn="l">
              <a:defRPr sz="4200" b="1" i="0">
                <a:solidFill>
                  <a:srgbClr val="D4AF37"/>
                </a:solidFill>
                <a:latin typeface="Carlito"/>
                <a:ea typeface="Carlito"/>
                <a:cs typeface="Carlito"/>
              </a:defRPr>
            </a:lvl7pPr>
            <a:lvl8pPr algn="l">
              <a:defRPr sz="4200" b="1" i="0">
                <a:solidFill>
                  <a:srgbClr val="D4AF37"/>
                </a:solidFill>
                <a:latin typeface="Carlito"/>
                <a:ea typeface="Carlito"/>
                <a:cs typeface="Carlito"/>
              </a:defRPr>
            </a:lvl8pPr>
            <a:lvl9pPr algn="l">
              <a:defRPr sz="4200" b="1" i="0">
                <a:solidFill>
                  <a:srgbClr val="D4AF37"/>
                </a:solidFill>
                <a:latin typeface="Carlito"/>
                <a:ea typeface="Carlito"/>
                <a:cs typeface="Carlito"/>
              </a:defRPr>
            </a:lvl9pPr>
          </a:lstStyle>
          <a:p>
            <a:pPr algn="l">
              <a:defRPr sz="4200" b="1" i="0">
                <a:solidFill>
                  <a:srgbClr val="D4AF37"/>
                </a:solidFill>
                <a:latin typeface="Carlito"/>
                <a:ea typeface="Carlito"/>
                <a:cs typeface="Carlito"/>
              </a:defRPr>
            </a:pPr>
            <a:r>
              <a:rPr sz="4200" b="1" i="0">
                <a:solidFill>
                  <a:srgbClr val="D4AF37"/>
                </a:solidFill>
                <a:latin typeface="Carlito"/>
                <a:ea typeface="Carlito"/>
                <a:cs typeface="Carlito"/>
              </a:rPr>
              <a:t>66.7%</a:t>
            </a:r>
          </a:p>
        </p:txBody>
      </p:sp>
      <p:sp>
        <p:nvSpPr>
          <p:cNvPr id="6" name="Rectangle 5">
            <a:extLst>
              <a:ext uri="{FF2B5EF4-FFF2-40B4-BE49-F238E27FC236}">
                <a16:creationId xmlns:a16="http://schemas.microsoft.com/office/drawing/2014/main" id="{2FDDFABA-4138-4FDC-892D-B6AFE4A4BEEB}"/>
              </a:ext>
            </a:extLst>
          </p:cNvPr>
          <p:cNvSpPr>
            <a:spLocks noGrp="1"/>
          </p:cNvSpPr>
          <p:nvPr/>
        </p:nvSpPr>
        <p:spPr>
          <a:xfrm>
            <a:off x="8620125" y="2400300"/>
            <a:ext cx="2571750" cy="781050"/>
          </a:xfrm>
          <a:prstGeom prst="rect">
            <a:avLst/>
          </a:prstGeom>
          <a:noFill/>
          <a:ln w="0">
            <a:noFill/>
            <a:prstDash val="solid"/>
          </a:ln>
        </p:spPr>
        <p:txBody>
          <a:bodyPr wrap="square" lIns="0" tIns="0" rIns="0" bIns="0" anchor="t">
            <a:normAutofit fontScale="94907"/>
          </a:bodyPr>
          <a:lstStyle>
            <a:defPPr algn="l">
              <a:defRPr sz="1800" b="0" i="0">
                <a:solidFill>
                  <a:srgbClr val="152536"/>
                </a:solidFill>
                <a:latin typeface="Carlito"/>
                <a:ea typeface="Carlito"/>
                <a:cs typeface="Carlito"/>
              </a:defRPr>
            </a:defPPr>
            <a:lvl1pPr algn="l">
              <a:defRPr sz="1800" b="0" i="0">
                <a:solidFill>
                  <a:srgbClr val="152536"/>
                </a:solidFill>
                <a:latin typeface="Carlito"/>
                <a:ea typeface="Carlito"/>
                <a:cs typeface="Carlito"/>
              </a:defRPr>
            </a:lvl1pPr>
            <a:lvl2pPr algn="l">
              <a:defRPr sz="1800" b="0" i="0">
                <a:solidFill>
                  <a:srgbClr val="152536"/>
                </a:solidFill>
                <a:latin typeface="Carlito"/>
                <a:ea typeface="Carlito"/>
                <a:cs typeface="Carlito"/>
              </a:defRPr>
            </a:lvl2pPr>
            <a:lvl3pPr algn="l">
              <a:defRPr sz="1800" b="0" i="0">
                <a:solidFill>
                  <a:srgbClr val="152536"/>
                </a:solidFill>
                <a:latin typeface="Carlito"/>
                <a:ea typeface="Carlito"/>
                <a:cs typeface="Carlito"/>
              </a:defRPr>
            </a:lvl3pPr>
            <a:lvl4pPr algn="l">
              <a:defRPr sz="1800" b="0" i="0">
                <a:solidFill>
                  <a:srgbClr val="152536"/>
                </a:solidFill>
                <a:latin typeface="Carlito"/>
                <a:ea typeface="Carlito"/>
                <a:cs typeface="Carlito"/>
              </a:defRPr>
            </a:lvl4pPr>
            <a:lvl5pPr algn="l">
              <a:defRPr sz="1800" b="0" i="0">
                <a:solidFill>
                  <a:srgbClr val="152536"/>
                </a:solidFill>
                <a:latin typeface="Carlito"/>
                <a:ea typeface="Carlito"/>
                <a:cs typeface="Carlito"/>
              </a:defRPr>
            </a:lvl5pPr>
            <a:lvl6pPr algn="l">
              <a:defRPr sz="1800" b="0" i="0">
                <a:solidFill>
                  <a:srgbClr val="152536"/>
                </a:solidFill>
                <a:latin typeface="Carlito"/>
                <a:ea typeface="Carlito"/>
                <a:cs typeface="Carlito"/>
              </a:defRPr>
            </a:lvl6pPr>
            <a:lvl7pPr algn="l">
              <a:defRPr sz="1800" b="0" i="0">
                <a:solidFill>
                  <a:srgbClr val="152536"/>
                </a:solidFill>
                <a:latin typeface="Carlito"/>
                <a:ea typeface="Carlito"/>
                <a:cs typeface="Carlito"/>
              </a:defRPr>
            </a:lvl7pPr>
            <a:lvl8pPr algn="l">
              <a:defRPr sz="1800" b="0" i="0">
                <a:solidFill>
                  <a:srgbClr val="152536"/>
                </a:solidFill>
                <a:latin typeface="Carlito"/>
                <a:ea typeface="Carlito"/>
                <a:cs typeface="Carlito"/>
              </a:defRPr>
            </a:lvl8pPr>
            <a:lvl9pPr algn="l">
              <a:defRPr sz="1800" b="0" i="0">
                <a:solidFill>
                  <a:srgbClr val="152536"/>
                </a:solidFill>
                <a:latin typeface="Carlito"/>
                <a:ea typeface="Carlito"/>
                <a:cs typeface="Carlito"/>
              </a:defRPr>
            </a:lvl9pPr>
          </a:lstStyle>
          <a:p>
            <a:pPr algn="l">
              <a:defRPr sz="1800" b="0" i="0">
                <a:solidFill>
                  <a:srgbClr val="152536"/>
                </a:solidFill>
                <a:latin typeface="Carlito"/>
                <a:ea typeface="Carlito"/>
                <a:cs typeface="Carlito"/>
              </a:defRPr>
            </a:pPr>
            <a:r>
              <a:rPr sz="1800" b="0" i="0">
                <a:solidFill>
                  <a:srgbClr val="152536"/>
                </a:solidFill>
                <a:latin typeface="Carlito"/>
                <a:ea typeface="Carlito"/>
                <a:cs typeface="Carlito"/>
              </a:rPr>
              <a:t>of ASEAN official medals came from Indonesia and Thailand</a:t>
            </a:r>
          </a:p>
        </p:txBody>
      </p:sp>
      <p:sp>
        <p:nvSpPr>
          <p:cNvPr id="7" name="Rectangle 6">
            <a:extLst>
              <a:ext uri="{FF2B5EF4-FFF2-40B4-BE49-F238E27FC236}">
                <a16:creationId xmlns:a16="http://schemas.microsoft.com/office/drawing/2014/main" id="{6F732B17-2FC1-43E1-99E1-7EE346EC6596}"/>
              </a:ext>
            </a:extLst>
          </p:cNvPr>
          <p:cNvSpPr>
            <a:spLocks noGrp="1"/>
          </p:cNvSpPr>
          <p:nvPr/>
        </p:nvSpPr>
        <p:spPr>
          <a:xfrm>
            <a:off x="8620125" y="3362325"/>
            <a:ext cx="2333625" cy="19050"/>
          </a:xfrm>
          <a:prstGeom prst="rect">
            <a:avLst/>
          </a:prstGeom>
          <a:solidFill>
            <a:srgbClr val="D8E1EA"/>
          </a:solidFill>
          <a:ln w="0">
            <a:noFill/>
            <a:prstDash val="solid"/>
          </a:ln>
        </p:spPr>
        <p:txBody>
          <a:bodyPr/>
          <a:lstStyle/>
          <a:p>
            <a:endParaRPr lang="en-SG"/>
          </a:p>
        </p:txBody>
      </p:sp>
      <p:sp>
        <p:nvSpPr>
          <p:cNvPr id="8" name="Rectangle 7">
            <a:extLst>
              <a:ext uri="{FF2B5EF4-FFF2-40B4-BE49-F238E27FC236}">
                <a16:creationId xmlns:a16="http://schemas.microsoft.com/office/drawing/2014/main" id="{A77AD497-493E-4494-8178-5582EAD820F0}"/>
              </a:ext>
            </a:extLst>
          </p:cNvPr>
          <p:cNvSpPr>
            <a:spLocks noGrp="1"/>
          </p:cNvSpPr>
          <p:nvPr/>
        </p:nvSpPr>
        <p:spPr>
          <a:xfrm>
            <a:off x="8620125" y="3619500"/>
            <a:ext cx="2333625" cy="266700"/>
          </a:xfrm>
          <a:prstGeom prst="rect">
            <a:avLst/>
          </a:prstGeom>
          <a:noFill/>
          <a:ln w="0">
            <a:noFill/>
            <a:prstDash val="solid"/>
          </a:ln>
        </p:spPr>
        <p:txBody>
          <a:bodyPr wrap="square" lIns="0" tIns="0" rIns="0" bIns="0" anchor="t">
            <a:normAutofit/>
          </a:bodyPr>
          <a:lstStyle>
            <a:defPPr algn="l">
              <a:defRPr sz="1600" b="1" i="0">
                <a:solidFill>
                  <a:srgbClr val="071B33"/>
                </a:solidFill>
                <a:latin typeface="Carlito"/>
                <a:ea typeface="Carlito"/>
                <a:cs typeface="Carlito"/>
              </a:defRPr>
            </a:defPPr>
            <a:lvl1pPr algn="l">
              <a:defRPr sz="1600" b="1" i="0">
                <a:solidFill>
                  <a:srgbClr val="071B33"/>
                </a:solidFill>
                <a:latin typeface="Carlito"/>
                <a:ea typeface="Carlito"/>
                <a:cs typeface="Carlito"/>
              </a:defRPr>
            </a:lvl1pPr>
            <a:lvl2pPr algn="l">
              <a:defRPr sz="1600" b="1" i="0">
                <a:solidFill>
                  <a:srgbClr val="071B33"/>
                </a:solidFill>
                <a:latin typeface="Carlito"/>
                <a:ea typeface="Carlito"/>
                <a:cs typeface="Carlito"/>
              </a:defRPr>
            </a:lvl2pPr>
            <a:lvl3pPr algn="l">
              <a:defRPr sz="1600" b="1" i="0">
                <a:solidFill>
                  <a:srgbClr val="071B33"/>
                </a:solidFill>
                <a:latin typeface="Carlito"/>
                <a:ea typeface="Carlito"/>
                <a:cs typeface="Carlito"/>
              </a:defRPr>
            </a:lvl3pPr>
            <a:lvl4pPr algn="l">
              <a:defRPr sz="1600" b="1" i="0">
                <a:solidFill>
                  <a:srgbClr val="071B33"/>
                </a:solidFill>
                <a:latin typeface="Carlito"/>
                <a:ea typeface="Carlito"/>
                <a:cs typeface="Carlito"/>
              </a:defRPr>
            </a:lvl4pPr>
            <a:lvl5pPr algn="l">
              <a:defRPr sz="1600" b="1" i="0">
                <a:solidFill>
                  <a:srgbClr val="071B33"/>
                </a:solidFill>
                <a:latin typeface="Carlito"/>
                <a:ea typeface="Carlito"/>
                <a:cs typeface="Carlito"/>
              </a:defRPr>
            </a:lvl5pPr>
            <a:lvl6pPr algn="l">
              <a:defRPr sz="1600" b="1" i="0">
                <a:solidFill>
                  <a:srgbClr val="071B33"/>
                </a:solidFill>
                <a:latin typeface="Carlito"/>
                <a:ea typeface="Carlito"/>
                <a:cs typeface="Carlito"/>
              </a:defRPr>
            </a:lvl6pPr>
            <a:lvl7pPr algn="l">
              <a:defRPr sz="1600" b="1" i="0">
                <a:solidFill>
                  <a:srgbClr val="071B33"/>
                </a:solidFill>
                <a:latin typeface="Carlito"/>
                <a:ea typeface="Carlito"/>
                <a:cs typeface="Carlito"/>
              </a:defRPr>
            </a:lvl7pPr>
            <a:lvl8pPr algn="l">
              <a:defRPr sz="1600" b="1" i="0">
                <a:solidFill>
                  <a:srgbClr val="071B33"/>
                </a:solidFill>
                <a:latin typeface="Carlito"/>
                <a:ea typeface="Carlito"/>
                <a:cs typeface="Carlito"/>
              </a:defRPr>
            </a:lvl8pPr>
            <a:lvl9pPr algn="l">
              <a:defRPr sz="1600" b="1" i="0">
                <a:solidFill>
                  <a:srgbClr val="071B33"/>
                </a:solidFill>
                <a:latin typeface="Carlito"/>
                <a:ea typeface="Carlito"/>
                <a:cs typeface="Carlito"/>
              </a:defRPr>
            </a:lvl9pPr>
          </a:lstStyle>
          <a:p>
            <a:pPr algn="l">
              <a:defRPr sz="1600" b="1" i="0">
                <a:solidFill>
                  <a:srgbClr val="071B33"/>
                </a:solidFill>
                <a:latin typeface="Carlito"/>
                <a:ea typeface="Carlito"/>
                <a:cs typeface="Carlito"/>
              </a:defRPr>
            </a:pPr>
            <a:r>
              <a:rPr sz="1600" b="1" i="0">
                <a:solidFill>
                  <a:srgbClr val="071B33"/>
                </a:solidFill>
                <a:latin typeface="Carlito"/>
                <a:ea typeface="Carlito"/>
                <a:cs typeface="Carlito"/>
              </a:rPr>
              <a:t>Country totals</a:t>
            </a:r>
          </a:p>
        </p:txBody>
      </p:sp>
      <p:sp>
        <p:nvSpPr>
          <p:cNvPr id="9" name="Rectangle 8">
            <a:extLst>
              <a:ext uri="{FF2B5EF4-FFF2-40B4-BE49-F238E27FC236}">
                <a16:creationId xmlns:a16="http://schemas.microsoft.com/office/drawing/2014/main" id="{230B7540-64E8-4088-890A-B8D05818CC2F}"/>
              </a:ext>
            </a:extLst>
          </p:cNvPr>
          <p:cNvSpPr>
            <a:spLocks noGrp="1"/>
          </p:cNvSpPr>
          <p:nvPr/>
        </p:nvSpPr>
        <p:spPr>
          <a:xfrm>
            <a:off x="8620125" y="4019550"/>
            <a:ext cx="2381250" cy="1714500"/>
          </a:xfrm>
          <a:prstGeom prst="rect">
            <a:avLst/>
          </a:prstGeom>
          <a:noFill/>
          <a:ln w="0">
            <a:noFill/>
            <a:prstDash val="solid"/>
          </a:ln>
        </p:spPr>
        <p:txBody>
          <a:bodyPr wrap="square" lIns="0" tIns="0" rIns="0" bIns="0" anchor="t">
            <a:normAutofit/>
          </a:bodyPr>
          <a:lstStyle>
            <a:defPPr algn="l">
              <a:defRPr sz="1700" b="0" i="0">
                <a:solidFill>
                  <a:srgbClr val="152536"/>
                </a:solidFill>
                <a:latin typeface="Carlito"/>
                <a:ea typeface="Carlito"/>
                <a:cs typeface="Carlito"/>
              </a:defRPr>
            </a:defPPr>
            <a:lvl1pPr algn="l">
              <a:defRPr sz="1700" b="0" i="0">
                <a:solidFill>
                  <a:srgbClr val="152536"/>
                </a:solidFill>
                <a:latin typeface="Carlito"/>
                <a:ea typeface="Carlito"/>
                <a:cs typeface="Carlito"/>
              </a:defRPr>
            </a:lvl1pPr>
            <a:lvl2pPr algn="l">
              <a:defRPr sz="1700" b="0" i="0">
                <a:solidFill>
                  <a:srgbClr val="152536"/>
                </a:solidFill>
                <a:latin typeface="Carlito"/>
                <a:ea typeface="Carlito"/>
                <a:cs typeface="Carlito"/>
              </a:defRPr>
            </a:lvl2pPr>
            <a:lvl3pPr algn="l">
              <a:defRPr sz="1700" b="0" i="0">
                <a:solidFill>
                  <a:srgbClr val="152536"/>
                </a:solidFill>
                <a:latin typeface="Carlito"/>
                <a:ea typeface="Carlito"/>
                <a:cs typeface="Carlito"/>
              </a:defRPr>
            </a:lvl3pPr>
            <a:lvl4pPr algn="l">
              <a:defRPr sz="1700" b="0" i="0">
                <a:solidFill>
                  <a:srgbClr val="152536"/>
                </a:solidFill>
                <a:latin typeface="Carlito"/>
                <a:ea typeface="Carlito"/>
                <a:cs typeface="Carlito"/>
              </a:defRPr>
            </a:lvl4pPr>
            <a:lvl5pPr algn="l">
              <a:defRPr sz="1700" b="0" i="0">
                <a:solidFill>
                  <a:srgbClr val="152536"/>
                </a:solidFill>
                <a:latin typeface="Carlito"/>
                <a:ea typeface="Carlito"/>
                <a:cs typeface="Carlito"/>
              </a:defRPr>
            </a:lvl5pPr>
            <a:lvl6pPr algn="l">
              <a:defRPr sz="1700" b="0" i="0">
                <a:solidFill>
                  <a:srgbClr val="152536"/>
                </a:solidFill>
                <a:latin typeface="Carlito"/>
                <a:ea typeface="Carlito"/>
                <a:cs typeface="Carlito"/>
              </a:defRPr>
            </a:lvl6pPr>
            <a:lvl7pPr algn="l">
              <a:defRPr sz="1700" b="0" i="0">
                <a:solidFill>
                  <a:srgbClr val="152536"/>
                </a:solidFill>
                <a:latin typeface="Carlito"/>
                <a:ea typeface="Carlito"/>
                <a:cs typeface="Carlito"/>
              </a:defRPr>
            </a:lvl7pPr>
            <a:lvl8pPr algn="l">
              <a:defRPr sz="1700" b="0" i="0">
                <a:solidFill>
                  <a:srgbClr val="152536"/>
                </a:solidFill>
                <a:latin typeface="Carlito"/>
                <a:ea typeface="Carlito"/>
                <a:cs typeface="Carlito"/>
              </a:defRPr>
            </a:lvl8pPr>
            <a:lvl9pPr algn="l">
              <a:defRPr sz="1700" b="0" i="0">
                <a:solidFill>
                  <a:srgbClr val="152536"/>
                </a:solidFill>
                <a:latin typeface="Carlito"/>
                <a:ea typeface="Carlito"/>
                <a:cs typeface="Carlito"/>
              </a:defRPr>
            </a:lvl9pPr>
          </a:lstStyle>
          <a:p>
            <a:pPr algn="l">
              <a:defRPr sz="1700" b="0" i="0">
                <a:solidFill>
                  <a:srgbClr val="152536"/>
                </a:solidFill>
                <a:latin typeface="Carlito"/>
                <a:ea typeface="Carlito"/>
                <a:cs typeface="Carlito"/>
              </a:defRPr>
            </a:pPr>
            <a:r>
              <a:rPr sz="1700" b="0" i="0">
                <a:solidFill>
                  <a:srgbClr val="152536"/>
                </a:solidFill>
                <a:latin typeface="Carlito"/>
                <a:ea typeface="Carlito"/>
                <a:cs typeface="Carlito"/>
              </a:rPr>
              <a:t>Indonesia  30</a:t>
            </a:r>
          </a:p>
          <a:p>
            <a:pPr algn="l">
              <a:defRPr sz="1700" b="0" i="0">
                <a:solidFill>
                  <a:srgbClr val="152536"/>
                </a:solidFill>
                <a:latin typeface="Carlito"/>
                <a:ea typeface="Carlito"/>
                <a:cs typeface="Carlito"/>
              </a:defRPr>
            </a:pPr>
            <a:r>
              <a:rPr sz="1700" b="0" i="0">
                <a:solidFill>
                  <a:srgbClr val="152536"/>
                </a:solidFill>
                <a:latin typeface="Carlito"/>
                <a:ea typeface="Carlito"/>
                <a:cs typeface="Carlito"/>
              </a:rPr>
              <a:t>Thailand  30</a:t>
            </a:r>
          </a:p>
          <a:p>
            <a:pPr algn="l">
              <a:defRPr sz="1700" b="0" i="0">
                <a:solidFill>
                  <a:srgbClr val="152536"/>
                </a:solidFill>
                <a:latin typeface="Carlito"/>
                <a:ea typeface="Carlito"/>
                <a:cs typeface="Carlito"/>
              </a:defRPr>
            </a:pPr>
            <a:r>
              <a:rPr sz="1700" b="0" i="0">
                <a:solidFill>
                  <a:srgbClr val="152536"/>
                </a:solidFill>
                <a:latin typeface="Carlito"/>
                <a:ea typeface="Carlito"/>
                <a:cs typeface="Carlito"/>
              </a:rPr>
              <a:t>Malaysia  11</a:t>
            </a:r>
          </a:p>
          <a:p>
            <a:pPr algn="l">
              <a:defRPr sz="1700" b="0" i="0">
                <a:solidFill>
                  <a:srgbClr val="152536"/>
                </a:solidFill>
                <a:latin typeface="Carlito"/>
                <a:ea typeface="Carlito"/>
                <a:cs typeface="Carlito"/>
              </a:defRPr>
            </a:pPr>
            <a:r>
              <a:rPr sz="1700" b="0" i="0">
                <a:solidFill>
                  <a:srgbClr val="152536"/>
                </a:solidFill>
                <a:latin typeface="Carlito"/>
                <a:ea typeface="Carlito"/>
                <a:cs typeface="Carlito"/>
              </a:rPr>
              <a:t>Philippines  10</a:t>
            </a:r>
          </a:p>
          <a:p>
            <a:pPr algn="l">
              <a:defRPr sz="1700" b="0" i="0">
                <a:solidFill>
                  <a:srgbClr val="152536"/>
                </a:solidFill>
                <a:latin typeface="Carlito"/>
                <a:ea typeface="Carlito"/>
                <a:cs typeface="Carlito"/>
              </a:defRPr>
            </a:pPr>
            <a:r>
              <a:rPr sz="1700" b="0" i="0">
                <a:solidFill>
                  <a:srgbClr val="152536"/>
                </a:solidFill>
                <a:latin typeface="Carlito"/>
                <a:ea typeface="Carlito"/>
                <a:cs typeface="Carlito"/>
              </a:rPr>
              <a:t>Singapore  5</a:t>
            </a:r>
          </a:p>
          <a:p>
            <a:pPr algn="l">
              <a:defRPr sz="1700" b="0" i="0">
                <a:solidFill>
                  <a:srgbClr val="152536"/>
                </a:solidFill>
                <a:latin typeface="Carlito"/>
                <a:ea typeface="Carlito"/>
                <a:cs typeface="Carlito"/>
              </a:defRPr>
            </a:pPr>
            <a:r>
              <a:rPr sz="1700" b="0" i="0">
                <a:solidFill>
                  <a:srgbClr val="152536"/>
                </a:solidFill>
                <a:latin typeface="Carlito"/>
                <a:ea typeface="Carlito"/>
                <a:cs typeface="Carlito"/>
              </a:rPr>
              <a:t>Vietnam  4</a:t>
            </a:r>
          </a:p>
        </p:txBody>
      </p:sp>
      <p:sp>
        <p:nvSpPr>
          <p:cNvPr id="10" name="Rectangle 9">
            <a:extLst>
              <a:ext uri="{FF2B5EF4-FFF2-40B4-BE49-F238E27FC236}">
                <a16:creationId xmlns:a16="http://schemas.microsoft.com/office/drawing/2014/main" id="{C715C8E2-D548-4693-9A71-22A352A6C1AB}"/>
              </a:ext>
            </a:extLst>
          </p:cNvPr>
          <p:cNvSpPr>
            <a:spLocks noGrp="1"/>
          </p:cNvSpPr>
          <p:nvPr/>
        </p:nvSpPr>
        <p:spPr>
          <a:xfrm>
            <a:off x="8620125" y="5810250"/>
            <a:ext cx="2667000" cy="428625"/>
          </a:xfrm>
          <a:prstGeom prst="rect">
            <a:avLst/>
          </a:prstGeom>
          <a:noFill/>
          <a:ln w="0">
            <a:noFill/>
            <a:prstDash val="solid"/>
          </a:ln>
        </p:spPr>
        <p:txBody>
          <a:bodyPr wrap="square" lIns="0" tIns="0" rIns="0" bIns="0" anchor="t">
            <a:normAutofit fontScale="97072"/>
          </a:bodyPr>
          <a:lstStyle>
            <a:defPPr algn="l">
              <a:defRPr sz="1200" b="0" i="1">
                <a:solidFill>
                  <a:srgbClr val="5F6F7F"/>
                </a:solidFill>
                <a:latin typeface="Carlito"/>
                <a:ea typeface="Carlito"/>
                <a:cs typeface="Carlito"/>
              </a:defRPr>
            </a:defPPr>
            <a:lvl1pPr algn="l">
              <a:defRPr sz="1200" b="0" i="1">
                <a:solidFill>
                  <a:srgbClr val="5F6F7F"/>
                </a:solidFill>
                <a:latin typeface="Carlito"/>
                <a:ea typeface="Carlito"/>
                <a:cs typeface="Carlito"/>
              </a:defRPr>
            </a:lvl1pPr>
            <a:lvl2pPr algn="l">
              <a:defRPr sz="1200" b="0" i="1">
                <a:solidFill>
                  <a:srgbClr val="5F6F7F"/>
                </a:solidFill>
                <a:latin typeface="Carlito"/>
                <a:ea typeface="Carlito"/>
                <a:cs typeface="Carlito"/>
              </a:defRPr>
            </a:lvl2pPr>
            <a:lvl3pPr algn="l">
              <a:defRPr sz="1200" b="0" i="1">
                <a:solidFill>
                  <a:srgbClr val="5F6F7F"/>
                </a:solidFill>
                <a:latin typeface="Carlito"/>
                <a:ea typeface="Carlito"/>
                <a:cs typeface="Carlito"/>
              </a:defRPr>
            </a:lvl3pPr>
            <a:lvl4pPr algn="l">
              <a:defRPr sz="1200" b="0" i="1">
                <a:solidFill>
                  <a:srgbClr val="5F6F7F"/>
                </a:solidFill>
                <a:latin typeface="Carlito"/>
                <a:ea typeface="Carlito"/>
                <a:cs typeface="Carlito"/>
              </a:defRPr>
            </a:lvl4pPr>
            <a:lvl5pPr algn="l">
              <a:defRPr sz="1200" b="0" i="1">
                <a:solidFill>
                  <a:srgbClr val="5F6F7F"/>
                </a:solidFill>
                <a:latin typeface="Carlito"/>
                <a:ea typeface="Carlito"/>
                <a:cs typeface="Carlito"/>
              </a:defRPr>
            </a:lvl5pPr>
            <a:lvl6pPr algn="l">
              <a:defRPr sz="1200" b="0" i="1">
                <a:solidFill>
                  <a:srgbClr val="5F6F7F"/>
                </a:solidFill>
                <a:latin typeface="Carlito"/>
                <a:ea typeface="Carlito"/>
                <a:cs typeface="Carlito"/>
              </a:defRPr>
            </a:lvl6pPr>
            <a:lvl7pPr algn="l">
              <a:defRPr sz="1200" b="0" i="1">
                <a:solidFill>
                  <a:srgbClr val="5F6F7F"/>
                </a:solidFill>
                <a:latin typeface="Carlito"/>
                <a:ea typeface="Carlito"/>
                <a:cs typeface="Carlito"/>
              </a:defRPr>
            </a:lvl7pPr>
            <a:lvl8pPr algn="l">
              <a:defRPr sz="1200" b="0" i="1">
                <a:solidFill>
                  <a:srgbClr val="5F6F7F"/>
                </a:solidFill>
                <a:latin typeface="Carlito"/>
                <a:ea typeface="Carlito"/>
                <a:cs typeface="Carlito"/>
              </a:defRPr>
            </a:lvl8pPr>
            <a:lvl9pPr algn="l">
              <a:defRPr sz="1200" b="0" i="1">
                <a:solidFill>
                  <a:srgbClr val="5F6F7F"/>
                </a:solidFill>
                <a:latin typeface="Carlito"/>
                <a:ea typeface="Carlito"/>
                <a:cs typeface="Carlito"/>
              </a:defRPr>
            </a:lvl9pPr>
          </a:lstStyle>
          <a:p>
            <a:pPr algn="l">
              <a:defRPr sz="1200" b="0" i="1">
                <a:solidFill>
                  <a:srgbClr val="5F6F7F"/>
                </a:solidFill>
                <a:latin typeface="Carlito"/>
                <a:ea typeface="Carlito"/>
                <a:cs typeface="Carlito"/>
              </a:defRPr>
            </a:pPr>
            <a:r>
              <a:rPr sz="1200" b="0" i="1">
                <a:solidFill>
                  <a:srgbClr val="5F6F7F"/>
                </a:solidFill>
                <a:latin typeface="Carlito"/>
                <a:ea typeface="Carlito"/>
                <a:cs typeface="Carlito"/>
              </a:rPr>
              <a:t>Four ASEAN countries recorded no official medals during the dataset period.</a:t>
            </a:r>
          </a:p>
        </p:txBody>
      </p:sp>
      <p:sp>
        <p:nvSpPr>
          <p:cNvPr id="11" name="Rectangle 10">
            <a:extLst>
              <a:ext uri="{FF2B5EF4-FFF2-40B4-BE49-F238E27FC236}">
                <a16:creationId xmlns:a16="http://schemas.microsoft.com/office/drawing/2014/main" id="{8BF444A2-657E-4257-8D5F-77869FEF980B}"/>
              </a:ext>
            </a:extLst>
          </p:cNvPr>
          <p:cNvSpPr>
            <a:spLocks noGrp="1"/>
          </p:cNvSpPr>
          <p:nvPr/>
        </p:nvSpPr>
        <p:spPr>
          <a:xfrm>
            <a:off x="609600" y="6515100"/>
            <a:ext cx="4953000" cy="171450"/>
          </a:xfrm>
          <a:prstGeom prst="rect">
            <a:avLst/>
          </a:prstGeom>
          <a:noFill/>
          <a:ln w="0">
            <a:noFill/>
            <a:prstDash val="solid"/>
          </a:ln>
        </p:spPr>
        <p:txBody>
          <a:bodyPr wrap="square" lIns="0" tIns="0" rIns="0" bIns="0" anchor="t">
            <a:normAutofit/>
          </a:bodyPr>
          <a:lstStyle>
            <a:defPPr algn="l">
              <a:defRPr sz="900" b="0" i="0">
                <a:solidFill>
                  <a:srgbClr val="5F6F7F"/>
                </a:solidFill>
                <a:latin typeface="Carlito"/>
                <a:ea typeface="Carlito"/>
                <a:cs typeface="Carlito"/>
              </a:defRPr>
            </a:defPPr>
            <a:lvl1pPr algn="l">
              <a:defRPr sz="900" b="0" i="0">
                <a:solidFill>
                  <a:srgbClr val="5F6F7F"/>
                </a:solidFill>
                <a:latin typeface="Carlito"/>
                <a:ea typeface="Carlito"/>
                <a:cs typeface="Carlito"/>
              </a:defRPr>
            </a:lvl1pPr>
            <a:lvl2pPr algn="l">
              <a:defRPr sz="900" b="0" i="0">
                <a:solidFill>
                  <a:srgbClr val="5F6F7F"/>
                </a:solidFill>
                <a:latin typeface="Carlito"/>
                <a:ea typeface="Carlito"/>
                <a:cs typeface="Carlito"/>
              </a:defRPr>
            </a:lvl2pPr>
            <a:lvl3pPr algn="l">
              <a:defRPr sz="900" b="0" i="0">
                <a:solidFill>
                  <a:srgbClr val="5F6F7F"/>
                </a:solidFill>
                <a:latin typeface="Carlito"/>
                <a:ea typeface="Carlito"/>
                <a:cs typeface="Carlito"/>
              </a:defRPr>
            </a:lvl3pPr>
            <a:lvl4pPr algn="l">
              <a:defRPr sz="900" b="0" i="0">
                <a:solidFill>
                  <a:srgbClr val="5F6F7F"/>
                </a:solidFill>
                <a:latin typeface="Carlito"/>
                <a:ea typeface="Carlito"/>
                <a:cs typeface="Carlito"/>
              </a:defRPr>
            </a:lvl4pPr>
            <a:lvl5pPr algn="l">
              <a:defRPr sz="900" b="0" i="0">
                <a:solidFill>
                  <a:srgbClr val="5F6F7F"/>
                </a:solidFill>
                <a:latin typeface="Carlito"/>
                <a:ea typeface="Carlito"/>
                <a:cs typeface="Carlito"/>
              </a:defRPr>
            </a:lvl5pPr>
            <a:lvl6pPr algn="l">
              <a:defRPr sz="900" b="0" i="0">
                <a:solidFill>
                  <a:srgbClr val="5F6F7F"/>
                </a:solidFill>
                <a:latin typeface="Carlito"/>
                <a:ea typeface="Carlito"/>
                <a:cs typeface="Carlito"/>
              </a:defRPr>
            </a:lvl6pPr>
            <a:lvl7pPr algn="l">
              <a:defRPr sz="900" b="0" i="0">
                <a:solidFill>
                  <a:srgbClr val="5F6F7F"/>
                </a:solidFill>
                <a:latin typeface="Carlito"/>
                <a:ea typeface="Carlito"/>
                <a:cs typeface="Carlito"/>
              </a:defRPr>
            </a:lvl7pPr>
            <a:lvl8pPr algn="l">
              <a:defRPr sz="900" b="0" i="0">
                <a:solidFill>
                  <a:srgbClr val="5F6F7F"/>
                </a:solidFill>
                <a:latin typeface="Carlito"/>
                <a:ea typeface="Carlito"/>
                <a:cs typeface="Carlito"/>
              </a:defRPr>
            </a:lvl8pPr>
            <a:lvl9pPr algn="l">
              <a:defRPr sz="900" b="0" i="0">
                <a:solidFill>
                  <a:srgbClr val="5F6F7F"/>
                </a:solidFill>
                <a:latin typeface="Carlito"/>
                <a:ea typeface="Carlito"/>
                <a:cs typeface="Carlito"/>
              </a:defRPr>
            </a:lvl9pPr>
          </a:lstStyle>
          <a:p>
            <a:pPr algn="l">
              <a:defRPr sz="900" b="0" i="0">
                <a:solidFill>
                  <a:srgbClr val="5F6F7F"/>
                </a:solidFill>
                <a:latin typeface="Carlito"/>
                <a:ea typeface="Carlito"/>
                <a:cs typeface="Carlito"/>
              </a:defRPr>
            </a:pPr>
            <a:r>
              <a:rPr sz="900" b="0" i="0">
                <a:solidFill>
                  <a:srgbClr val="5F6F7F"/>
                </a:solidFill>
                <a:latin typeface="Carlito"/>
                <a:ea typeface="Carlito"/>
                <a:cs typeface="Carlito"/>
              </a:rPr>
              <a:t>ASEAN Olympic Performance Intelligence System</a:t>
            </a:r>
          </a:p>
        </p:txBody>
      </p:sp>
      <p:sp>
        <p:nvSpPr>
          <p:cNvPr id="12" name="Rectangle 11">
            <a:extLst>
              <a:ext uri="{FF2B5EF4-FFF2-40B4-BE49-F238E27FC236}">
                <a16:creationId xmlns:a16="http://schemas.microsoft.com/office/drawing/2014/main" id="{556993E8-802F-44C4-A2AE-A1733D858182}"/>
              </a:ext>
            </a:extLst>
          </p:cNvPr>
          <p:cNvSpPr>
            <a:spLocks noGrp="1"/>
          </p:cNvSpPr>
          <p:nvPr/>
        </p:nvSpPr>
        <p:spPr>
          <a:xfrm>
            <a:off x="11049000" y="6486525"/>
            <a:ext cx="533400" cy="190500"/>
          </a:xfrm>
          <a:prstGeom prst="rect">
            <a:avLst/>
          </a:prstGeom>
          <a:noFill/>
          <a:ln w="0">
            <a:noFill/>
            <a:prstDash val="solid"/>
          </a:ln>
        </p:spPr>
        <p:txBody>
          <a:bodyPr wrap="square" lIns="0" tIns="0" rIns="0" bIns="0" anchor="t">
            <a:normAutofit/>
          </a:bodyPr>
          <a:lstStyle>
            <a:defPPr algn="r">
              <a:defRPr sz="1000" b="1" i="0">
                <a:solidFill>
                  <a:srgbClr val="071B33"/>
                </a:solidFill>
                <a:latin typeface="Carlito"/>
                <a:ea typeface="Carlito"/>
                <a:cs typeface="Carlito"/>
              </a:defRPr>
            </a:defPPr>
            <a:lvl1pPr algn="r">
              <a:defRPr sz="1000" b="1" i="0">
                <a:solidFill>
                  <a:srgbClr val="071B33"/>
                </a:solidFill>
                <a:latin typeface="Carlito"/>
                <a:ea typeface="Carlito"/>
                <a:cs typeface="Carlito"/>
              </a:defRPr>
            </a:lvl1pPr>
            <a:lvl2pPr algn="r">
              <a:defRPr sz="1000" b="1" i="0">
                <a:solidFill>
                  <a:srgbClr val="071B33"/>
                </a:solidFill>
                <a:latin typeface="Carlito"/>
                <a:ea typeface="Carlito"/>
                <a:cs typeface="Carlito"/>
              </a:defRPr>
            </a:lvl2pPr>
            <a:lvl3pPr algn="r">
              <a:defRPr sz="1000" b="1" i="0">
                <a:solidFill>
                  <a:srgbClr val="071B33"/>
                </a:solidFill>
                <a:latin typeface="Carlito"/>
                <a:ea typeface="Carlito"/>
                <a:cs typeface="Carlito"/>
              </a:defRPr>
            </a:lvl3pPr>
            <a:lvl4pPr algn="r">
              <a:defRPr sz="1000" b="1" i="0">
                <a:solidFill>
                  <a:srgbClr val="071B33"/>
                </a:solidFill>
                <a:latin typeface="Carlito"/>
                <a:ea typeface="Carlito"/>
                <a:cs typeface="Carlito"/>
              </a:defRPr>
            </a:lvl4pPr>
            <a:lvl5pPr algn="r">
              <a:defRPr sz="1000" b="1" i="0">
                <a:solidFill>
                  <a:srgbClr val="071B33"/>
                </a:solidFill>
                <a:latin typeface="Carlito"/>
                <a:ea typeface="Carlito"/>
                <a:cs typeface="Carlito"/>
              </a:defRPr>
            </a:lvl5pPr>
            <a:lvl6pPr algn="r">
              <a:defRPr sz="1000" b="1" i="0">
                <a:solidFill>
                  <a:srgbClr val="071B33"/>
                </a:solidFill>
                <a:latin typeface="Carlito"/>
                <a:ea typeface="Carlito"/>
                <a:cs typeface="Carlito"/>
              </a:defRPr>
            </a:lvl6pPr>
            <a:lvl7pPr algn="r">
              <a:defRPr sz="1000" b="1" i="0">
                <a:solidFill>
                  <a:srgbClr val="071B33"/>
                </a:solidFill>
                <a:latin typeface="Carlito"/>
                <a:ea typeface="Carlito"/>
                <a:cs typeface="Carlito"/>
              </a:defRPr>
            </a:lvl7pPr>
            <a:lvl8pPr algn="r">
              <a:defRPr sz="1000" b="1" i="0">
                <a:solidFill>
                  <a:srgbClr val="071B33"/>
                </a:solidFill>
                <a:latin typeface="Carlito"/>
                <a:ea typeface="Carlito"/>
                <a:cs typeface="Carlito"/>
              </a:defRPr>
            </a:lvl8pPr>
            <a:lvl9pPr algn="r">
              <a:defRPr sz="1000" b="1" i="0">
                <a:solidFill>
                  <a:srgbClr val="071B33"/>
                </a:solidFill>
                <a:latin typeface="Carlito"/>
                <a:ea typeface="Carlito"/>
                <a:cs typeface="Carlito"/>
              </a:defRPr>
            </a:lvl9pPr>
          </a:lstStyle>
          <a:p>
            <a:pPr algn="r">
              <a:defRPr sz="1000" b="1" i="0">
                <a:solidFill>
                  <a:srgbClr val="071B33"/>
                </a:solidFill>
                <a:latin typeface="Carlito"/>
                <a:ea typeface="Carlito"/>
                <a:cs typeface="Carlito"/>
              </a:defRPr>
            </a:pPr>
            <a:r>
              <a:rPr sz="1000" b="1" i="0">
                <a:solidFill>
                  <a:srgbClr val="071B33"/>
                </a:solidFill>
                <a:latin typeface="Carlito"/>
                <a:ea typeface="Carlito"/>
                <a:cs typeface="Carlito"/>
              </a:rPr>
              <a:t>06</a:t>
            </a:r>
          </a:p>
        </p:txBody>
      </p:sp>
    </p:spTree>
    <p:extLst>
      <p:ext uri="{BB962C8B-B14F-4D97-AF65-F5344CB8AC3E}">
        <p14:creationId xmlns:p14="http://schemas.microsoft.com/office/powerpoint/2010/main" val="236541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AC7B2E2-CEA0-491E-8194-F07AE0C581AE}"/>
              </a:ext>
            </a:extLst>
          </p:cNvPr>
          <p:cNvSpPr>
            <a:spLocks noGrp="1"/>
          </p:cNvSpPr>
          <p:nvPr/>
        </p:nvSpPr>
        <p:spPr>
          <a:xfrm>
            <a:off x="609600" y="361950"/>
            <a:ext cx="10477500" cy="457200"/>
          </a:xfrm>
          <a:prstGeom prst="rect">
            <a:avLst/>
          </a:prstGeom>
          <a:noFill/>
          <a:ln w="0">
            <a:noFill/>
            <a:prstDash val="solid"/>
          </a:ln>
        </p:spPr>
        <p:txBody>
          <a:bodyPr wrap="square" lIns="0" tIns="0" rIns="0" bIns="0" anchor="t">
            <a:normAutofit fontScale="94134"/>
          </a:bodyPr>
          <a:lstStyle>
            <a:defPPr algn="l">
              <a:defRPr sz="2800" b="1" i="0">
                <a:solidFill>
                  <a:srgbClr val="071B33"/>
                </a:solidFill>
                <a:latin typeface="Carlito"/>
                <a:ea typeface="Carlito"/>
                <a:cs typeface="Carlito"/>
              </a:defRPr>
            </a:defPPr>
            <a:lvl1pPr algn="l">
              <a:defRPr sz="2800" b="1" i="0">
                <a:solidFill>
                  <a:srgbClr val="071B33"/>
                </a:solidFill>
                <a:latin typeface="Carlito"/>
                <a:ea typeface="Carlito"/>
                <a:cs typeface="Carlito"/>
              </a:defRPr>
            </a:lvl1pPr>
            <a:lvl2pPr algn="l">
              <a:defRPr sz="2800" b="1" i="0">
                <a:solidFill>
                  <a:srgbClr val="071B33"/>
                </a:solidFill>
                <a:latin typeface="Carlito"/>
                <a:ea typeface="Carlito"/>
                <a:cs typeface="Carlito"/>
              </a:defRPr>
            </a:lvl2pPr>
            <a:lvl3pPr algn="l">
              <a:defRPr sz="2800" b="1" i="0">
                <a:solidFill>
                  <a:srgbClr val="071B33"/>
                </a:solidFill>
                <a:latin typeface="Carlito"/>
                <a:ea typeface="Carlito"/>
                <a:cs typeface="Carlito"/>
              </a:defRPr>
            </a:lvl3pPr>
            <a:lvl4pPr algn="l">
              <a:defRPr sz="2800" b="1" i="0">
                <a:solidFill>
                  <a:srgbClr val="071B33"/>
                </a:solidFill>
                <a:latin typeface="Carlito"/>
                <a:ea typeface="Carlito"/>
                <a:cs typeface="Carlito"/>
              </a:defRPr>
            </a:lvl4pPr>
            <a:lvl5pPr algn="l">
              <a:defRPr sz="2800" b="1" i="0">
                <a:solidFill>
                  <a:srgbClr val="071B33"/>
                </a:solidFill>
                <a:latin typeface="Carlito"/>
                <a:ea typeface="Carlito"/>
                <a:cs typeface="Carlito"/>
              </a:defRPr>
            </a:lvl5pPr>
            <a:lvl6pPr algn="l">
              <a:defRPr sz="2800" b="1" i="0">
                <a:solidFill>
                  <a:srgbClr val="071B33"/>
                </a:solidFill>
                <a:latin typeface="Carlito"/>
                <a:ea typeface="Carlito"/>
                <a:cs typeface="Carlito"/>
              </a:defRPr>
            </a:lvl6pPr>
            <a:lvl7pPr algn="l">
              <a:defRPr sz="2800" b="1" i="0">
                <a:solidFill>
                  <a:srgbClr val="071B33"/>
                </a:solidFill>
                <a:latin typeface="Carlito"/>
                <a:ea typeface="Carlito"/>
                <a:cs typeface="Carlito"/>
              </a:defRPr>
            </a:lvl7pPr>
            <a:lvl8pPr algn="l">
              <a:defRPr sz="2800" b="1" i="0">
                <a:solidFill>
                  <a:srgbClr val="071B33"/>
                </a:solidFill>
                <a:latin typeface="Carlito"/>
                <a:ea typeface="Carlito"/>
                <a:cs typeface="Carlito"/>
              </a:defRPr>
            </a:lvl8pPr>
            <a:lvl9pPr algn="l">
              <a:defRPr sz="2800" b="1" i="0">
                <a:solidFill>
                  <a:srgbClr val="071B33"/>
                </a:solidFill>
                <a:latin typeface="Carlito"/>
                <a:ea typeface="Carlito"/>
                <a:cs typeface="Carlito"/>
              </a:defRPr>
            </a:lvl9pPr>
          </a:lstStyle>
          <a:p>
            <a:pPr algn="l">
              <a:defRPr sz="2800" b="1" i="0">
                <a:solidFill>
                  <a:srgbClr val="071B33"/>
                </a:solidFill>
                <a:latin typeface="Carlito"/>
                <a:ea typeface="Carlito"/>
                <a:cs typeface="Carlito"/>
              </a:defRPr>
            </a:pPr>
            <a:r>
              <a:rPr sz="2800" b="1" i="0">
                <a:solidFill>
                  <a:srgbClr val="071B33"/>
                </a:solidFill>
                <a:latin typeface="Carlito"/>
                <a:ea typeface="Carlito"/>
                <a:cs typeface="Carlito"/>
              </a:rPr>
              <a:t>Three sports generated most medals, while weightlifting gained ground</a:t>
            </a:r>
          </a:p>
        </p:txBody>
      </p:sp>
      <p:sp>
        <p:nvSpPr>
          <p:cNvPr id="2" name="Rectangle 1">
            <a:extLst>
              <a:ext uri="{FF2B5EF4-FFF2-40B4-BE49-F238E27FC236}">
                <a16:creationId xmlns:a16="http://schemas.microsoft.com/office/drawing/2014/main" id="{66AC7CC1-C991-450D-8B26-34287A671407}"/>
              </a:ext>
            </a:extLst>
          </p:cNvPr>
          <p:cNvSpPr>
            <a:spLocks noGrp="1"/>
          </p:cNvSpPr>
          <p:nvPr/>
        </p:nvSpPr>
        <p:spPr>
          <a:xfrm>
            <a:off x="609600" y="828675"/>
            <a:ext cx="10668000" cy="285750"/>
          </a:xfrm>
          <a:prstGeom prst="rect">
            <a:avLst/>
          </a:prstGeom>
          <a:noFill/>
          <a:ln w="0">
            <a:noFill/>
            <a:prstDash val="solid"/>
          </a:ln>
        </p:spPr>
        <p:txBody>
          <a:bodyPr wrap="square" lIns="0" tIns="0" rIns="0" bIns="0" anchor="t">
            <a:normAutofit/>
          </a:bodyPr>
          <a:lstStyle>
            <a:defPPr algn="l">
              <a:defRPr sz="1400" b="0" i="0">
                <a:solidFill>
                  <a:srgbClr val="5F6F7F"/>
                </a:solidFill>
                <a:latin typeface="Carlito"/>
                <a:ea typeface="Carlito"/>
                <a:cs typeface="Carlito"/>
              </a:defRPr>
            </a:defPPr>
            <a:lvl1pPr algn="l">
              <a:defRPr sz="1400" b="0" i="0">
                <a:solidFill>
                  <a:srgbClr val="5F6F7F"/>
                </a:solidFill>
                <a:latin typeface="Carlito"/>
                <a:ea typeface="Carlito"/>
                <a:cs typeface="Carlito"/>
              </a:defRPr>
            </a:lvl1pPr>
            <a:lvl2pPr algn="l">
              <a:defRPr sz="1400" b="0" i="0">
                <a:solidFill>
                  <a:srgbClr val="5F6F7F"/>
                </a:solidFill>
                <a:latin typeface="Carlito"/>
                <a:ea typeface="Carlito"/>
                <a:cs typeface="Carlito"/>
              </a:defRPr>
            </a:lvl2pPr>
            <a:lvl3pPr algn="l">
              <a:defRPr sz="1400" b="0" i="0">
                <a:solidFill>
                  <a:srgbClr val="5F6F7F"/>
                </a:solidFill>
                <a:latin typeface="Carlito"/>
                <a:ea typeface="Carlito"/>
                <a:cs typeface="Carlito"/>
              </a:defRPr>
            </a:lvl3pPr>
            <a:lvl4pPr algn="l">
              <a:defRPr sz="1400" b="0" i="0">
                <a:solidFill>
                  <a:srgbClr val="5F6F7F"/>
                </a:solidFill>
                <a:latin typeface="Carlito"/>
                <a:ea typeface="Carlito"/>
                <a:cs typeface="Carlito"/>
              </a:defRPr>
            </a:lvl4pPr>
            <a:lvl5pPr algn="l">
              <a:defRPr sz="1400" b="0" i="0">
                <a:solidFill>
                  <a:srgbClr val="5F6F7F"/>
                </a:solidFill>
                <a:latin typeface="Carlito"/>
                <a:ea typeface="Carlito"/>
                <a:cs typeface="Carlito"/>
              </a:defRPr>
            </a:lvl5pPr>
            <a:lvl6pPr algn="l">
              <a:defRPr sz="1400" b="0" i="0">
                <a:solidFill>
                  <a:srgbClr val="5F6F7F"/>
                </a:solidFill>
                <a:latin typeface="Carlito"/>
                <a:ea typeface="Carlito"/>
                <a:cs typeface="Carlito"/>
              </a:defRPr>
            </a:lvl6pPr>
            <a:lvl7pPr algn="l">
              <a:defRPr sz="1400" b="0" i="0">
                <a:solidFill>
                  <a:srgbClr val="5F6F7F"/>
                </a:solidFill>
                <a:latin typeface="Carlito"/>
                <a:ea typeface="Carlito"/>
                <a:cs typeface="Carlito"/>
              </a:defRPr>
            </a:lvl7pPr>
            <a:lvl8pPr algn="l">
              <a:defRPr sz="1400" b="0" i="0">
                <a:solidFill>
                  <a:srgbClr val="5F6F7F"/>
                </a:solidFill>
                <a:latin typeface="Carlito"/>
                <a:ea typeface="Carlito"/>
                <a:cs typeface="Carlito"/>
              </a:defRPr>
            </a:lvl8pPr>
            <a:lvl9pPr algn="l">
              <a:defRPr sz="1400" b="0" i="0">
                <a:solidFill>
                  <a:srgbClr val="5F6F7F"/>
                </a:solidFill>
                <a:latin typeface="Carlito"/>
                <a:ea typeface="Carlito"/>
                <a:cs typeface="Carlito"/>
              </a:defRPr>
            </a:lvl9pPr>
          </a:lstStyle>
          <a:p>
            <a:pPr algn="l">
              <a:defRPr sz="1400" b="0" i="0">
                <a:solidFill>
                  <a:srgbClr val="5F6F7F"/>
                </a:solidFill>
                <a:latin typeface="Carlito"/>
                <a:ea typeface="Carlito"/>
                <a:cs typeface="Carlito"/>
              </a:defRPr>
            </a:pPr>
            <a:r>
              <a:rPr sz="1400" b="0" i="0">
                <a:solidFill>
                  <a:srgbClr val="5F6F7F"/>
                </a:solidFill>
                <a:latin typeface="Carlito"/>
                <a:ea typeface="Carlito"/>
                <a:cs typeface="Carlito"/>
              </a:rPr>
              <a:t>Equal four-edition periods show both established strengths and changing sources of success</a:t>
            </a:r>
          </a:p>
        </p:txBody>
      </p:sp>
      <p:sp>
        <p:nvSpPr>
          <p:cNvPr id="3" name="Rectangle 2">
            <a:extLst>
              <a:ext uri="{FF2B5EF4-FFF2-40B4-BE49-F238E27FC236}">
                <a16:creationId xmlns:a16="http://schemas.microsoft.com/office/drawing/2014/main" id="{CE23BE27-6D5F-4539-A1B6-4CBD0D77E501}"/>
              </a:ext>
            </a:extLst>
          </p:cNvPr>
          <p:cNvSpPr>
            <a:spLocks noGrp="1"/>
          </p:cNvSpPr>
          <p:nvPr/>
        </p:nvSpPr>
        <p:spPr>
          <a:xfrm>
            <a:off x="609600" y="1181100"/>
            <a:ext cx="10972800" cy="28575"/>
          </a:xfrm>
          <a:prstGeom prst="rect">
            <a:avLst/>
          </a:prstGeom>
          <a:solidFill>
            <a:srgbClr val="D4AF37"/>
          </a:solidFill>
          <a:ln w="0">
            <a:noFill/>
            <a:prstDash val="solid"/>
          </a:ln>
        </p:spPr>
        <p:txBody>
          <a:bodyPr/>
          <a:lstStyle/>
          <a:p>
            <a:endParaRPr lang="en-SG"/>
          </a:p>
        </p:txBody>
      </p:sp>
      <p:graphicFrame>
        <p:nvGraphicFramePr>
          <p:cNvPr id="4" name="Chart">
            <a:extLst>
              <a:ext uri="{FF2B5EF4-FFF2-40B4-BE49-F238E27FC236}">
                <a16:creationId xmlns:a16="http://schemas.microsoft.com/office/drawing/2014/main" id="{FF542A6A-E921-44EC-87F1-9CA0D22DA805}"/>
              </a:ext>
            </a:extLst>
          </p:cNvPr>
          <p:cNvGraphicFramePr/>
          <p:nvPr/>
        </p:nvGraphicFramePr>
        <p:xfrm>
          <a:off x="523875" y="1504950"/>
          <a:ext cx="5286375" cy="40481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a:extLst>
              <a:ext uri="{FF2B5EF4-FFF2-40B4-BE49-F238E27FC236}">
                <a16:creationId xmlns:a16="http://schemas.microsoft.com/office/drawing/2014/main" id="{52D350B7-081A-4BBE-B47D-E072E98F390B}"/>
              </a:ext>
            </a:extLst>
          </p:cNvPr>
          <p:cNvGraphicFramePr/>
          <p:nvPr/>
        </p:nvGraphicFramePr>
        <p:xfrm>
          <a:off x="6191250" y="1504950"/>
          <a:ext cx="5429250" cy="4048125"/>
        </p:xfrm>
        <a:graphic>
          <a:graphicData uri="http://schemas.openxmlformats.org/drawingml/2006/chart">
            <c:chart xmlns:c="http://schemas.openxmlformats.org/drawingml/2006/chart" xmlns:r="http://schemas.openxmlformats.org/officeDocument/2006/relationships" r:id="rId4"/>
          </a:graphicData>
        </a:graphic>
      </p:graphicFrame>
      <p:sp>
        <p:nvSpPr>
          <p:cNvPr id="6" name="Rectangle 5">
            <a:extLst>
              <a:ext uri="{FF2B5EF4-FFF2-40B4-BE49-F238E27FC236}">
                <a16:creationId xmlns:a16="http://schemas.microsoft.com/office/drawing/2014/main" id="{CADC4607-3660-4A9D-82B0-16863ACA64C1}"/>
              </a:ext>
            </a:extLst>
          </p:cNvPr>
          <p:cNvSpPr>
            <a:spLocks noGrp="1"/>
          </p:cNvSpPr>
          <p:nvPr/>
        </p:nvSpPr>
        <p:spPr>
          <a:xfrm>
            <a:off x="666750" y="5762625"/>
            <a:ext cx="5048250" cy="428625"/>
          </a:xfrm>
          <a:prstGeom prst="rect">
            <a:avLst/>
          </a:prstGeom>
          <a:noFill/>
          <a:ln w="0">
            <a:noFill/>
            <a:prstDash val="solid"/>
          </a:ln>
        </p:spPr>
        <p:txBody>
          <a:bodyPr wrap="square" lIns="0" tIns="0" rIns="0" bIns="0" anchor="t">
            <a:normAutofit/>
          </a:bodyPr>
          <a:lstStyle>
            <a:defPPr algn="l">
              <a:defRPr sz="1400" b="1" i="0">
                <a:solidFill>
                  <a:srgbClr val="071B33"/>
                </a:solidFill>
                <a:latin typeface="Carlito"/>
                <a:ea typeface="Carlito"/>
                <a:cs typeface="Carlito"/>
              </a:defRPr>
            </a:defPPr>
            <a:lvl1pPr algn="l">
              <a:defRPr sz="1400" b="1" i="0">
                <a:solidFill>
                  <a:srgbClr val="071B33"/>
                </a:solidFill>
                <a:latin typeface="Carlito"/>
                <a:ea typeface="Carlito"/>
                <a:cs typeface="Carlito"/>
              </a:defRPr>
            </a:lvl1pPr>
            <a:lvl2pPr algn="l">
              <a:defRPr sz="1400" b="1" i="0">
                <a:solidFill>
                  <a:srgbClr val="071B33"/>
                </a:solidFill>
                <a:latin typeface="Carlito"/>
                <a:ea typeface="Carlito"/>
                <a:cs typeface="Carlito"/>
              </a:defRPr>
            </a:lvl2pPr>
            <a:lvl3pPr algn="l">
              <a:defRPr sz="1400" b="1" i="0">
                <a:solidFill>
                  <a:srgbClr val="071B33"/>
                </a:solidFill>
                <a:latin typeface="Carlito"/>
                <a:ea typeface="Carlito"/>
                <a:cs typeface="Carlito"/>
              </a:defRPr>
            </a:lvl3pPr>
            <a:lvl4pPr algn="l">
              <a:defRPr sz="1400" b="1" i="0">
                <a:solidFill>
                  <a:srgbClr val="071B33"/>
                </a:solidFill>
                <a:latin typeface="Carlito"/>
                <a:ea typeface="Carlito"/>
                <a:cs typeface="Carlito"/>
              </a:defRPr>
            </a:lvl4pPr>
            <a:lvl5pPr algn="l">
              <a:defRPr sz="1400" b="1" i="0">
                <a:solidFill>
                  <a:srgbClr val="071B33"/>
                </a:solidFill>
                <a:latin typeface="Carlito"/>
                <a:ea typeface="Carlito"/>
                <a:cs typeface="Carlito"/>
              </a:defRPr>
            </a:lvl5pPr>
            <a:lvl6pPr algn="l">
              <a:defRPr sz="1400" b="1" i="0">
                <a:solidFill>
                  <a:srgbClr val="071B33"/>
                </a:solidFill>
                <a:latin typeface="Carlito"/>
                <a:ea typeface="Carlito"/>
                <a:cs typeface="Carlito"/>
              </a:defRPr>
            </a:lvl6pPr>
            <a:lvl7pPr algn="l">
              <a:defRPr sz="1400" b="1" i="0">
                <a:solidFill>
                  <a:srgbClr val="071B33"/>
                </a:solidFill>
                <a:latin typeface="Carlito"/>
                <a:ea typeface="Carlito"/>
                <a:cs typeface="Carlito"/>
              </a:defRPr>
            </a:lvl7pPr>
            <a:lvl8pPr algn="l">
              <a:defRPr sz="1400" b="1" i="0">
                <a:solidFill>
                  <a:srgbClr val="071B33"/>
                </a:solidFill>
                <a:latin typeface="Carlito"/>
                <a:ea typeface="Carlito"/>
                <a:cs typeface="Carlito"/>
              </a:defRPr>
            </a:lvl8pPr>
            <a:lvl9pPr algn="l">
              <a:defRPr sz="1400" b="1" i="0">
                <a:solidFill>
                  <a:srgbClr val="071B33"/>
                </a:solidFill>
                <a:latin typeface="Carlito"/>
                <a:ea typeface="Carlito"/>
                <a:cs typeface="Carlito"/>
              </a:defRPr>
            </a:lvl9pPr>
          </a:lstStyle>
          <a:p>
            <a:pPr algn="l">
              <a:defRPr sz="1400" b="1" i="0">
                <a:solidFill>
                  <a:srgbClr val="071B33"/>
                </a:solidFill>
                <a:latin typeface="Carlito"/>
                <a:ea typeface="Carlito"/>
                <a:cs typeface="Carlito"/>
              </a:defRPr>
            </a:pPr>
            <a:r>
              <a:rPr sz="1400" b="1" i="0">
                <a:solidFill>
                  <a:srgbClr val="071B33"/>
                </a:solidFill>
                <a:latin typeface="Carlito"/>
                <a:ea typeface="Carlito"/>
                <a:cs typeface="Carlito"/>
              </a:rPr>
              <a:t>Badminton, weightlifting and boxing contributed 70 of 90 medals, or 77.8%.</a:t>
            </a:r>
          </a:p>
        </p:txBody>
      </p:sp>
      <p:sp>
        <p:nvSpPr>
          <p:cNvPr id="7" name="Rectangle 6">
            <a:extLst>
              <a:ext uri="{FF2B5EF4-FFF2-40B4-BE49-F238E27FC236}">
                <a16:creationId xmlns:a16="http://schemas.microsoft.com/office/drawing/2014/main" id="{5FB8B86F-AAE0-4F0B-97EE-5FF9D3C29358}"/>
              </a:ext>
            </a:extLst>
          </p:cNvPr>
          <p:cNvSpPr>
            <a:spLocks noGrp="1"/>
          </p:cNvSpPr>
          <p:nvPr/>
        </p:nvSpPr>
        <p:spPr>
          <a:xfrm>
            <a:off x="6305550" y="5715000"/>
            <a:ext cx="5143500" cy="552450"/>
          </a:xfrm>
          <a:prstGeom prst="rect">
            <a:avLst/>
          </a:prstGeom>
          <a:noFill/>
          <a:ln w="0">
            <a:noFill/>
            <a:prstDash val="solid"/>
          </a:ln>
        </p:spPr>
        <p:txBody>
          <a:bodyPr wrap="square" lIns="0" tIns="0" rIns="0" bIns="0" anchor="t">
            <a:normAutofit fontScale="97937"/>
          </a:bodyPr>
          <a:lstStyle>
            <a:defPPr algn="l">
              <a:defRPr sz="1400" b="0" i="0">
                <a:solidFill>
                  <a:srgbClr val="152536"/>
                </a:solidFill>
                <a:latin typeface="Carlito"/>
                <a:ea typeface="Carlito"/>
                <a:cs typeface="Carlito"/>
              </a:defRPr>
            </a:defPPr>
            <a:lvl1pPr algn="l">
              <a:defRPr sz="1400" b="0" i="0">
                <a:solidFill>
                  <a:srgbClr val="152536"/>
                </a:solidFill>
                <a:latin typeface="Carlito"/>
                <a:ea typeface="Carlito"/>
                <a:cs typeface="Carlito"/>
              </a:defRPr>
            </a:lvl1pPr>
            <a:lvl2pPr algn="l">
              <a:defRPr sz="1400" b="0" i="0">
                <a:solidFill>
                  <a:srgbClr val="152536"/>
                </a:solidFill>
                <a:latin typeface="Carlito"/>
                <a:ea typeface="Carlito"/>
                <a:cs typeface="Carlito"/>
              </a:defRPr>
            </a:lvl2pPr>
            <a:lvl3pPr algn="l">
              <a:defRPr sz="1400" b="0" i="0">
                <a:solidFill>
                  <a:srgbClr val="152536"/>
                </a:solidFill>
                <a:latin typeface="Carlito"/>
                <a:ea typeface="Carlito"/>
                <a:cs typeface="Carlito"/>
              </a:defRPr>
            </a:lvl3pPr>
            <a:lvl4pPr algn="l">
              <a:defRPr sz="1400" b="0" i="0">
                <a:solidFill>
                  <a:srgbClr val="152536"/>
                </a:solidFill>
                <a:latin typeface="Carlito"/>
                <a:ea typeface="Carlito"/>
                <a:cs typeface="Carlito"/>
              </a:defRPr>
            </a:lvl4pPr>
            <a:lvl5pPr algn="l">
              <a:defRPr sz="1400" b="0" i="0">
                <a:solidFill>
                  <a:srgbClr val="152536"/>
                </a:solidFill>
                <a:latin typeface="Carlito"/>
                <a:ea typeface="Carlito"/>
                <a:cs typeface="Carlito"/>
              </a:defRPr>
            </a:lvl5pPr>
            <a:lvl6pPr algn="l">
              <a:defRPr sz="1400" b="0" i="0">
                <a:solidFill>
                  <a:srgbClr val="152536"/>
                </a:solidFill>
                <a:latin typeface="Carlito"/>
                <a:ea typeface="Carlito"/>
                <a:cs typeface="Carlito"/>
              </a:defRPr>
            </a:lvl6pPr>
            <a:lvl7pPr algn="l">
              <a:defRPr sz="1400" b="0" i="0">
                <a:solidFill>
                  <a:srgbClr val="152536"/>
                </a:solidFill>
                <a:latin typeface="Carlito"/>
                <a:ea typeface="Carlito"/>
                <a:cs typeface="Carlito"/>
              </a:defRPr>
            </a:lvl7pPr>
            <a:lvl8pPr algn="l">
              <a:defRPr sz="1400" b="0" i="0">
                <a:solidFill>
                  <a:srgbClr val="152536"/>
                </a:solidFill>
                <a:latin typeface="Carlito"/>
                <a:ea typeface="Carlito"/>
                <a:cs typeface="Carlito"/>
              </a:defRPr>
            </a:lvl8pPr>
            <a:lvl9pPr algn="l">
              <a:defRPr sz="1400" b="0" i="0">
                <a:solidFill>
                  <a:srgbClr val="152536"/>
                </a:solidFill>
                <a:latin typeface="Carlito"/>
                <a:ea typeface="Carlito"/>
                <a:cs typeface="Carlito"/>
              </a:defRPr>
            </a:lvl9pPr>
          </a:lstStyle>
          <a:p>
            <a:pPr algn="l">
              <a:defRPr sz="1400" b="0" i="0">
                <a:solidFill>
                  <a:srgbClr val="152536"/>
                </a:solidFill>
                <a:latin typeface="Carlito"/>
                <a:ea typeface="Carlito"/>
                <a:cs typeface="Carlito"/>
              </a:defRPr>
            </a:pPr>
            <a:r>
              <a:rPr sz="1400" b="0" i="0">
                <a:solidFill>
                  <a:srgbClr val="152536"/>
                </a:solidFill>
                <a:latin typeface="Carlito"/>
                <a:ea typeface="Carlito"/>
                <a:cs typeface="Carlito"/>
              </a:rPr>
              <a:t>Weightlifting rose from 4 to 19 medals. Badminton and boxing remained major contributors despite lower totals in the later period.</a:t>
            </a:r>
          </a:p>
        </p:txBody>
      </p:sp>
      <p:sp>
        <p:nvSpPr>
          <p:cNvPr id="8" name="Rectangle 7">
            <a:extLst>
              <a:ext uri="{FF2B5EF4-FFF2-40B4-BE49-F238E27FC236}">
                <a16:creationId xmlns:a16="http://schemas.microsoft.com/office/drawing/2014/main" id="{66088CD0-283E-4BCF-9C9C-31FE28558DC5}"/>
              </a:ext>
            </a:extLst>
          </p:cNvPr>
          <p:cNvSpPr>
            <a:spLocks noGrp="1"/>
          </p:cNvSpPr>
          <p:nvPr/>
        </p:nvSpPr>
        <p:spPr>
          <a:xfrm>
            <a:off x="609600" y="6515100"/>
            <a:ext cx="4953000" cy="171450"/>
          </a:xfrm>
          <a:prstGeom prst="rect">
            <a:avLst/>
          </a:prstGeom>
          <a:noFill/>
          <a:ln w="0">
            <a:noFill/>
            <a:prstDash val="solid"/>
          </a:ln>
        </p:spPr>
        <p:txBody>
          <a:bodyPr wrap="square" lIns="0" tIns="0" rIns="0" bIns="0" anchor="t">
            <a:normAutofit/>
          </a:bodyPr>
          <a:lstStyle>
            <a:defPPr algn="l">
              <a:defRPr sz="900" b="0" i="0">
                <a:solidFill>
                  <a:srgbClr val="5F6F7F"/>
                </a:solidFill>
                <a:latin typeface="Carlito"/>
                <a:ea typeface="Carlito"/>
                <a:cs typeface="Carlito"/>
              </a:defRPr>
            </a:defPPr>
            <a:lvl1pPr algn="l">
              <a:defRPr sz="900" b="0" i="0">
                <a:solidFill>
                  <a:srgbClr val="5F6F7F"/>
                </a:solidFill>
                <a:latin typeface="Carlito"/>
                <a:ea typeface="Carlito"/>
                <a:cs typeface="Carlito"/>
              </a:defRPr>
            </a:lvl1pPr>
            <a:lvl2pPr algn="l">
              <a:defRPr sz="900" b="0" i="0">
                <a:solidFill>
                  <a:srgbClr val="5F6F7F"/>
                </a:solidFill>
                <a:latin typeface="Carlito"/>
                <a:ea typeface="Carlito"/>
                <a:cs typeface="Carlito"/>
              </a:defRPr>
            </a:lvl2pPr>
            <a:lvl3pPr algn="l">
              <a:defRPr sz="900" b="0" i="0">
                <a:solidFill>
                  <a:srgbClr val="5F6F7F"/>
                </a:solidFill>
                <a:latin typeface="Carlito"/>
                <a:ea typeface="Carlito"/>
                <a:cs typeface="Carlito"/>
              </a:defRPr>
            </a:lvl3pPr>
            <a:lvl4pPr algn="l">
              <a:defRPr sz="900" b="0" i="0">
                <a:solidFill>
                  <a:srgbClr val="5F6F7F"/>
                </a:solidFill>
                <a:latin typeface="Carlito"/>
                <a:ea typeface="Carlito"/>
                <a:cs typeface="Carlito"/>
              </a:defRPr>
            </a:lvl4pPr>
            <a:lvl5pPr algn="l">
              <a:defRPr sz="900" b="0" i="0">
                <a:solidFill>
                  <a:srgbClr val="5F6F7F"/>
                </a:solidFill>
                <a:latin typeface="Carlito"/>
                <a:ea typeface="Carlito"/>
                <a:cs typeface="Carlito"/>
              </a:defRPr>
            </a:lvl5pPr>
            <a:lvl6pPr algn="l">
              <a:defRPr sz="900" b="0" i="0">
                <a:solidFill>
                  <a:srgbClr val="5F6F7F"/>
                </a:solidFill>
                <a:latin typeface="Carlito"/>
                <a:ea typeface="Carlito"/>
                <a:cs typeface="Carlito"/>
              </a:defRPr>
            </a:lvl6pPr>
            <a:lvl7pPr algn="l">
              <a:defRPr sz="900" b="0" i="0">
                <a:solidFill>
                  <a:srgbClr val="5F6F7F"/>
                </a:solidFill>
                <a:latin typeface="Carlito"/>
                <a:ea typeface="Carlito"/>
                <a:cs typeface="Carlito"/>
              </a:defRPr>
            </a:lvl7pPr>
            <a:lvl8pPr algn="l">
              <a:defRPr sz="900" b="0" i="0">
                <a:solidFill>
                  <a:srgbClr val="5F6F7F"/>
                </a:solidFill>
                <a:latin typeface="Carlito"/>
                <a:ea typeface="Carlito"/>
                <a:cs typeface="Carlito"/>
              </a:defRPr>
            </a:lvl8pPr>
            <a:lvl9pPr algn="l">
              <a:defRPr sz="900" b="0" i="0">
                <a:solidFill>
                  <a:srgbClr val="5F6F7F"/>
                </a:solidFill>
                <a:latin typeface="Carlito"/>
                <a:ea typeface="Carlito"/>
                <a:cs typeface="Carlito"/>
              </a:defRPr>
            </a:lvl9pPr>
          </a:lstStyle>
          <a:p>
            <a:pPr algn="l">
              <a:defRPr sz="900" b="0" i="0">
                <a:solidFill>
                  <a:srgbClr val="5F6F7F"/>
                </a:solidFill>
                <a:latin typeface="Carlito"/>
                <a:ea typeface="Carlito"/>
                <a:cs typeface="Carlito"/>
              </a:defRPr>
            </a:pPr>
            <a:r>
              <a:rPr sz="900" b="0" i="0">
                <a:solidFill>
                  <a:srgbClr val="5F6F7F"/>
                </a:solidFill>
                <a:latin typeface="Carlito"/>
                <a:ea typeface="Carlito"/>
                <a:cs typeface="Carlito"/>
              </a:rPr>
              <a:t>ASEAN Olympic Performance Intelligence System</a:t>
            </a:r>
          </a:p>
        </p:txBody>
      </p:sp>
      <p:sp>
        <p:nvSpPr>
          <p:cNvPr id="9" name="Rectangle 8">
            <a:extLst>
              <a:ext uri="{FF2B5EF4-FFF2-40B4-BE49-F238E27FC236}">
                <a16:creationId xmlns:a16="http://schemas.microsoft.com/office/drawing/2014/main" id="{D119F7BD-1384-444E-945A-F5B1DA6803BE}"/>
              </a:ext>
            </a:extLst>
          </p:cNvPr>
          <p:cNvSpPr>
            <a:spLocks noGrp="1"/>
          </p:cNvSpPr>
          <p:nvPr/>
        </p:nvSpPr>
        <p:spPr>
          <a:xfrm>
            <a:off x="11049000" y="6486525"/>
            <a:ext cx="533400" cy="190500"/>
          </a:xfrm>
          <a:prstGeom prst="rect">
            <a:avLst/>
          </a:prstGeom>
          <a:noFill/>
          <a:ln w="0">
            <a:noFill/>
            <a:prstDash val="solid"/>
          </a:ln>
        </p:spPr>
        <p:txBody>
          <a:bodyPr wrap="square" lIns="0" tIns="0" rIns="0" bIns="0" anchor="t">
            <a:normAutofit/>
          </a:bodyPr>
          <a:lstStyle>
            <a:defPPr algn="r">
              <a:defRPr sz="1000" b="1" i="0">
                <a:solidFill>
                  <a:srgbClr val="071B33"/>
                </a:solidFill>
                <a:latin typeface="Carlito"/>
                <a:ea typeface="Carlito"/>
                <a:cs typeface="Carlito"/>
              </a:defRPr>
            </a:defPPr>
            <a:lvl1pPr algn="r">
              <a:defRPr sz="1000" b="1" i="0">
                <a:solidFill>
                  <a:srgbClr val="071B33"/>
                </a:solidFill>
                <a:latin typeface="Carlito"/>
                <a:ea typeface="Carlito"/>
                <a:cs typeface="Carlito"/>
              </a:defRPr>
            </a:lvl1pPr>
            <a:lvl2pPr algn="r">
              <a:defRPr sz="1000" b="1" i="0">
                <a:solidFill>
                  <a:srgbClr val="071B33"/>
                </a:solidFill>
                <a:latin typeface="Carlito"/>
                <a:ea typeface="Carlito"/>
                <a:cs typeface="Carlito"/>
              </a:defRPr>
            </a:lvl2pPr>
            <a:lvl3pPr algn="r">
              <a:defRPr sz="1000" b="1" i="0">
                <a:solidFill>
                  <a:srgbClr val="071B33"/>
                </a:solidFill>
                <a:latin typeface="Carlito"/>
                <a:ea typeface="Carlito"/>
                <a:cs typeface="Carlito"/>
              </a:defRPr>
            </a:lvl3pPr>
            <a:lvl4pPr algn="r">
              <a:defRPr sz="1000" b="1" i="0">
                <a:solidFill>
                  <a:srgbClr val="071B33"/>
                </a:solidFill>
                <a:latin typeface="Carlito"/>
                <a:ea typeface="Carlito"/>
                <a:cs typeface="Carlito"/>
              </a:defRPr>
            </a:lvl4pPr>
            <a:lvl5pPr algn="r">
              <a:defRPr sz="1000" b="1" i="0">
                <a:solidFill>
                  <a:srgbClr val="071B33"/>
                </a:solidFill>
                <a:latin typeface="Carlito"/>
                <a:ea typeface="Carlito"/>
                <a:cs typeface="Carlito"/>
              </a:defRPr>
            </a:lvl5pPr>
            <a:lvl6pPr algn="r">
              <a:defRPr sz="1000" b="1" i="0">
                <a:solidFill>
                  <a:srgbClr val="071B33"/>
                </a:solidFill>
                <a:latin typeface="Carlito"/>
                <a:ea typeface="Carlito"/>
                <a:cs typeface="Carlito"/>
              </a:defRPr>
            </a:lvl6pPr>
            <a:lvl7pPr algn="r">
              <a:defRPr sz="1000" b="1" i="0">
                <a:solidFill>
                  <a:srgbClr val="071B33"/>
                </a:solidFill>
                <a:latin typeface="Carlito"/>
                <a:ea typeface="Carlito"/>
                <a:cs typeface="Carlito"/>
              </a:defRPr>
            </a:lvl7pPr>
            <a:lvl8pPr algn="r">
              <a:defRPr sz="1000" b="1" i="0">
                <a:solidFill>
                  <a:srgbClr val="071B33"/>
                </a:solidFill>
                <a:latin typeface="Carlito"/>
                <a:ea typeface="Carlito"/>
                <a:cs typeface="Carlito"/>
              </a:defRPr>
            </a:lvl8pPr>
            <a:lvl9pPr algn="r">
              <a:defRPr sz="1000" b="1" i="0">
                <a:solidFill>
                  <a:srgbClr val="071B33"/>
                </a:solidFill>
                <a:latin typeface="Carlito"/>
                <a:ea typeface="Carlito"/>
                <a:cs typeface="Carlito"/>
              </a:defRPr>
            </a:lvl9pPr>
          </a:lstStyle>
          <a:p>
            <a:pPr algn="r">
              <a:defRPr sz="1000" b="1" i="0">
                <a:solidFill>
                  <a:srgbClr val="071B33"/>
                </a:solidFill>
                <a:latin typeface="Carlito"/>
                <a:ea typeface="Carlito"/>
                <a:cs typeface="Carlito"/>
              </a:defRPr>
            </a:pPr>
            <a:r>
              <a:rPr sz="1000" b="1" i="0">
                <a:solidFill>
                  <a:srgbClr val="071B33"/>
                </a:solidFill>
                <a:latin typeface="Carlito"/>
                <a:ea typeface="Carlito"/>
                <a:cs typeface="Carlito"/>
              </a:rPr>
              <a:t>07</a:t>
            </a:r>
          </a:p>
        </p:txBody>
      </p:sp>
    </p:spTree>
    <p:extLst>
      <p:ext uri="{BB962C8B-B14F-4D97-AF65-F5344CB8AC3E}">
        <p14:creationId xmlns:p14="http://schemas.microsoft.com/office/powerpoint/2010/main" val="680472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F3EF080-8A0F-4AAD-9F1E-0248B30806B5}"/>
              </a:ext>
            </a:extLst>
          </p:cNvPr>
          <p:cNvSpPr>
            <a:spLocks noGrp="1"/>
          </p:cNvSpPr>
          <p:nvPr/>
        </p:nvSpPr>
        <p:spPr>
          <a:xfrm>
            <a:off x="609600" y="361950"/>
            <a:ext cx="10477500" cy="457200"/>
          </a:xfrm>
          <a:prstGeom prst="rect">
            <a:avLst/>
          </a:prstGeom>
          <a:noFill/>
          <a:ln w="0">
            <a:noFill/>
            <a:prstDash val="solid"/>
          </a:ln>
        </p:spPr>
        <p:txBody>
          <a:bodyPr wrap="square" lIns="0" tIns="0" rIns="0" bIns="0" anchor="t">
            <a:normAutofit/>
          </a:bodyPr>
          <a:lstStyle>
            <a:defPPr algn="l">
              <a:defRPr sz="2800" b="1" i="0">
                <a:solidFill>
                  <a:srgbClr val="071B33"/>
                </a:solidFill>
                <a:latin typeface="Carlito"/>
                <a:ea typeface="Carlito"/>
                <a:cs typeface="Carlito"/>
              </a:defRPr>
            </a:defPPr>
            <a:lvl1pPr algn="l">
              <a:defRPr sz="2800" b="1" i="0">
                <a:solidFill>
                  <a:srgbClr val="071B33"/>
                </a:solidFill>
                <a:latin typeface="Carlito"/>
                <a:ea typeface="Carlito"/>
                <a:cs typeface="Carlito"/>
              </a:defRPr>
            </a:lvl1pPr>
            <a:lvl2pPr algn="l">
              <a:defRPr sz="2800" b="1" i="0">
                <a:solidFill>
                  <a:srgbClr val="071B33"/>
                </a:solidFill>
                <a:latin typeface="Carlito"/>
                <a:ea typeface="Carlito"/>
                <a:cs typeface="Carlito"/>
              </a:defRPr>
            </a:lvl2pPr>
            <a:lvl3pPr algn="l">
              <a:defRPr sz="2800" b="1" i="0">
                <a:solidFill>
                  <a:srgbClr val="071B33"/>
                </a:solidFill>
                <a:latin typeface="Carlito"/>
                <a:ea typeface="Carlito"/>
                <a:cs typeface="Carlito"/>
              </a:defRPr>
            </a:lvl3pPr>
            <a:lvl4pPr algn="l">
              <a:defRPr sz="2800" b="1" i="0">
                <a:solidFill>
                  <a:srgbClr val="071B33"/>
                </a:solidFill>
                <a:latin typeface="Carlito"/>
                <a:ea typeface="Carlito"/>
                <a:cs typeface="Carlito"/>
              </a:defRPr>
            </a:lvl4pPr>
            <a:lvl5pPr algn="l">
              <a:defRPr sz="2800" b="1" i="0">
                <a:solidFill>
                  <a:srgbClr val="071B33"/>
                </a:solidFill>
                <a:latin typeface="Carlito"/>
                <a:ea typeface="Carlito"/>
                <a:cs typeface="Carlito"/>
              </a:defRPr>
            </a:lvl5pPr>
            <a:lvl6pPr algn="l">
              <a:defRPr sz="2800" b="1" i="0">
                <a:solidFill>
                  <a:srgbClr val="071B33"/>
                </a:solidFill>
                <a:latin typeface="Carlito"/>
                <a:ea typeface="Carlito"/>
                <a:cs typeface="Carlito"/>
              </a:defRPr>
            </a:lvl6pPr>
            <a:lvl7pPr algn="l">
              <a:defRPr sz="2800" b="1" i="0">
                <a:solidFill>
                  <a:srgbClr val="071B33"/>
                </a:solidFill>
                <a:latin typeface="Carlito"/>
                <a:ea typeface="Carlito"/>
                <a:cs typeface="Carlito"/>
              </a:defRPr>
            </a:lvl7pPr>
            <a:lvl8pPr algn="l">
              <a:defRPr sz="2800" b="1" i="0">
                <a:solidFill>
                  <a:srgbClr val="071B33"/>
                </a:solidFill>
                <a:latin typeface="Carlito"/>
                <a:ea typeface="Carlito"/>
                <a:cs typeface="Carlito"/>
              </a:defRPr>
            </a:lvl8pPr>
            <a:lvl9pPr algn="l">
              <a:defRPr sz="2800" b="1" i="0">
                <a:solidFill>
                  <a:srgbClr val="071B33"/>
                </a:solidFill>
                <a:latin typeface="Carlito"/>
                <a:ea typeface="Carlito"/>
                <a:cs typeface="Carlito"/>
              </a:defRPr>
            </a:lvl9pPr>
          </a:lstStyle>
          <a:p>
            <a:pPr algn="l">
              <a:defRPr sz="2800" b="1" i="0">
                <a:solidFill>
                  <a:srgbClr val="071B33"/>
                </a:solidFill>
                <a:latin typeface="Carlito"/>
                <a:ea typeface="Carlito"/>
                <a:cs typeface="Carlito"/>
              </a:defRPr>
            </a:pPr>
            <a:r>
              <a:rPr sz="2800" b="1" i="0">
                <a:solidFill>
                  <a:srgbClr val="071B33"/>
                </a:solidFill>
                <a:latin typeface="Carlito"/>
                <a:ea typeface="Carlito"/>
                <a:cs typeface="Carlito"/>
              </a:rPr>
              <a:t>Age alone does not distinguish medal success</a:t>
            </a:r>
          </a:p>
        </p:txBody>
      </p:sp>
      <p:sp>
        <p:nvSpPr>
          <p:cNvPr id="2" name="Rectangle 1">
            <a:extLst>
              <a:ext uri="{FF2B5EF4-FFF2-40B4-BE49-F238E27FC236}">
                <a16:creationId xmlns:a16="http://schemas.microsoft.com/office/drawing/2014/main" id="{4593141B-CCAC-4A91-8180-6D2E2FEC8075}"/>
              </a:ext>
            </a:extLst>
          </p:cNvPr>
          <p:cNvSpPr>
            <a:spLocks noGrp="1"/>
          </p:cNvSpPr>
          <p:nvPr/>
        </p:nvSpPr>
        <p:spPr>
          <a:xfrm>
            <a:off x="609600" y="828675"/>
            <a:ext cx="10668000" cy="285750"/>
          </a:xfrm>
          <a:prstGeom prst="rect">
            <a:avLst/>
          </a:prstGeom>
          <a:noFill/>
          <a:ln w="0">
            <a:noFill/>
            <a:prstDash val="solid"/>
          </a:ln>
        </p:spPr>
        <p:txBody>
          <a:bodyPr wrap="square" lIns="0" tIns="0" rIns="0" bIns="0" anchor="t">
            <a:normAutofit/>
          </a:bodyPr>
          <a:lstStyle>
            <a:defPPr algn="l">
              <a:defRPr sz="1400" b="0" i="0">
                <a:solidFill>
                  <a:srgbClr val="5F6F7F"/>
                </a:solidFill>
                <a:latin typeface="Carlito"/>
                <a:ea typeface="Carlito"/>
                <a:cs typeface="Carlito"/>
              </a:defRPr>
            </a:defPPr>
            <a:lvl1pPr algn="l">
              <a:defRPr sz="1400" b="0" i="0">
                <a:solidFill>
                  <a:srgbClr val="5F6F7F"/>
                </a:solidFill>
                <a:latin typeface="Carlito"/>
                <a:ea typeface="Carlito"/>
                <a:cs typeface="Carlito"/>
              </a:defRPr>
            </a:lvl1pPr>
            <a:lvl2pPr algn="l">
              <a:defRPr sz="1400" b="0" i="0">
                <a:solidFill>
                  <a:srgbClr val="5F6F7F"/>
                </a:solidFill>
                <a:latin typeface="Carlito"/>
                <a:ea typeface="Carlito"/>
                <a:cs typeface="Carlito"/>
              </a:defRPr>
            </a:lvl2pPr>
            <a:lvl3pPr algn="l">
              <a:defRPr sz="1400" b="0" i="0">
                <a:solidFill>
                  <a:srgbClr val="5F6F7F"/>
                </a:solidFill>
                <a:latin typeface="Carlito"/>
                <a:ea typeface="Carlito"/>
                <a:cs typeface="Carlito"/>
              </a:defRPr>
            </a:lvl3pPr>
            <a:lvl4pPr algn="l">
              <a:defRPr sz="1400" b="0" i="0">
                <a:solidFill>
                  <a:srgbClr val="5F6F7F"/>
                </a:solidFill>
                <a:latin typeface="Carlito"/>
                <a:ea typeface="Carlito"/>
                <a:cs typeface="Carlito"/>
              </a:defRPr>
            </a:lvl4pPr>
            <a:lvl5pPr algn="l">
              <a:defRPr sz="1400" b="0" i="0">
                <a:solidFill>
                  <a:srgbClr val="5F6F7F"/>
                </a:solidFill>
                <a:latin typeface="Carlito"/>
                <a:ea typeface="Carlito"/>
                <a:cs typeface="Carlito"/>
              </a:defRPr>
            </a:lvl5pPr>
            <a:lvl6pPr algn="l">
              <a:defRPr sz="1400" b="0" i="0">
                <a:solidFill>
                  <a:srgbClr val="5F6F7F"/>
                </a:solidFill>
                <a:latin typeface="Carlito"/>
                <a:ea typeface="Carlito"/>
                <a:cs typeface="Carlito"/>
              </a:defRPr>
            </a:lvl6pPr>
            <a:lvl7pPr algn="l">
              <a:defRPr sz="1400" b="0" i="0">
                <a:solidFill>
                  <a:srgbClr val="5F6F7F"/>
                </a:solidFill>
                <a:latin typeface="Carlito"/>
                <a:ea typeface="Carlito"/>
                <a:cs typeface="Carlito"/>
              </a:defRPr>
            </a:lvl7pPr>
            <a:lvl8pPr algn="l">
              <a:defRPr sz="1400" b="0" i="0">
                <a:solidFill>
                  <a:srgbClr val="5F6F7F"/>
                </a:solidFill>
                <a:latin typeface="Carlito"/>
                <a:ea typeface="Carlito"/>
                <a:cs typeface="Carlito"/>
              </a:defRPr>
            </a:lvl8pPr>
            <a:lvl9pPr algn="l">
              <a:defRPr sz="1400" b="0" i="0">
                <a:solidFill>
                  <a:srgbClr val="5F6F7F"/>
                </a:solidFill>
                <a:latin typeface="Carlito"/>
                <a:ea typeface="Carlito"/>
                <a:cs typeface="Carlito"/>
              </a:defRPr>
            </a:lvl9pPr>
          </a:lstStyle>
          <a:p>
            <a:pPr algn="l">
              <a:defRPr sz="1400" b="0" i="0">
                <a:solidFill>
                  <a:srgbClr val="5F6F7F"/>
                </a:solidFill>
                <a:latin typeface="Carlito"/>
                <a:ea typeface="Carlito"/>
                <a:cs typeface="Carlito"/>
              </a:defRPr>
            </a:pPr>
            <a:r>
              <a:rPr sz="1400" b="0" i="0">
                <a:solidFill>
                  <a:srgbClr val="5F6F7F"/>
                </a:solidFill>
                <a:latin typeface="Carlito"/>
                <a:ea typeface="Carlito"/>
                <a:cs typeface="Carlito"/>
              </a:rPr>
              <a:t>Medal yield offers a separate benchmark for identifying where deeper sport-level analysis may add value</a:t>
            </a:r>
          </a:p>
        </p:txBody>
      </p:sp>
      <p:sp>
        <p:nvSpPr>
          <p:cNvPr id="3" name="Rectangle 2">
            <a:extLst>
              <a:ext uri="{FF2B5EF4-FFF2-40B4-BE49-F238E27FC236}">
                <a16:creationId xmlns:a16="http://schemas.microsoft.com/office/drawing/2014/main" id="{EE6F6A29-DAF7-4EB8-9C3A-7F264DCA0B56}"/>
              </a:ext>
            </a:extLst>
          </p:cNvPr>
          <p:cNvSpPr>
            <a:spLocks noGrp="1"/>
          </p:cNvSpPr>
          <p:nvPr/>
        </p:nvSpPr>
        <p:spPr>
          <a:xfrm>
            <a:off x="609600" y="1181100"/>
            <a:ext cx="10972800" cy="28575"/>
          </a:xfrm>
          <a:prstGeom prst="rect">
            <a:avLst/>
          </a:prstGeom>
          <a:solidFill>
            <a:srgbClr val="D4AF37"/>
          </a:solidFill>
          <a:ln w="0">
            <a:noFill/>
            <a:prstDash val="solid"/>
          </a:ln>
        </p:spPr>
        <p:txBody>
          <a:bodyPr/>
          <a:lstStyle/>
          <a:p>
            <a:endParaRPr lang="en-SG"/>
          </a:p>
        </p:txBody>
      </p:sp>
      <p:pic>
        <p:nvPicPr>
          <p:cNvPr id="4" name="Picture 3">
            <a:extLst>
              <a:ext uri="{FF2B5EF4-FFF2-40B4-BE49-F238E27FC236}">
                <a16:creationId xmlns:a16="http://schemas.microsoft.com/office/drawing/2014/main" id="{637AFC34-7361-47D1-A578-EBAB0568C353}"/>
              </a:ext>
            </a:extLst>
          </p:cNvPr>
          <p:cNvPicPr>
            <a:picLocks noChangeAspect="1"/>
          </p:cNvPicPr>
          <p:nvPr/>
        </p:nvPicPr>
        <p:blipFill>
          <a:blip r:embed="rId3"/>
          <a:stretch/>
        </p:blipFill>
        <p:spPr>
          <a:xfrm>
            <a:off x="486666" y="1476375"/>
            <a:ext cx="6646669" cy="4095750"/>
          </a:xfrm>
          <a:prstGeom prst="rect">
            <a:avLst/>
          </a:prstGeom>
        </p:spPr>
      </p:pic>
      <p:sp>
        <p:nvSpPr>
          <p:cNvPr id="5" name="Rectangle 4">
            <a:extLst>
              <a:ext uri="{FF2B5EF4-FFF2-40B4-BE49-F238E27FC236}">
                <a16:creationId xmlns:a16="http://schemas.microsoft.com/office/drawing/2014/main" id="{57F20F78-B93A-41D8-BF27-295805CA230A}"/>
              </a:ext>
            </a:extLst>
          </p:cNvPr>
          <p:cNvSpPr>
            <a:spLocks noGrp="1"/>
          </p:cNvSpPr>
          <p:nvPr/>
        </p:nvSpPr>
        <p:spPr>
          <a:xfrm>
            <a:off x="809625" y="5676900"/>
            <a:ext cx="1238250" cy="228600"/>
          </a:xfrm>
          <a:prstGeom prst="rect">
            <a:avLst/>
          </a:prstGeom>
          <a:noFill/>
          <a:ln w="0">
            <a:noFill/>
            <a:prstDash val="solid"/>
          </a:ln>
        </p:spPr>
        <p:txBody>
          <a:bodyPr wrap="square" lIns="0" tIns="0" rIns="0" bIns="0" anchor="t">
            <a:normAutofit/>
          </a:bodyPr>
          <a:lstStyle>
            <a:defPPr algn="l">
              <a:defRPr sz="1300" b="1" i="0">
                <a:solidFill>
                  <a:srgbClr val="071B33"/>
                </a:solidFill>
                <a:latin typeface="Carlito"/>
                <a:ea typeface="Carlito"/>
                <a:cs typeface="Carlito"/>
              </a:defRPr>
            </a:defPPr>
            <a:lvl1pPr algn="l">
              <a:defRPr sz="1300" b="1" i="0">
                <a:solidFill>
                  <a:srgbClr val="071B33"/>
                </a:solidFill>
                <a:latin typeface="Carlito"/>
                <a:ea typeface="Carlito"/>
                <a:cs typeface="Carlito"/>
              </a:defRPr>
            </a:lvl1pPr>
            <a:lvl2pPr algn="l">
              <a:defRPr sz="1300" b="1" i="0">
                <a:solidFill>
                  <a:srgbClr val="071B33"/>
                </a:solidFill>
                <a:latin typeface="Carlito"/>
                <a:ea typeface="Carlito"/>
                <a:cs typeface="Carlito"/>
              </a:defRPr>
            </a:lvl2pPr>
            <a:lvl3pPr algn="l">
              <a:defRPr sz="1300" b="1" i="0">
                <a:solidFill>
                  <a:srgbClr val="071B33"/>
                </a:solidFill>
                <a:latin typeface="Carlito"/>
                <a:ea typeface="Carlito"/>
                <a:cs typeface="Carlito"/>
              </a:defRPr>
            </a:lvl3pPr>
            <a:lvl4pPr algn="l">
              <a:defRPr sz="1300" b="1" i="0">
                <a:solidFill>
                  <a:srgbClr val="071B33"/>
                </a:solidFill>
                <a:latin typeface="Carlito"/>
                <a:ea typeface="Carlito"/>
                <a:cs typeface="Carlito"/>
              </a:defRPr>
            </a:lvl4pPr>
            <a:lvl5pPr algn="l">
              <a:defRPr sz="1300" b="1" i="0">
                <a:solidFill>
                  <a:srgbClr val="071B33"/>
                </a:solidFill>
                <a:latin typeface="Carlito"/>
                <a:ea typeface="Carlito"/>
                <a:cs typeface="Carlito"/>
              </a:defRPr>
            </a:lvl5pPr>
            <a:lvl6pPr algn="l">
              <a:defRPr sz="1300" b="1" i="0">
                <a:solidFill>
                  <a:srgbClr val="071B33"/>
                </a:solidFill>
                <a:latin typeface="Carlito"/>
                <a:ea typeface="Carlito"/>
                <a:cs typeface="Carlito"/>
              </a:defRPr>
            </a:lvl6pPr>
            <a:lvl7pPr algn="l">
              <a:defRPr sz="1300" b="1" i="0">
                <a:solidFill>
                  <a:srgbClr val="071B33"/>
                </a:solidFill>
                <a:latin typeface="Carlito"/>
                <a:ea typeface="Carlito"/>
                <a:cs typeface="Carlito"/>
              </a:defRPr>
            </a:lvl7pPr>
            <a:lvl8pPr algn="l">
              <a:defRPr sz="1300" b="1" i="0">
                <a:solidFill>
                  <a:srgbClr val="071B33"/>
                </a:solidFill>
                <a:latin typeface="Carlito"/>
                <a:ea typeface="Carlito"/>
                <a:cs typeface="Carlito"/>
              </a:defRPr>
            </a:lvl8pPr>
            <a:lvl9pPr algn="l">
              <a:defRPr sz="1300" b="1" i="0">
                <a:solidFill>
                  <a:srgbClr val="071B33"/>
                </a:solidFill>
                <a:latin typeface="Carlito"/>
                <a:ea typeface="Carlito"/>
                <a:cs typeface="Carlito"/>
              </a:defRPr>
            </a:lvl9pPr>
          </a:lstStyle>
          <a:p>
            <a:pPr algn="l">
              <a:defRPr sz="1300" b="1" i="0">
                <a:solidFill>
                  <a:srgbClr val="071B33"/>
                </a:solidFill>
                <a:latin typeface="Carlito"/>
                <a:ea typeface="Carlito"/>
                <a:cs typeface="Carlito"/>
              </a:defRPr>
            </a:pPr>
            <a:r>
              <a:rPr sz="1300" b="1" i="0">
                <a:solidFill>
                  <a:srgbClr val="071B33"/>
                </a:solidFill>
                <a:latin typeface="Carlito"/>
                <a:ea typeface="Carlito"/>
                <a:cs typeface="Carlito"/>
              </a:rPr>
              <a:t>Median age</a:t>
            </a:r>
          </a:p>
        </p:txBody>
      </p:sp>
      <p:sp>
        <p:nvSpPr>
          <p:cNvPr id="6" name="Rectangle 5">
            <a:extLst>
              <a:ext uri="{FF2B5EF4-FFF2-40B4-BE49-F238E27FC236}">
                <a16:creationId xmlns:a16="http://schemas.microsoft.com/office/drawing/2014/main" id="{D488D96A-4CD9-49A0-8DAF-10A998F7F01D}"/>
              </a:ext>
            </a:extLst>
          </p:cNvPr>
          <p:cNvSpPr>
            <a:spLocks noGrp="1"/>
          </p:cNvSpPr>
          <p:nvPr/>
        </p:nvSpPr>
        <p:spPr>
          <a:xfrm>
            <a:off x="1809750" y="5657850"/>
            <a:ext cx="5048250" cy="266700"/>
          </a:xfrm>
          <a:prstGeom prst="rect">
            <a:avLst/>
          </a:prstGeom>
          <a:noFill/>
          <a:ln w="0">
            <a:noFill/>
            <a:prstDash val="solid"/>
          </a:ln>
        </p:spPr>
        <p:txBody>
          <a:bodyPr wrap="square" lIns="0" tIns="0" rIns="0" bIns="0" anchor="t">
            <a:normAutofit/>
          </a:bodyPr>
          <a:lstStyle>
            <a:defPPr algn="l">
              <a:defRPr sz="1300" b="0" i="0">
                <a:solidFill>
                  <a:srgbClr val="152536"/>
                </a:solidFill>
                <a:latin typeface="Carlito"/>
                <a:ea typeface="Carlito"/>
                <a:cs typeface="Carlito"/>
              </a:defRPr>
            </a:defPPr>
            <a:lvl1pPr algn="l">
              <a:defRPr sz="1300" b="0" i="0">
                <a:solidFill>
                  <a:srgbClr val="152536"/>
                </a:solidFill>
                <a:latin typeface="Carlito"/>
                <a:ea typeface="Carlito"/>
                <a:cs typeface="Carlito"/>
              </a:defRPr>
            </a:lvl1pPr>
            <a:lvl2pPr algn="l">
              <a:defRPr sz="1300" b="0" i="0">
                <a:solidFill>
                  <a:srgbClr val="152536"/>
                </a:solidFill>
                <a:latin typeface="Carlito"/>
                <a:ea typeface="Carlito"/>
                <a:cs typeface="Carlito"/>
              </a:defRPr>
            </a:lvl2pPr>
            <a:lvl3pPr algn="l">
              <a:defRPr sz="1300" b="0" i="0">
                <a:solidFill>
                  <a:srgbClr val="152536"/>
                </a:solidFill>
                <a:latin typeface="Carlito"/>
                <a:ea typeface="Carlito"/>
                <a:cs typeface="Carlito"/>
              </a:defRPr>
            </a:lvl3pPr>
            <a:lvl4pPr algn="l">
              <a:defRPr sz="1300" b="0" i="0">
                <a:solidFill>
                  <a:srgbClr val="152536"/>
                </a:solidFill>
                <a:latin typeface="Carlito"/>
                <a:ea typeface="Carlito"/>
                <a:cs typeface="Carlito"/>
              </a:defRPr>
            </a:lvl4pPr>
            <a:lvl5pPr algn="l">
              <a:defRPr sz="1300" b="0" i="0">
                <a:solidFill>
                  <a:srgbClr val="152536"/>
                </a:solidFill>
                <a:latin typeface="Carlito"/>
                <a:ea typeface="Carlito"/>
                <a:cs typeface="Carlito"/>
              </a:defRPr>
            </a:lvl5pPr>
            <a:lvl6pPr algn="l">
              <a:defRPr sz="1300" b="0" i="0">
                <a:solidFill>
                  <a:srgbClr val="152536"/>
                </a:solidFill>
                <a:latin typeface="Carlito"/>
                <a:ea typeface="Carlito"/>
                <a:cs typeface="Carlito"/>
              </a:defRPr>
            </a:lvl6pPr>
            <a:lvl7pPr algn="l">
              <a:defRPr sz="1300" b="0" i="0">
                <a:solidFill>
                  <a:srgbClr val="152536"/>
                </a:solidFill>
                <a:latin typeface="Carlito"/>
                <a:ea typeface="Carlito"/>
                <a:cs typeface="Carlito"/>
              </a:defRPr>
            </a:lvl7pPr>
            <a:lvl8pPr algn="l">
              <a:defRPr sz="1300" b="0" i="0">
                <a:solidFill>
                  <a:srgbClr val="152536"/>
                </a:solidFill>
                <a:latin typeface="Carlito"/>
                <a:ea typeface="Carlito"/>
                <a:cs typeface="Carlito"/>
              </a:defRPr>
            </a:lvl8pPr>
            <a:lvl9pPr algn="l">
              <a:defRPr sz="1300" b="0" i="0">
                <a:solidFill>
                  <a:srgbClr val="152536"/>
                </a:solidFill>
                <a:latin typeface="Carlito"/>
                <a:ea typeface="Carlito"/>
                <a:cs typeface="Carlito"/>
              </a:defRPr>
            </a:lvl9pPr>
          </a:lstStyle>
          <a:p>
            <a:pPr algn="l">
              <a:defRPr sz="1300" b="0" i="0">
                <a:solidFill>
                  <a:srgbClr val="152536"/>
                </a:solidFill>
                <a:latin typeface="Carlito"/>
                <a:ea typeface="Carlito"/>
                <a:cs typeface="Carlito"/>
              </a:defRPr>
            </a:pPr>
            <a:r>
              <a:rPr sz="1300" b="0" i="0">
                <a:solidFill>
                  <a:srgbClr val="152536"/>
                </a:solidFill>
                <a:latin typeface="Carlito"/>
                <a:ea typeface="Carlito"/>
                <a:cs typeface="Carlito"/>
              </a:rPr>
              <a:t>23.0 years without a medal   |   24.5 years with a medal</a:t>
            </a:r>
          </a:p>
        </p:txBody>
      </p:sp>
      <p:sp>
        <p:nvSpPr>
          <p:cNvPr id="7" name="Rectangle 6">
            <a:extLst>
              <a:ext uri="{FF2B5EF4-FFF2-40B4-BE49-F238E27FC236}">
                <a16:creationId xmlns:a16="http://schemas.microsoft.com/office/drawing/2014/main" id="{96B72DBF-CB24-41A1-A2CB-12F7C1725725}"/>
              </a:ext>
            </a:extLst>
          </p:cNvPr>
          <p:cNvSpPr>
            <a:spLocks noGrp="1"/>
          </p:cNvSpPr>
          <p:nvPr/>
        </p:nvSpPr>
        <p:spPr>
          <a:xfrm>
            <a:off x="809625" y="5981700"/>
            <a:ext cx="6191250" cy="361950"/>
          </a:xfrm>
          <a:prstGeom prst="rect">
            <a:avLst/>
          </a:prstGeom>
          <a:noFill/>
          <a:ln w="0">
            <a:noFill/>
            <a:prstDash val="solid"/>
          </a:ln>
        </p:spPr>
        <p:txBody>
          <a:bodyPr wrap="square" lIns="0" tIns="0" rIns="0" bIns="0" anchor="t">
            <a:normAutofit fontScale="98958" lnSpcReduction="10000"/>
          </a:bodyPr>
          <a:lstStyle>
            <a:defPPr algn="l">
              <a:defRPr sz="1200" b="0" i="1">
                <a:solidFill>
                  <a:srgbClr val="5F6F7F"/>
                </a:solidFill>
                <a:latin typeface="Carlito"/>
                <a:ea typeface="Carlito"/>
                <a:cs typeface="Carlito"/>
              </a:defRPr>
            </a:defPPr>
            <a:lvl1pPr algn="l">
              <a:defRPr sz="1200" b="0" i="1">
                <a:solidFill>
                  <a:srgbClr val="5F6F7F"/>
                </a:solidFill>
                <a:latin typeface="Carlito"/>
                <a:ea typeface="Carlito"/>
                <a:cs typeface="Carlito"/>
              </a:defRPr>
            </a:lvl1pPr>
            <a:lvl2pPr algn="l">
              <a:defRPr sz="1200" b="0" i="1">
                <a:solidFill>
                  <a:srgbClr val="5F6F7F"/>
                </a:solidFill>
                <a:latin typeface="Carlito"/>
                <a:ea typeface="Carlito"/>
                <a:cs typeface="Carlito"/>
              </a:defRPr>
            </a:lvl2pPr>
            <a:lvl3pPr algn="l">
              <a:defRPr sz="1200" b="0" i="1">
                <a:solidFill>
                  <a:srgbClr val="5F6F7F"/>
                </a:solidFill>
                <a:latin typeface="Carlito"/>
                <a:ea typeface="Carlito"/>
                <a:cs typeface="Carlito"/>
              </a:defRPr>
            </a:lvl3pPr>
            <a:lvl4pPr algn="l">
              <a:defRPr sz="1200" b="0" i="1">
                <a:solidFill>
                  <a:srgbClr val="5F6F7F"/>
                </a:solidFill>
                <a:latin typeface="Carlito"/>
                <a:ea typeface="Carlito"/>
                <a:cs typeface="Carlito"/>
              </a:defRPr>
            </a:lvl4pPr>
            <a:lvl5pPr algn="l">
              <a:defRPr sz="1200" b="0" i="1">
                <a:solidFill>
                  <a:srgbClr val="5F6F7F"/>
                </a:solidFill>
                <a:latin typeface="Carlito"/>
                <a:ea typeface="Carlito"/>
                <a:cs typeface="Carlito"/>
              </a:defRPr>
            </a:lvl5pPr>
            <a:lvl6pPr algn="l">
              <a:defRPr sz="1200" b="0" i="1">
                <a:solidFill>
                  <a:srgbClr val="5F6F7F"/>
                </a:solidFill>
                <a:latin typeface="Carlito"/>
                <a:ea typeface="Carlito"/>
                <a:cs typeface="Carlito"/>
              </a:defRPr>
            </a:lvl6pPr>
            <a:lvl7pPr algn="l">
              <a:defRPr sz="1200" b="0" i="1">
                <a:solidFill>
                  <a:srgbClr val="5F6F7F"/>
                </a:solidFill>
                <a:latin typeface="Carlito"/>
                <a:ea typeface="Carlito"/>
                <a:cs typeface="Carlito"/>
              </a:defRPr>
            </a:lvl7pPr>
            <a:lvl8pPr algn="l">
              <a:defRPr sz="1200" b="0" i="1">
                <a:solidFill>
                  <a:srgbClr val="5F6F7F"/>
                </a:solidFill>
                <a:latin typeface="Carlito"/>
                <a:ea typeface="Carlito"/>
                <a:cs typeface="Carlito"/>
              </a:defRPr>
            </a:lvl8pPr>
            <a:lvl9pPr algn="l">
              <a:defRPr sz="1200" b="0" i="1">
                <a:solidFill>
                  <a:srgbClr val="5F6F7F"/>
                </a:solidFill>
                <a:latin typeface="Carlito"/>
                <a:ea typeface="Carlito"/>
                <a:cs typeface="Carlito"/>
              </a:defRPr>
            </a:lvl9pPr>
          </a:lstStyle>
          <a:p>
            <a:pPr algn="l">
              <a:defRPr sz="1200" b="0" i="1">
                <a:solidFill>
                  <a:srgbClr val="5F6F7F"/>
                </a:solidFill>
                <a:latin typeface="Carlito"/>
                <a:ea typeface="Carlito"/>
                <a:cs typeface="Carlito"/>
              </a:defRPr>
            </a:pPr>
            <a:r>
              <a:rPr sz="1200" b="0" i="1">
                <a:solidFill>
                  <a:srgbClr val="5F6F7F"/>
                </a:solidFill>
                <a:latin typeface="Carlito"/>
                <a:ea typeface="Carlito"/>
                <a:cs typeface="Carlito"/>
              </a:rPr>
              <a:t>The distributions overlap substantially. Age provides context but has limited value as a standalone indicator.</a:t>
            </a:r>
          </a:p>
        </p:txBody>
      </p:sp>
      <p:graphicFrame>
        <p:nvGraphicFramePr>
          <p:cNvPr id="8" name="Chart">
            <a:extLst>
              <a:ext uri="{FF2B5EF4-FFF2-40B4-BE49-F238E27FC236}">
                <a16:creationId xmlns:a16="http://schemas.microsoft.com/office/drawing/2014/main" id="{68CBE49D-70A6-4029-A304-2FBE4C342F02}"/>
              </a:ext>
            </a:extLst>
          </p:cNvPr>
          <p:cNvGraphicFramePr/>
          <p:nvPr/>
        </p:nvGraphicFramePr>
        <p:xfrm>
          <a:off x="7524750" y="1524000"/>
          <a:ext cx="4000500" cy="3429000"/>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angle 8">
            <a:extLst>
              <a:ext uri="{FF2B5EF4-FFF2-40B4-BE49-F238E27FC236}">
                <a16:creationId xmlns:a16="http://schemas.microsoft.com/office/drawing/2014/main" id="{670A0FEF-4264-44DF-BA90-B9379253A8BF}"/>
              </a:ext>
            </a:extLst>
          </p:cNvPr>
          <p:cNvSpPr>
            <a:spLocks noGrp="1"/>
          </p:cNvSpPr>
          <p:nvPr/>
        </p:nvSpPr>
        <p:spPr>
          <a:xfrm>
            <a:off x="7667625" y="5162550"/>
            <a:ext cx="3762375" cy="857250"/>
          </a:xfrm>
          <a:prstGeom prst="rect">
            <a:avLst/>
          </a:prstGeom>
          <a:noFill/>
          <a:ln w="0">
            <a:noFill/>
            <a:prstDash val="solid"/>
          </a:ln>
        </p:spPr>
        <p:txBody>
          <a:bodyPr wrap="square" lIns="0" tIns="0" rIns="0" bIns="0" anchor="t">
            <a:normAutofit fontScale="93750"/>
          </a:bodyPr>
          <a:lstStyle>
            <a:defPPr algn="l">
              <a:defRPr sz="1500" b="0" i="0">
                <a:solidFill>
                  <a:srgbClr val="152536"/>
                </a:solidFill>
                <a:latin typeface="Carlito"/>
                <a:ea typeface="Carlito"/>
                <a:cs typeface="Carlito"/>
              </a:defRPr>
            </a:defPPr>
            <a:lvl1pPr algn="l">
              <a:defRPr sz="1500" b="0" i="0">
                <a:solidFill>
                  <a:srgbClr val="152536"/>
                </a:solidFill>
                <a:latin typeface="Carlito"/>
                <a:ea typeface="Carlito"/>
                <a:cs typeface="Carlito"/>
              </a:defRPr>
            </a:lvl1pPr>
            <a:lvl2pPr algn="l">
              <a:defRPr sz="1500" b="0" i="0">
                <a:solidFill>
                  <a:srgbClr val="152536"/>
                </a:solidFill>
                <a:latin typeface="Carlito"/>
                <a:ea typeface="Carlito"/>
                <a:cs typeface="Carlito"/>
              </a:defRPr>
            </a:lvl2pPr>
            <a:lvl3pPr algn="l">
              <a:defRPr sz="1500" b="0" i="0">
                <a:solidFill>
                  <a:srgbClr val="152536"/>
                </a:solidFill>
                <a:latin typeface="Carlito"/>
                <a:ea typeface="Carlito"/>
                <a:cs typeface="Carlito"/>
              </a:defRPr>
            </a:lvl3pPr>
            <a:lvl4pPr algn="l">
              <a:defRPr sz="1500" b="0" i="0">
                <a:solidFill>
                  <a:srgbClr val="152536"/>
                </a:solidFill>
                <a:latin typeface="Carlito"/>
                <a:ea typeface="Carlito"/>
                <a:cs typeface="Carlito"/>
              </a:defRPr>
            </a:lvl4pPr>
            <a:lvl5pPr algn="l">
              <a:defRPr sz="1500" b="0" i="0">
                <a:solidFill>
                  <a:srgbClr val="152536"/>
                </a:solidFill>
                <a:latin typeface="Carlito"/>
                <a:ea typeface="Carlito"/>
                <a:cs typeface="Carlito"/>
              </a:defRPr>
            </a:lvl5pPr>
            <a:lvl6pPr algn="l">
              <a:defRPr sz="1500" b="0" i="0">
                <a:solidFill>
                  <a:srgbClr val="152536"/>
                </a:solidFill>
                <a:latin typeface="Carlito"/>
                <a:ea typeface="Carlito"/>
                <a:cs typeface="Carlito"/>
              </a:defRPr>
            </a:lvl6pPr>
            <a:lvl7pPr algn="l">
              <a:defRPr sz="1500" b="0" i="0">
                <a:solidFill>
                  <a:srgbClr val="152536"/>
                </a:solidFill>
                <a:latin typeface="Carlito"/>
                <a:ea typeface="Carlito"/>
                <a:cs typeface="Carlito"/>
              </a:defRPr>
            </a:lvl7pPr>
            <a:lvl8pPr algn="l">
              <a:defRPr sz="1500" b="0" i="0">
                <a:solidFill>
                  <a:srgbClr val="152536"/>
                </a:solidFill>
                <a:latin typeface="Carlito"/>
                <a:ea typeface="Carlito"/>
                <a:cs typeface="Carlito"/>
              </a:defRPr>
            </a:lvl8pPr>
            <a:lvl9pPr algn="l">
              <a:defRPr sz="1500" b="0" i="0">
                <a:solidFill>
                  <a:srgbClr val="152536"/>
                </a:solidFill>
                <a:latin typeface="Carlito"/>
                <a:ea typeface="Carlito"/>
                <a:cs typeface="Carlito"/>
              </a:defRPr>
            </a:lvl9pPr>
          </a:lstStyle>
          <a:p>
            <a:pPr algn="l">
              <a:defRPr sz="1500" b="0" i="0">
                <a:solidFill>
                  <a:srgbClr val="152536"/>
                </a:solidFill>
                <a:latin typeface="Carlito"/>
                <a:ea typeface="Carlito"/>
                <a:cs typeface="Carlito"/>
              </a:defRPr>
            </a:pPr>
            <a:r>
              <a:rPr sz="1500" b="0" i="0">
                <a:solidFill>
                  <a:srgbClr val="152536"/>
                </a:solidFill>
                <a:latin typeface="Carlito"/>
                <a:ea typeface="Carlito"/>
                <a:cs typeface="Carlito"/>
              </a:rPr>
              <a:t>Indonesia leads this descriptive ratio. Countries with high participation and lower medal yield warrant sport-level investigation before decisions are made.</a:t>
            </a:r>
          </a:p>
        </p:txBody>
      </p:sp>
      <p:sp>
        <p:nvSpPr>
          <p:cNvPr id="10" name="Rectangle 9">
            <a:extLst>
              <a:ext uri="{FF2B5EF4-FFF2-40B4-BE49-F238E27FC236}">
                <a16:creationId xmlns:a16="http://schemas.microsoft.com/office/drawing/2014/main" id="{81D74432-2B83-4A31-92FD-16F64B97CFE8}"/>
              </a:ext>
            </a:extLst>
          </p:cNvPr>
          <p:cNvSpPr>
            <a:spLocks noGrp="1"/>
          </p:cNvSpPr>
          <p:nvPr/>
        </p:nvSpPr>
        <p:spPr>
          <a:xfrm>
            <a:off x="7667625" y="6096000"/>
            <a:ext cx="3667125" cy="247650"/>
          </a:xfrm>
          <a:prstGeom prst="rect">
            <a:avLst/>
          </a:prstGeom>
          <a:noFill/>
          <a:ln w="0">
            <a:noFill/>
            <a:prstDash val="solid"/>
          </a:ln>
        </p:spPr>
        <p:txBody>
          <a:bodyPr wrap="square" lIns="0" tIns="0" rIns="0" bIns="0" anchor="t">
            <a:normAutofit/>
          </a:bodyPr>
          <a:lstStyle>
            <a:defPPr algn="l">
              <a:defRPr sz="1100" b="0" i="1">
                <a:solidFill>
                  <a:srgbClr val="5F6F7F"/>
                </a:solidFill>
                <a:latin typeface="Carlito"/>
                <a:ea typeface="Carlito"/>
                <a:cs typeface="Carlito"/>
              </a:defRPr>
            </a:defPPr>
            <a:lvl1pPr algn="l">
              <a:defRPr sz="1100" b="0" i="1">
                <a:solidFill>
                  <a:srgbClr val="5F6F7F"/>
                </a:solidFill>
                <a:latin typeface="Carlito"/>
                <a:ea typeface="Carlito"/>
                <a:cs typeface="Carlito"/>
              </a:defRPr>
            </a:lvl1pPr>
            <a:lvl2pPr algn="l">
              <a:defRPr sz="1100" b="0" i="1">
                <a:solidFill>
                  <a:srgbClr val="5F6F7F"/>
                </a:solidFill>
                <a:latin typeface="Carlito"/>
                <a:ea typeface="Carlito"/>
                <a:cs typeface="Carlito"/>
              </a:defRPr>
            </a:lvl2pPr>
            <a:lvl3pPr algn="l">
              <a:defRPr sz="1100" b="0" i="1">
                <a:solidFill>
                  <a:srgbClr val="5F6F7F"/>
                </a:solidFill>
                <a:latin typeface="Carlito"/>
                <a:ea typeface="Carlito"/>
                <a:cs typeface="Carlito"/>
              </a:defRPr>
            </a:lvl3pPr>
            <a:lvl4pPr algn="l">
              <a:defRPr sz="1100" b="0" i="1">
                <a:solidFill>
                  <a:srgbClr val="5F6F7F"/>
                </a:solidFill>
                <a:latin typeface="Carlito"/>
                <a:ea typeface="Carlito"/>
                <a:cs typeface="Carlito"/>
              </a:defRPr>
            </a:lvl4pPr>
            <a:lvl5pPr algn="l">
              <a:defRPr sz="1100" b="0" i="1">
                <a:solidFill>
                  <a:srgbClr val="5F6F7F"/>
                </a:solidFill>
                <a:latin typeface="Carlito"/>
                <a:ea typeface="Carlito"/>
                <a:cs typeface="Carlito"/>
              </a:defRPr>
            </a:lvl5pPr>
            <a:lvl6pPr algn="l">
              <a:defRPr sz="1100" b="0" i="1">
                <a:solidFill>
                  <a:srgbClr val="5F6F7F"/>
                </a:solidFill>
                <a:latin typeface="Carlito"/>
                <a:ea typeface="Carlito"/>
                <a:cs typeface="Carlito"/>
              </a:defRPr>
            </a:lvl6pPr>
            <a:lvl7pPr algn="l">
              <a:defRPr sz="1100" b="0" i="1">
                <a:solidFill>
                  <a:srgbClr val="5F6F7F"/>
                </a:solidFill>
                <a:latin typeface="Carlito"/>
                <a:ea typeface="Carlito"/>
                <a:cs typeface="Carlito"/>
              </a:defRPr>
            </a:lvl7pPr>
            <a:lvl8pPr algn="l">
              <a:defRPr sz="1100" b="0" i="1">
                <a:solidFill>
                  <a:srgbClr val="5F6F7F"/>
                </a:solidFill>
                <a:latin typeface="Carlito"/>
                <a:ea typeface="Carlito"/>
                <a:cs typeface="Carlito"/>
              </a:defRPr>
            </a:lvl8pPr>
            <a:lvl9pPr algn="l">
              <a:defRPr sz="1100" b="0" i="1">
                <a:solidFill>
                  <a:srgbClr val="5F6F7F"/>
                </a:solidFill>
                <a:latin typeface="Carlito"/>
                <a:ea typeface="Carlito"/>
                <a:cs typeface="Carlito"/>
              </a:defRPr>
            </a:lvl9pPr>
          </a:lstStyle>
          <a:p>
            <a:pPr algn="l">
              <a:defRPr sz="1100" b="0" i="1">
                <a:solidFill>
                  <a:srgbClr val="5F6F7F"/>
                </a:solidFill>
                <a:latin typeface="Carlito"/>
                <a:ea typeface="Carlito"/>
                <a:cs typeface="Carlito"/>
              </a:defRPr>
            </a:pPr>
            <a:r>
              <a:rPr sz="1100" b="0" i="1">
                <a:solidFill>
                  <a:srgbClr val="5F6F7F"/>
                </a:solidFill>
                <a:latin typeface="Carlito"/>
                <a:ea typeface="Carlito"/>
                <a:cs typeface="Carlito"/>
              </a:rPr>
              <a:t>The ratio is not adjusted for event mix or team size.</a:t>
            </a:r>
          </a:p>
        </p:txBody>
      </p:sp>
      <p:sp>
        <p:nvSpPr>
          <p:cNvPr id="11" name="Rectangle 10">
            <a:extLst>
              <a:ext uri="{FF2B5EF4-FFF2-40B4-BE49-F238E27FC236}">
                <a16:creationId xmlns:a16="http://schemas.microsoft.com/office/drawing/2014/main" id="{4EBB2B4C-19DD-4D88-8418-98A4F37CAABB}"/>
              </a:ext>
            </a:extLst>
          </p:cNvPr>
          <p:cNvSpPr>
            <a:spLocks noGrp="1"/>
          </p:cNvSpPr>
          <p:nvPr/>
        </p:nvSpPr>
        <p:spPr>
          <a:xfrm>
            <a:off x="609600" y="6515100"/>
            <a:ext cx="4953000" cy="171450"/>
          </a:xfrm>
          <a:prstGeom prst="rect">
            <a:avLst/>
          </a:prstGeom>
          <a:noFill/>
          <a:ln w="0">
            <a:noFill/>
            <a:prstDash val="solid"/>
          </a:ln>
        </p:spPr>
        <p:txBody>
          <a:bodyPr wrap="square" lIns="0" tIns="0" rIns="0" bIns="0" anchor="t">
            <a:normAutofit/>
          </a:bodyPr>
          <a:lstStyle>
            <a:defPPr algn="l">
              <a:defRPr sz="900" b="0" i="0">
                <a:solidFill>
                  <a:srgbClr val="5F6F7F"/>
                </a:solidFill>
                <a:latin typeface="Carlito"/>
                <a:ea typeface="Carlito"/>
                <a:cs typeface="Carlito"/>
              </a:defRPr>
            </a:defPPr>
            <a:lvl1pPr algn="l">
              <a:defRPr sz="900" b="0" i="0">
                <a:solidFill>
                  <a:srgbClr val="5F6F7F"/>
                </a:solidFill>
                <a:latin typeface="Carlito"/>
                <a:ea typeface="Carlito"/>
                <a:cs typeface="Carlito"/>
              </a:defRPr>
            </a:lvl1pPr>
            <a:lvl2pPr algn="l">
              <a:defRPr sz="900" b="0" i="0">
                <a:solidFill>
                  <a:srgbClr val="5F6F7F"/>
                </a:solidFill>
                <a:latin typeface="Carlito"/>
                <a:ea typeface="Carlito"/>
                <a:cs typeface="Carlito"/>
              </a:defRPr>
            </a:lvl2pPr>
            <a:lvl3pPr algn="l">
              <a:defRPr sz="900" b="0" i="0">
                <a:solidFill>
                  <a:srgbClr val="5F6F7F"/>
                </a:solidFill>
                <a:latin typeface="Carlito"/>
                <a:ea typeface="Carlito"/>
                <a:cs typeface="Carlito"/>
              </a:defRPr>
            </a:lvl3pPr>
            <a:lvl4pPr algn="l">
              <a:defRPr sz="900" b="0" i="0">
                <a:solidFill>
                  <a:srgbClr val="5F6F7F"/>
                </a:solidFill>
                <a:latin typeface="Carlito"/>
                <a:ea typeface="Carlito"/>
                <a:cs typeface="Carlito"/>
              </a:defRPr>
            </a:lvl4pPr>
            <a:lvl5pPr algn="l">
              <a:defRPr sz="900" b="0" i="0">
                <a:solidFill>
                  <a:srgbClr val="5F6F7F"/>
                </a:solidFill>
                <a:latin typeface="Carlito"/>
                <a:ea typeface="Carlito"/>
                <a:cs typeface="Carlito"/>
              </a:defRPr>
            </a:lvl5pPr>
            <a:lvl6pPr algn="l">
              <a:defRPr sz="900" b="0" i="0">
                <a:solidFill>
                  <a:srgbClr val="5F6F7F"/>
                </a:solidFill>
                <a:latin typeface="Carlito"/>
                <a:ea typeface="Carlito"/>
                <a:cs typeface="Carlito"/>
              </a:defRPr>
            </a:lvl6pPr>
            <a:lvl7pPr algn="l">
              <a:defRPr sz="900" b="0" i="0">
                <a:solidFill>
                  <a:srgbClr val="5F6F7F"/>
                </a:solidFill>
                <a:latin typeface="Carlito"/>
                <a:ea typeface="Carlito"/>
                <a:cs typeface="Carlito"/>
              </a:defRPr>
            </a:lvl7pPr>
            <a:lvl8pPr algn="l">
              <a:defRPr sz="900" b="0" i="0">
                <a:solidFill>
                  <a:srgbClr val="5F6F7F"/>
                </a:solidFill>
                <a:latin typeface="Carlito"/>
                <a:ea typeface="Carlito"/>
                <a:cs typeface="Carlito"/>
              </a:defRPr>
            </a:lvl8pPr>
            <a:lvl9pPr algn="l">
              <a:defRPr sz="900" b="0" i="0">
                <a:solidFill>
                  <a:srgbClr val="5F6F7F"/>
                </a:solidFill>
                <a:latin typeface="Carlito"/>
                <a:ea typeface="Carlito"/>
                <a:cs typeface="Carlito"/>
              </a:defRPr>
            </a:lvl9pPr>
          </a:lstStyle>
          <a:p>
            <a:pPr algn="l">
              <a:defRPr sz="900" b="0" i="0">
                <a:solidFill>
                  <a:srgbClr val="5F6F7F"/>
                </a:solidFill>
                <a:latin typeface="Carlito"/>
                <a:ea typeface="Carlito"/>
                <a:cs typeface="Carlito"/>
              </a:defRPr>
            </a:pPr>
            <a:r>
              <a:rPr sz="900" b="0" i="0">
                <a:solidFill>
                  <a:srgbClr val="5F6F7F"/>
                </a:solidFill>
                <a:latin typeface="Carlito"/>
                <a:ea typeface="Carlito"/>
                <a:cs typeface="Carlito"/>
              </a:rPr>
              <a:t>ASEAN Olympic Performance Intelligence System</a:t>
            </a:r>
          </a:p>
        </p:txBody>
      </p:sp>
      <p:sp>
        <p:nvSpPr>
          <p:cNvPr id="12" name="Rectangle 11">
            <a:extLst>
              <a:ext uri="{FF2B5EF4-FFF2-40B4-BE49-F238E27FC236}">
                <a16:creationId xmlns:a16="http://schemas.microsoft.com/office/drawing/2014/main" id="{C3F6B26B-8CA9-4FAC-BA70-5DF461E0D236}"/>
              </a:ext>
            </a:extLst>
          </p:cNvPr>
          <p:cNvSpPr>
            <a:spLocks noGrp="1"/>
          </p:cNvSpPr>
          <p:nvPr/>
        </p:nvSpPr>
        <p:spPr>
          <a:xfrm>
            <a:off x="11049000" y="6486525"/>
            <a:ext cx="533400" cy="190500"/>
          </a:xfrm>
          <a:prstGeom prst="rect">
            <a:avLst/>
          </a:prstGeom>
          <a:noFill/>
          <a:ln w="0">
            <a:noFill/>
            <a:prstDash val="solid"/>
          </a:ln>
        </p:spPr>
        <p:txBody>
          <a:bodyPr wrap="square" lIns="0" tIns="0" rIns="0" bIns="0" anchor="t">
            <a:normAutofit/>
          </a:bodyPr>
          <a:lstStyle>
            <a:defPPr algn="r">
              <a:defRPr sz="1000" b="1" i="0">
                <a:solidFill>
                  <a:srgbClr val="071B33"/>
                </a:solidFill>
                <a:latin typeface="Carlito"/>
                <a:ea typeface="Carlito"/>
                <a:cs typeface="Carlito"/>
              </a:defRPr>
            </a:defPPr>
            <a:lvl1pPr algn="r">
              <a:defRPr sz="1000" b="1" i="0">
                <a:solidFill>
                  <a:srgbClr val="071B33"/>
                </a:solidFill>
                <a:latin typeface="Carlito"/>
                <a:ea typeface="Carlito"/>
                <a:cs typeface="Carlito"/>
              </a:defRPr>
            </a:lvl1pPr>
            <a:lvl2pPr algn="r">
              <a:defRPr sz="1000" b="1" i="0">
                <a:solidFill>
                  <a:srgbClr val="071B33"/>
                </a:solidFill>
                <a:latin typeface="Carlito"/>
                <a:ea typeface="Carlito"/>
                <a:cs typeface="Carlito"/>
              </a:defRPr>
            </a:lvl2pPr>
            <a:lvl3pPr algn="r">
              <a:defRPr sz="1000" b="1" i="0">
                <a:solidFill>
                  <a:srgbClr val="071B33"/>
                </a:solidFill>
                <a:latin typeface="Carlito"/>
                <a:ea typeface="Carlito"/>
                <a:cs typeface="Carlito"/>
              </a:defRPr>
            </a:lvl3pPr>
            <a:lvl4pPr algn="r">
              <a:defRPr sz="1000" b="1" i="0">
                <a:solidFill>
                  <a:srgbClr val="071B33"/>
                </a:solidFill>
                <a:latin typeface="Carlito"/>
                <a:ea typeface="Carlito"/>
                <a:cs typeface="Carlito"/>
              </a:defRPr>
            </a:lvl4pPr>
            <a:lvl5pPr algn="r">
              <a:defRPr sz="1000" b="1" i="0">
                <a:solidFill>
                  <a:srgbClr val="071B33"/>
                </a:solidFill>
                <a:latin typeface="Carlito"/>
                <a:ea typeface="Carlito"/>
                <a:cs typeface="Carlito"/>
              </a:defRPr>
            </a:lvl5pPr>
            <a:lvl6pPr algn="r">
              <a:defRPr sz="1000" b="1" i="0">
                <a:solidFill>
                  <a:srgbClr val="071B33"/>
                </a:solidFill>
                <a:latin typeface="Carlito"/>
                <a:ea typeface="Carlito"/>
                <a:cs typeface="Carlito"/>
              </a:defRPr>
            </a:lvl6pPr>
            <a:lvl7pPr algn="r">
              <a:defRPr sz="1000" b="1" i="0">
                <a:solidFill>
                  <a:srgbClr val="071B33"/>
                </a:solidFill>
                <a:latin typeface="Carlito"/>
                <a:ea typeface="Carlito"/>
                <a:cs typeface="Carlito"/>
              </a:defRPr>
            </a:lvl7pPr>
            <a:lvl8pPr algn="r">
              <a:defRPr sz="1000" b="1" i="0">
                <a:solidFill>
                  <a:srgbClr val="071B33"/>
                </a:solidFill>
                <a:latin typeface="Carlito"/>
                <a:ea typeface="Carlito"/>
                <a:cs typeface="Carlito"/>
              </a:defRPr>
            </a:lvl8pPr>
            <a:lvl9pPr algn="r">
              <a:defRPr sz="1000" b="1" i="0">
                <a:solidFill>
                  <a:srgbClr val="071B33"/>
                </a:solidFill>
                <a:latin typeface="Carlito"/>
                <a:ea typeface="Carlito"/>
                <a:cs typeface="Carlito"/>
              </a:defRPr>
            </a:lvl9pPr>
          </a:lstStyle>
          <a:p>
            <a:pPr algn="r">
              <a:defRPr sz="1000" b="1" i="0">
                <a:solidFill>
                  <a:srgbClr val="071B33"/>
                </a:solidFill>
                <a:latin typeface="Carlito"/>
                <a:ea typeface="Carlito"/>
                <a:cs typeface="Carlito"/>
              </a:defRPr>
            </a:pPr>
            <a:r>
              <a:rPr sz="1000" b="1" i="0">
                <a:solidFill>
                  <a:srgbClr val="071B33"/>
                </a:solidFill>
                <a:latin typeface="Carlito"/>
                <a:ea typeface="Carlito"/>
                <a:cs typeface="Carlito"/>
              </a:rPr>
              <a:t>08</a:t>
            </a:r>
          </a:p>
        </p:txBody>
      </p:sp>
    </p:spTree>
    <p:extLst>
      <p:ext uri="{BB962C8B-B14F-4D97-AF65-F5344CB8AC3E}">
        <p14:creationId xmlns:p14="http://schemas.microsoft.com/office/powerpoint/2010/main" val="1320754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B33"/>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1BD9FBF-18E8-41D4-8533-544F079EF0EC}"/>
              </a:ext>
            </a:extLst>
          </p:cNvPr>
          <p:cNvSpPr>
            <a:spLocks noGrp="1"/>
          </p:cNvSpPr>
          <p:nvPr/>
        </p:nvSpPr>
        <p:spPr>
          <a:xfrm>
            <a:off x="609600" y="400050"/>
            <a:ext cx="8096250" cy="495300"/>
          </a:xfrm>
          <a:prstGeom prst="rect">
            <a:avLst/>
          </a:prstGeom>
          <a:noFill/>
          <a:ln w="0">
            <a:noFill/>
            <a:prstDash val="solid"/>
          </a:ln>
        </p:spPr>
        <p:txBody>
          <a:bodyPr wrap="square" lIns="0" tIns="0" rIns="0" bIns="0" anchor="t">
            <a:normAutofit/>
          </a:bodyPr>
          <a:lstStyle>
            <a:defPPr algn="l">
              <a:defRPr sz="3000" b="1" i="0">
                <a:solidFill>
                  <a:srgbClr val="FFFFFF"/>
                </a:solidFill>
                <a:latin typeface="Carlito"/>
                <a:ea typeface="Carlito"/>
                <a:cs typeface="Carlito"/>
              </a:defRPr>
            </a:defPPr>
            <a:lvl1pPr algn="l">
              <a:defRPr sz="3000" b="1" i="0">
                <a:solidFill>
                  <a:srgbClr val="FFFFFF"/>
                </a:solidFill>
                <a:latin typeface="Carlito"/>
                <a:ea typeface="Carlito"/>
                <a:cs typeface="Carlito"/>
              </a:defRPr>
            </a:lvl1pPr>
            <a:lvl2pPr algn="l">
              <a:defRPr sz="3000" b="1" i="0">
                <a:solidFill>
                  <a:srgbClr val="FFFFFF"/>
                </a:solidFill>
                <a:latin typeface="Carlito"/>
                <a:ea typeface="Carlito"/>
                <a:cs typeface="Carlito"/>
              </a:defRPr>
            </a:lvl2pPr>
            <a:lvl3pPr algn="l">
              <a:defRPr sz="3000" b="1" i="0">
                <a:solidFill>
                  <a:srgbClr val="FFFFFF"/>
                </a:solidFill>
                <a:latin typeface="Carlito"/>
                <a:ea typeface="Carlito"/>
                <a:cs typeface="Carlito"/>
              </a:defRPr>
            </a:lvl3pPr>
            <a:lvl4pPr algn="l">
              <a:defRPr sz="3000" b="1" i="0">
                <a:solidFill>
                  <a:srgbClr val="FFFFFF"/>
                </a:solidFill>
                <a:latin typeface="Carlito"/>
                <a:ea typeface="Carlito"/>
                <a:cs typeface="Carlito"/>
              </a:defRPr>
            </a:lvl4pPr>
            <a:lvl5pPr algn="l">
              <a:defRPr sz="3000" b="1" i="0">
                <a:solidFill>
                  <a:srgbClr val="FFFFFF"/>
                </a:solidFill>
                <a:latin typeface="Carlito"/>
                <a:ea typeface="Carlito"/>
                <a:cs typeface="Carlito"/>
              </a:defRPr>
            </a:lvl5pPr>
            <a:lvl6pPr algn="l">
              <a:defRPr sz="3000" b="1" i="0">
                <a:solidFill>
                  <a:srgbClr val="FFFFFF"/>
                </a:solidFill>
                <a:latin typeface="Carlito"/>
                <a:ea typeface="Carlito"/>
                <a:cs typeface="Carlito"/>
              </a:defRPr>
            </a:lvl6pPr>
            <a:lvl7pPr algn="l">
              <a:defRPr sz="3000" b="1" i="0">
                <a:solidFill>
                  <a:srgbClr val="FFFFFF"/>
                </a:solidFill>
                <a:latin typeface="Carlito"/>
                <a:ea typeface="Carlito"/>
                <a:cs typeface="Carlito"/>
              </a:defRPr>
            </a:lvl7pPr>
            <a:lvl8pPr algn="l">
              <a:defRPr sz="3000" b="1" i="0">
                <a:solidFill>
                  <a:srgbClr val="FFFFFF"/>
                </a:solidFill>
                <a:latin typeface="Carlito"/>
                <a:ea typeface="Carlito"/>
                <a:cs typeface="Carlito"/>
              </a:defRPr>
            </a:lvl8pPr>
            <a:lvl9pPr algn="l">
              <a:defRPr sz="3000" b="1" i="0">
                <a:solidFill>
                  <a:srgbClr val="FFFFFF"/>
                </a:solidFill>
                <a:latin typeface="Carlito"/>
                <a:ea typeface="Carlito"/>
                <a:cs typeface="Carlito"/>
              </a:defRPr>
            </a:lvl9pPr>
          </a:lstStyle>
          <a:p>
            <a:pPr algn="l">
              <a:defRPr sz="3000" b="1" i="0">
                <a:solidFill>
                  <a:srgbClr val="FFFFFF"/>
                </a:solidFill>
                <a:latin typeface="Carlito"/>
                <a:ea typeface="Carlito"/>
                <a:cs typeface="Carlito"/>
              </a:defRPr>
            </a:pPr>
            <a:r>
              <a:rPr sz="3000" b="1" i="0">
                <a:solidFill>
                  <a:srgbClr val="FFFFFF"/>
                </a:solidFill>
                <a:latin typeface="Carlito"/>
                <a:ea typeface="Carlito"/>
                <a:cs typeface="Carlito"/>
              </a:rPr>
              <a:t>Recommendations and limitations</a:t>
            </a:r>
          </a:p>
        </p:txBody>
      </p:sp>
      <p:sp>
        <p:nvSpPr>
          <p:cNvPr id="2" name="Rectangle 1">
            <a:extLst>
              <a:ext uri="{FF2B5EF4-FFF2-40B4-BE49-F238E27FC236}">
                <a16:creationId xmlns:a16="http://schemas.microsoft.com/office/drawing/2014/main" id="{F450E9B2-EB95-46E6-8FED-C68CED44D96F}"/>
              </a:ext>
            </a:extLst>
          </p:cNvPr>
          <p:cNvSpPr>
            <a:spLocks noGrp="1"/>
          </p:cNvSpPr>
          <p:nvPr/>
        </p:nvSpPr>
        <p:spPr>
          <a:xfrm>
            <a:off x="609600" y="952500"/>
            <a:ext cx="9525000" cy="323850"/>
          </a:xfrm>
          <a:prstGeom prst="rect">
            <a:avLst/>
          </a:prstGeom>
          <a:noFill/>
          <a:ln w="0">
            <a:noFill/>
            <a:prstDash val="solid"/>
          </a:ln>
        </p:spPr>
        <p:txBody>
          <a:bodyPr wrap="square" lIns="0" tIns="0" rIns="0" bIns="0" anchor="t">
            <a:normAutofit/>
          </a:bodyPr>
          <a:lstStyle>
            <a:defPPr algn="l">
              <a:defRPr sz="1600" b="0" i="0">
                <a:solidFill>
                  <a:srgbClr val="C8D4E1"/>
                </a:solidFill>
                <a:latin typeface="Carlito"/>
                <a:ea typeface="Carlito"/>
                <a:cs typeface="Carlito"/>
              </a:defRPr>
            </a:defPPr>
            <a:lvl1pPr algn="l">
              <a:defRPr sz="1600" b="0" i="0">
                <a:solidFill>
                  <a:srgbClr val="C8D4E1"/>
                </a:solidFill>
                <a:latin typeface="Carlito"/>
                <a:ea typeface="Carlito"/>
                <a:cs typeface="Carlito"/>
              </a:defRPr>
            </a:lvl1pPr>
            <a:lvl2pPr algn="l">
              <a:defRPr sz="1600" b="0" i="0">
                <a:solidFill>
                  <a:srgbClr val="C8D4E1"/>
                </a:solidFill>
                <a:latin typeface="Carlito"/>
                <a:ea typeface="Carlito"/>
                <a:cs typeface="Carlito"/>
              </a:defRPr>
            </a:lvl2pPr>
            <a:lvl3pPr algn="l">
              <a:defRPr sz="1600" b="0" i="0">
                <a:solidFill>
                  <a:srgbClr val="C8D4E1"/>
                </a:solidFill>
                <a:latin typeface="Carlito"/>
                <a:ea typeface="Carlito"/>
                <a:cs typeface="Carlito"/>
              </a:defRPr>
            </a:lvl3pPr>
            <a:lvl4pPr algn="l">
              <a:defRPr sz="1600" b="0" i="0">
                <a:solidFill>
                  <a:srgbClr val="C8D4E1"/>
                </a:solidFill>
                <a:latin typeface="Carlito"/>
                <a:ea typeface="Carlito"/>
                <a:cs typeface="Carlito"/>
              </a:defRPr>
            </a:lvl4pPr>
            <a:lvl5pPr algn="l">
              <a:defRPr sz="1600" b="0" i="0">
                <a:solidFill>
                  <a:srgbClr val="C8D4E1"/>
                </a:solidFill>
                <a:latin typeface="Carlito"/>
                <a:ea typeface="Carlito"/>
                <a:cs typeface="Carlito"/>
              </a:defRPr>
            </a:lvl5pPr>
            <a:lvl6pPr algn="l">
              <a:defRPr sz="1600" b="0" i="0">
                <a:solidFill>
                  <a:srgbClr val="C8D4E1"/>
                </a:solidFill>
                <a:latin typeface="Carlito"/>
                <a:ea typeface="Carlito"/>
                <a:cs typeface="Carlito"/>
              </a:defRPr>
            </a:lvl6pPr>
            <a:lvl7pPr algn="l">
              <a:defRPr sz="1600" b="0" i="0">
                <a:solidFill>
                  <a:srgbClr val="C8D4E1"/>
                </a:solidFill>
                <a:latin typeface="Carlito"/>
                <a:ea typeface="Carlito"/>
                <a:cs typeface="Carlito"/>
              </a:defRPr>
            </a:lvl7pPr>
            <a:lvl8pPr algn="l">
              <a:defRPr sz="1600" b="0" i="0">
                <a:solidFill>
                  <a:srgbClr val="C8D4E1"/>
                </a:solidFill>
                <a:latin typeface="Carlito"/>
                <a:ea typeface="Carlito"/>
                <a:cs typeface="Carlito"/>
              </a:defRPr>
            </a:lvl8pPr>
            <a:lvl9pPr algn="l">
              <a:defRPr sz="1600" b="0" i="0">
                <a:solidFill>
                  <a:srgbClr val="C8D4E1"/>
                </a:solidFill>
                <a:latin typeface="Carlito"/>
                <a:ea typeface="Carlito"/>
                <a:cs typeface="Carlito"/>
              </a:defRPr>
            </a:lvl9pPr>
          </a:lstStyle>
          <a:p>
            <a:pPr algn="l">
              <a:defRPr sz="1600" b="0" i="0">
                <a:solidFill>
                  <a:srgbClr val="C8D4E1"/>
                </a:solidFill>
                <a:latin typeface="Carlito"/>
                <a:ea typeface="Carlito"/>
                <a:cs typeface="Carlito"/>
              </a:defRPr>
            </a:pPr>
            <a:r>
              <a:rPr sz="1600" b="0" i="0">
                <a:solidFill>
                  <a:srgbClr val="C8D4E1"/>
                </a:solidFill>
                <a:latin typeface="Carlito"/>
                <a:ea typeface="Carlito"/>
                <a:cs typeface="Carlito"/>
              </a:rPr>
              <a:t>Historical evidence supports focused action, followed by validation with current programme data</a:t>
            </a:r>
          </a:p>
        </p:txBody>
      </p:sp>
      <p:sp>
        <p:nvSpPr>
          <p:cNvPr id="3" name="Rectangle 2">
            <a:extLst>
              <a:ext uri="{FF2B5EF4-FFF2-40B4-BE49-F238E27FC236}">
                <a16:creationId xmlns:a16="http://schemas.microsoft.com/office/drawing/2014/main" id="{B82194CC-7F85-47F9-A229-F9D23A2F02C5}"/>
              </a:ext>
            </a:extLst>
          </p:cNvPr>
          <p:cNvSpPr>
            <a:spLocks noGrp="1"/>
          </p:cNvSpPr>
          <p:nvPr/>
        </p:nvSpPr>
        <p:spPr>
          <a:xfrm>
            <a:off x="609600" y="1400175"/>
            <a:ext cx="10972800" cy="28575"/>
          </a:xfrm>
          <a:prstGeom prst="rect">
            <a:avLst/>
          </a:prstGeom>
          <a:solidFill>
            <a:srgbClr val="D4AF37"/>
          </a:solidFill>
          <a:ln w="0">
            <a:noFill/>
            <a:prstDash val="solid"/>
          </a:ln>
        </p:spPr>
        <p:txBody>
          <a:bodyPr/>
          <a:lstStyle/>
          <a:p>
            <a:endParaRPr lang="en-SG"/>
          </a:p>
        </p:txBody>
      </p:sp>
      <p:sp>
        <p:nvSpPr>
          <p:cNvPr id="4" name="Rectangle 3">
            <a:extLst>
              <a:ext uri="{FF2B5EF4-FFF2-40B4-BE49-F238E27FC236}">
                <a16:creationId xmlns:a16="http://schemas.microsoft.com/office/drawing/2014/main" id="{5E488508-EB55-4ABD-8F71-6D4C77666E02}"/>
              </a:ext>
            </a:extLst>
          </p:cNvPr>
          <p:cNvSpPr>
            <a:spLocks noGrp="1"/>
          </p:cNvSpPr>
          <p:nvPr/>
        </p:nvSpPr>
        <p:spPr>
          <a:xfrm>
            <a:off x="628650" y="1714500"/>
            <a:ext cx="495300" cy="361950"/>
          </a:xfrm>
          <a:prstGeom prst="rect">
            <a:avLst/>
          </a:prstGeom>
          <a:noFill/>
          <a:ln w="0">
            <a:noFill/>
            <a:prstDash val="solid"/>
          </a:ln>
        </p:spPr>
        <p:txBody>
          <a:bodyPr wrap="square" lIns="0" tIns="0" rIns="0" bIns="0" anchor="t">
            <a:normAutofit/>
          </a:bodyPr>
          <a:lstStyle>
            <a:defPPr algn="l">
              <a:defRPr sz="1700" b="1" i="0">
                <a:solidFill>
                  <a:srgbClr val="D4AF37"/>
                </a:solidFill>
                <a:latin typeface="Carlito"/>
                <a:ea typeface="Carlito"/>
                <a:cs typeface="Carlito"/>
              </a:defRPr>
            </a:defPPr>
            <a:lvl1pPr algn="l">
              <a:defRPr sz="1700" b="1" i="0">
                <a:solidFill>
                  <a:srgbClr val="D4AF37"/>
                </a:solidFill>
                <a:latin typeface="Carlito"/>
                <a:ea typeface="Carlito"/>
                <a:cs typeface="Carlito"/>
              </a:defRPr>
            </a:lvl1pPr>
            <a:lvl2pPr algn="l">
              <a:defRPr sz="1700" b="1" i="0">
                <a:solidFill>
                  <a:srgbClr val="D4AF37"/>
                </a:solidFill>
                <a:latin typeface="Carlito"/>
                <a:ea typeface="Carlito"/>
                <a:cs typeface="Carlito"/>
              </a:defRPr>
            </a:lvl2pPr>
            <a:lvl3pPr algn="l">
              <a:defRPr sz="1700" b="1" i="0">
                <a:solidFill>
                  <a:srgbClr val="D4AF37"/>
                </a:solidFill>
                <a:latin typeface="Carlito"/>
                <a:ea typeface="Carlito"/>
                <a:cs typeface="Carlito"/>
              </a:defRPr>
            </a:lvl3pPr>
            <a:lvl4pPr algn="l">
              <a:defRPr sz="1700" b="1" i="0">
                <a:solidFill>
                  <a:srgbClr val="D4AF37"/>
                </a:solidFill>
                <a:latin typeface="Carlito"/>
                <a:ea typeface="Carlito"/>
                <a:cs typeface="Carlito"/>
              </a:defRPr>
            </a:lvl4pPr>
            <a:lvl5pPr algn="l">
              <a:defRPr sz="1700" b="1" i="0">
                <a:solidFill>
                  <a:srgbClr val="D4AF37"/>
                </a:solidFill>
                <a:latin typeface="Carlito"/>
                <a:ea typeface="Carlito"/>
                <a:cs typeface="Carlito"/>
              </a:defRPr>
            </a:lvl5pPr>
            <a:lvl6pPr algn="l">
              <a:defRPr sz="1700" b="1" i="0">
                <a:solidFill>
                  <a:srgbClr val="D4AF37"/>
                </a:solidFill>
                <a:latin typeface="Carlito"/>
                <a:ea typeface="Carlito"/>
                <a:cs typeface="Carlito"/>
              </a:defRPr>
            </a:lvl6pPr>
            <a:lvl7pPr algn="l">
              <a:defRPr sz="1700" b="1" i="0">
                <a:solidFill>
                  <a:srgbClr val="D4AF37"/>
                </a:solidFill>
                <a:latin typeface="Carlito"/>
                <a:ea typeface="Carlito"/>
                <a:cs typeface="Carlito"/>
              </a:defRPr>
            </a:lvl7pPr>
            <a:lvl8pPr algn="l">
              <a:defRPr sz="1700" b="1" i="0">
                <a:solidFill>
                  <a:srgbClr val="D4AF37"/>
                </a:solidFill>
                <a:latin typeface="Carlito"/>
                <a:ea typeface="Carlito"/>
                <a:cs typeface="Carlito"/>
              </a:defRPr>
            </a:lvl8pPr>
            <a:lvl9pPr algn="l">
              <a:defRPr sz="1700" b="1" i="0">
                <a:solidFill>
                  <a:srgbClr val="D4AF37"/>
                </a:solidFill>
                <a:latin typeface="Carlito"/>
                <a:ea typeface="Carlito"/>
                <a:cs typeface="Carlito"/>
              </a:defRPr>
            </a:lvl9pPr>
          </a:lstStyle>
          <a:p>
            <a:pPr algn="l">
              <a:defRPr sz="1700" b="1" i="0">
                <a:solidFill>
                  <a:srgbClr val="D4AF37"/>
                </a:solidFill>
                <a:latin typeface="Carlito"/>
                <a:ea typeface="Carlito"/>
                <a:cs typeface="Carlito"/>
              </a:defRPr>
            </a:pPr>
            <a:r>
              <a:rPr sz="1700" b="1" i="0">
                <a:solidFill>
                  <a:srgbClr val="D4AF37"/>
                </a:solidFill>
                <a:latin typeface="Carlito"/>
                <a:ea typeface="Carlito"/>
                <a:cs typeface="Carlito"/>
              </a:rPr>
              <a:t>01</a:t>
            </a:r>
          </a:p>
        </p:txBody>
      </p:sp>
      <p:sp>
        <p:nvSpPr>
          <p:cNvPr id="5" name="Rectangle 4">
            <a:extLst>
              <a:ext uri="{FF2B5EF4-FFF2-40B4-BE49-F238E27FC236}">
                <a16:creationId xmlns:a16="http://schemas.microsoft.com/office/drawing/2014/main" id="{064B1CD2-E834-4DCC-92E4-DCEA7D1E22FB}"/>
              </a:ext>
            </a:extLst>
          </p:cNvPr>
          <p:cNvSpPr>
            <a:spLocks noGrp="1"/>
          </p:cNvSpPr>
          <p:nvPr/>
        </p:nvSpPr>
        <p:spPr>
          <a:xfrm>
            <a:off x="1257300" y="1695450"/>
            <a:ext cx="3714750" cy="323850"/>
          </a:xfrm>
          <a:prstGeom prst="rect">
            <a:avLst/>
          </a:prstGeom>
          <a:noFill/>
          <a:ln w="0">
            <a:noFill/>
            <a:prstDash val="solid"/>
          </a:ln>
        </p:spPr>
        <p:txBody>
          <a:bodyPr wrap="square" lIns="0" tIns="0" rIns="0" bIns="0" anchor="t">
            <a:normAutofit/>
          </a:bodyPr>
          <a:lstStyle>
            <a:defPPr algn="l">
              <a:defRPr sz="1900" b="1" i="0">
                <a:solidFill>
                  <a:srgbClr val="FFFFFF"/>
                </a:solidFill>
                <a:latin typeface="Carlito"/>
                <a:ea typeface="Carlito"/>
                <a:cs typeface="Carlito"/>
              </a:defRPr>
            </a:defPPr>
            <a:lvl1pPr algn="l">
              <a:defRPr sz="1900" b="1" i="0">
                <a:solidFill>
                  <a:srgbClr val="FFFFFF"/>
                </a:solidFill>
                <a:latin typeface="Carlito"/>
                <a:ea typeface="Carlito"/>
                <a:cs typeface="Carlito"/>
              </a:defRPr>
            </a:lvl1pPr>
            <a:lvl2pPr algn="l">
              <a:defRPr sz="1900" b="1" i="0">
                <a:solidFill>
                  <a:srgbClr val="FFFFFF"/>
                </a:solidFill>
                <a:latin typeface="Carlito"/>
                <a:ea typeface="Carlito"/>
                <a:cs typeface="Carlito"/>
              </a:defRPr>
            </a:lvl2pPr>
            <a:lvl3pPr algn="l">
              <a:defRPr sz="1900" b="1" i="0">
                <a:solidFill>
                  <a:srgbClr val="FFFFFF"/>
                </a:solidFill>
                <a:latin typeface="Carlito"/>
                <a:ea typeface="Carlito"/>
                <a:cs typeface="Carlito"/>
              </a:defRPr>
            </a:lvl3pPr>
            <a:lvl4pPr algn="l">
              <a:defRPr sz="1900" b="1" i="0">
                <a:solidFill>
                  <a:srgbClr val="FFFFFF"/>
                </a:solidFill>
                <a:latin typeface="Carlito"/>
                <a:ea typeface="Carlito"/>
                <a:cs typeface="Carlito"/>
              </a:defRPr>
            </a:lvl4pPr>
            <a:lvl5pPr algn="l">
              <a:defRPr sz="1900" b="1" i="0">
                <a:solidFill>
                  <a:srgbClr val="FFFFFF"/>
                </a:solidFill>
                <a:latin typeface="Carlito"/>
                <a:ea typeface="Carlito"/>
                <a:cs typeface="Carlito"/>
              </a:defRPr>
            </a:lvl5pPr>
            <a:lvl6pPr algn="l">
              <a:defRPr sz="1900" b="1" i="0">
                <a:solidFill>
                  <a:srgbClr val="FFFFFF"/>
                </a:solidFill>
                <a:latin typeface="Carlito"/>
                <a:ea typeface="Carlito"/>
                <a:cs typeface="Carlito"/>
              </a:defRPr>
            </a:lvl6pPr>
            <a:lvl7pPr algn="l">
              <a:defRPr sz="1900" b="1" i="0">
                <a:solidFill>
                  <a:srgbClr val="FFFFFF"/>
                </a:solidFill>
                <a:latin typeface="Carlito"/>
                <a:ea typeface="Carlito"/>
                <a:cs typeface="Carlito"/>
              </a:defRPr>
            </a:lvl7pPr>
            <a:lvl8pPr algn="l">
              <a:defRPr sz="1900" b="1" i="0">
                <a:solidFill>
                  <a:srgbClr val="FFFFFF"/>
                </a:solidFill>
                <a:latin typeface="Carlito"/>
                <a:ea typeface="Carlito"/>
                <a:cs typeface="Carlito"/>
              </a:defRPr>
            </a:lvl8pPr>
            <a:lvl9pPr algn="l">
              <a:defRPr sz="1900" b="1" i="0">
                <a:solidFill>
                  <a:srgbClr val="FFFFFF"/>
                </a:solidFill>
                <a:latin typeface="Carlito"/>
                <a:ea typeface="Carlito"/>
                <a:cs typeface="Carlito"/>
              </a:defRPr>
            </a:lvl9pPr>
          </a:lstStyle>
          <a:p>
            <a:pPr algn="l">
              <a:defRPr sz="1900" b="1" i="0">
                <a:solidFill>
                  <a:srgbClr val="FFFFFF"/>
                </a:solidFill>
                <a:latin typeface="Carlito"/>
                <a:ea typeface="Carlito"/>
                <a:cs typeface="Carlito"/>
              </a:defRPr>
            </a:pPr>
            <a:r>
              <a:rPr sz="1900" b="1" i="0">
                <a:solidFill>
                  <a:srgbClr val="FFFFFF"/>
                </a:solidFill>
                <a:latin typeface="Carlito"/>
                <a:ea typeface="Carlito"/>
                <a:cs typeface="Carlito"/>
              </a:rPr>
              <a:t>Protect proven medal pathways</a:t>
            </a:r>
          </a:p>
        </p:txBody>
      </p:sp>
      <p:sp>
        <p:nvSpPr>
          <p:cNvPr id="6" name="Rectangle 5">
            <a:extLst>
              <a:ext uri="{FF2B5EF4-FFF2-40B4-BE49-F238E27FC236}">
                <a16:creationId xmlns:a16="http://schemas.microsoft.com/office/drawing/2014/main" id="{5208C7AF-0888-4551-A404-160284271821}"/>
              </a:ext>
            </a:extLst>
          </p:cNvPr>
          <p:cNvSpPr>
            <a:spLocks noGrp="1"/>
          </p:cNvSpPr>
          <p:nvPr/>
        </p:nvSpPr>
        <p:spPr>
          <a:xfrm>
            <a:off x="1257300" y="2105025"/>
            <a:ext cx="5334000" cy="628650"/>
          </a:xfrm>
          <a:prstGeom prst="rect">
            <a:avLst/>
          </a:prstGeom>
          <a:noFill/>
          <a:ln w="0">
            <a:noFill/>
            <a:prstDash val="solid"/>
          </a:ln>
        </p:spPr>
        <p:txBody>
          <a:bodyPr wrap="square" lIns="0" tIns="0" rIns="0" bIns="0" anchor="t">
            <a:normAutofit/>
          </a:bodyPr>
          <a:lstStyle>
            <a:defPPr algn="l">
              <a:defRPr sz="1500" b="0" i="0">
                <a:solidFill>
                  <a:srgbClr val="D9E2EC"/>
                </a:solidFill>
                <a:latin typeface="Carlito"/>
                <a:ea typeface="Carlito"/>
                <a:cs typeface="Carlito"/>
              </a:defRPr>
            </a:defPPr>
            <a:lvl1pPr algn="l">
              <a:defRPr sz="1500" b="0" i="0">
                <a:solidFill>
                  <a:srgbClr val="D9E2EC"/>
                </a:solidFill>
                <a:latin typeface="Carlito"/>
                <a:ea typeface="Carlito"/>
                <a:cs typeface="Carlito"/>
              </a:defRPr>
            </a:lvl1pPr>
            <a:lvl2pPr algn="l">
              <a:defRPr sz="1500" b="0" i="0">
                <a:solidFill>
                  <a:srgbClr val="D9E2EC"/>
                </a:solidFill>
                <a:latin typeface="Carlito"/>
                <a:ea typeface="Carlito"/>
                <a:cs typeface="Carlito"/>
              </a:defRPr>
            </a:lvl2pPr>
            <a:lvl3pPr algn="l">
              <a:defRPr sz="1500" b="0" i="0">
                <a:solidFill>
                  <a:srgbClr val="D9E2EC"/>
                </a:solidFill>
                <a:latin typeface="Carlito"/>
                <a:ea typeface="Carlito"/>
                <a:cs typeface="Carlito"/>
              </a:defRPr>
            </a:lvl3pPr>
            <a:lvl4pPr algn="l">
              <a:defRPr sz="1500" b="0" i="0">
                <a:solidFill>
                  <a:srgbClr val="D9E2EC"/>
                </a:solidFill>
                <a:latin typeface="Carlito"/>
                <a:ea typeface="Carlito"/>
                <a:cs typeface="Carlito"/>
              </a:defRPr>
            </a:lvl4pPr>
            <a:lvl5pPr algn="l">
              <a:defRPr sz="1500" b="0" i="0">
                <a:solidFill>
                  <a:srgbClr val="D9E2EC"/>
                </a:solidFill>
                <a:latin typeface="Carlito"/>
                <a:ea typeface="Carlito"/>
                <a:cs typeface="Carlito"/>
              </a:defRPr>
            </a:lvl5pPr>
            <a:lvl6pPr algn="l">
              <a:defRPr sz="1500" b="0" i="0">
                <a:solidFill>
                  <a:srgbClr val="D9E2EC"/>
                </a:solidFill>
                <a:latin typeface="Carlito"/>
                <a:ea typeface="Carlito"/>
                <a:cs typeface="Carlito"/>
              </a:defRPr>
            </a:lvl6pPr>
            <a:lvl7pPr algn="l">
              <a:defRPr sz="1500" b="0" i="0">
                <a:solidFill>
                  <a:srgbClr val="D9E2EC"/>
                </a:solidFill>
                <a:latin typeface="Carlito"/>
                <a:ea typeface="Carlito"/>
                <a:cs typeface="Carlito"/>
              </a:defRPr>
            </a:lvl7pPr>
            <a:lvl8pPr algn="l">
              <a:defRPr sz="1500" b="0" i="0">
                <a:solidFill>
                  <a:srgbClr val="D9E2EC"/>
                </a:solidFill>
                <a:latin typeface="Carlito"/>
                <a:ea typeface="Carlito"/>
                <a:cs typeface="Carlito"/>
              </a:defRPr>
            </a:lvl8pPr>
            <a:lvl9pPr algn="l">
              <a:defRPr sz="1500" b="0" i="0">
                <a:solidFill>
                  <a:srgbClr val="D9E2EC"/>
                </a:solidFill>
                <a:latin typeface="Carlito"/>
                <a:ea typeface="Carlito"/>
                <a:cs typeface="Carlito"/>
              </a:defRPr>
            </a:lvl9pPr>
          </a:lstStyle>
          <a:p>
            <a:pPr algn="l">
              <a:defRPr sz="1500" b="0" i="0">
                <a:solidFill>
                  <a:srgbClr val="D9E2EC"/>
                </a:solidFill>
                <a:latin typeface="Carlito"/>
                <a:ea typeface="Carlito"/>
                <a:cs typeface="Carlito"/>
              </a:defRPr>
            </a:pPr>
            <a:r>
              <a:rPr sz="1500" b="0" i="0">
                <a:solidFill>
                  <a:srgbClr val="D9E2EC"/>
                </a:solidFill>
                <a:latin typeface="Carlito"/>
                <a:ea typeface="Carlito"/>
                <a:cs typeface="Carlito"/>
              </a:rPr>
              <a:t>Maintain targeted development in badminton, weightlifting and boxing, which produced 77.8% of the region’s medals.</a:t>
            </a:r>
          </a:p>
        </p:txBody>
      </p:sp>
      <p:sp>
        <p:nvSpPr>
          <p:cNvPr id="7" name="Rectangle 6">
            <a:extLst>
              <a:ext uri="{FF2B5EF4-FFF2-40B4-BE49-F238E27FC236}">
                <a16:creationId xmlns:a16="http://schemas.microsoft.com/office/drawing/2014/main" id="{7CF3C8AA-3D18-405D-9257-FE712C873171}"/>
              </a:ext>
            </a:extLst>
          </p:cNvPr>
          <p:cNvSpPr>
            <a:spLocks noGrp="1"/>
          </p:cNvSpPr>
          <p:nvPr/>
        </p:nvSpPr>
        <p:spPr>
          <a:xfrm>
            <a:off x="628650" y="2876550"/>
            <a:ext cx="495300" cy="361950"/>
          </a:xfrm>
          <a:prstGeom prst="rect">
            <a:avLst/>
          </a:prstGeom>
          <a:noFill/>
          <a:ln w="0">
            <a:noFill/>
            <a:prstDash val="solid"/>
          </a:ln>
        </p:spPr>
        <p:txBody>
          <a:bodyPr wrap="square" lIns="0" tIns="0" rIns="0" bIns="0" anchor="t">
            <a:normAutofit/>
          </a:bodyPr>
          <a:lstStyle>
            <a:defPPr algn="l">
              <a:defRPr sz="1700" b="1" i="0">
                <a:solidFill>
                  <a:srgbClr val="A7A9AC"/>
                </a:solidFill>
                <a:latin typeface="Carlito"/>
                <a:ea typeface="Carlito"/>
                <a:cs typeface="Carlito"/>
              </a:defRPr>
            </a:defPPr>
            <a:lvl1pPr algn="l">
              <a:defRPr sz="1700" b="1" i="0">
                <a:solidFill>
                  <a:srgbClr val="A7A9AC"/>
                </a:solidFill>
                <a:latin typeface="Carlito"/>
                <a:ea typeface="Carlito"/>
                <a:cs typeface="Carlito"/>
              </a:defRPr>
            </a:lvl1pPr>
            <a:lvl2pPr algn="l">
              <a:defRPr sz="1700" b="1" i="0">
                <a:solidFill>
                  <a:srgbClr val="A7A9AC"/>
                </a:solidFill>
                <a:latin typeface="Carlito"/>
                <a:ea typeface="Carlito"/>
                <a:cs typeface="Carlito"/>
              </a:defRPr>
            </a:lvl2pPr>
            <a:lvl3pPr algn="l">
              <a:defRPr sz="1700" b="1" i="0">
                <a:solidFill>
                  <a:srgbClr val="A7A9AC"/>
                </a:solidFill>
                <a:latin typeface="Carlito"/>
                <a:ea typeface="Carlito"/>
                <a:cs typeface="Carlito"/>
              </a:defRPr>
            </a:lvl3pPr>
            <a:lvl4pPr algn="l">
              <a:defRPr sz="1700" b="1" i="0">
                <a:solidFill>
                  <a:srgbClr val="A7A9AC"/>
                </a:solidFill>
                <a:latin typeface="Carlito"/>
                <a:ea typeface="Carlito"/>
                <a:cs typeface="Carlito"/>
              </a:defRPr>
            </a:lvl4pPr>
            <a:lvl5pPr algn="l">
              <a:defRPr sz="1700" b="1" i="0">
                <a:solidFill>
                  <a:srgbClr val="A7A9AC"/>
                </a:solidFill>
                <a:latin typeface="Carlito"/>
                <a:ea typeface="Carlito"/>
                <a:cs typeface="Carlito"/>
              </a:defRPr>
            </a:lvl5pPr>
            <a:lvl6pPr algn="l">
              <a:defRPr sz="1700" b="1" i="0">
                <a:solidFill>
                  <a:srgbClr val="A7A9AC"/>
                </a:solidFill>
                <a:latin typeface="Carlito"/>
                <a:ea typeface="Carlito"/>
                <a:cs typeface="Carlito"/>
              </a:defRPr>
            </a:lvl6pPr>
            <a:lvl7pPr algn="l">
              <a:defRPr sz="1700" b="1" i="0">
                <a:solidFill>
                  <a:srgbClr val="A7A9AC"/>
                </a:solidFill>
                <a:latin typeface="Carlito"/>
                <a:ea typeface="Carlito"/>
                <a:cs typeface="Carlito"/>
              </a:defRPr>
            </a:lvl7pPr>
            <a:lvl8pPr algn="l">
              <a:defRPr sz="1700" b="1" i="0">
                <a:solidFill>
                  <a:srgbClr val="A7A9AC"/>
                </a:solidFill>
                <a:latin typeface="Carlito"/>
                <a:ea typeface="Carlito"/>
                <a:cs typeface="Carlito"/>
              </a:defRPr>
            </a:lvl8pPr>
            <a:lvl9pPr algn="l">
              <a:defRPr sz="1700" b="1" i="0">
                <a:solidFill>
                  <a:srgbClr val="A7A9AC"/>
                </a:solidFill>
                <a:latin typeface="Carlito"/>
                <a:ea typeface="Carlito"/>
                <a:cs typeface="Carlito"/>
              </a:defRPr>
            </a:lvl9pPr>
          </a:lstStyle>
          <a:p>
            <a:pPr algn="l">
              <a:defRPr sz="1700" b="1" i="0">
                <a:solidFill>
                  <a:srgbClr val="A7A9AC"/>
                </a:solidFill>
                <a:latin typeface="Carlito"/>
                <a:ea typeface="Carlito"/>
                <a:cs typeface="Carlito"/>
              </a:defRPr>
            </a:pPr>
            <a:r>
              <a:rPr sz="1700" b="1" i="0">
                <a:solidFill>
                  <a:srgbClr val="A7A9AC"/>
                </a:solidFill>
                <a:latin typeface="Carlito"/>
                <a:ea typeface="Carlito"/>
                <a:cs typeface="Carlito"/>
              </a:rPr>
              <a:t>02</a:t>
            </a:r>
          </a:p>
        </p:txBody>
      </p:sp>
      <p:sp>
        <p:nvSpPr>
          <p:cNvPr id="8" name="Rectangle 7">
            <a:extLst>
              <a:ext uri="{FF2B5EF4-FFF2-40B4-BE49-F238E27FC236}">
                <a16:creationId xmlns:a16="http://schemas.microsoft.com/office/drawing/2014/main" id="{1E0595AA-88CC-4ACE-AD94-015F88BE6524}"/>
              </a:ext>
            </a:extLst>
          </p:cNvPr>
          <p:cNvSpPr>
            <a:spLocks noGrp="1"/>
          </p:cNvSpPr>
          <p:nvPr/>
        </p:nvSpPr>
        <p:spPr>
          <a:xfrm>
            <a:off x="1257300" y="2857500"/>
            <a:ext cx="3714750" cy="323850"/>
          </a:xfrm>
          <a:prstGeom prst="rect">
            <a:avLst/>
          </a:prstGeom>
          <a:noFill/>
          <a:ln w="0">
            <a:noFill/>
            <a:prstDash val="solid"/>
          </a:ln>
        </p:spPr>
        <p:txBody>
          <a:bodyPr wrap="square" lIns="0" tIns="0" rIns="0" bIns="0" anchor="t">
            <a:normAutofit/>
          </a:bodyPr>
          <a:lstStyle>
            <a:defPPr algn="l">
              <a:defRPr sz="1900" b="1" i="0">
                <a:solidFill>
                  <a:srgbClr val="FFFFFF"/>
                </a:solidFill>
                <a:latin typeface="Carlito"/>
                <a:ea typeface="Carlito"/>
                <a:cs typeface="Carlito"/>
              </a:defRPr>
            </a:defPPr>
            <a:lvl1pPr algn="l">
              <a:defRPr sz="1900" b="1" i="0">
                <a:solidFill>
                  <a:srgbClr val="FFFFFF"/>
                </a:solidFill>
                <a:latin typeface="Carlito"/>
                <a:ea typeface="Carlito"/>
                <a:cs typeface="Carlito"/>
              </a:defRPr>
            </a:lvl1pPr>
            <a:lvl2pPr algn="l">
              <a:defRPr sz="1900" b="1" i="0">
                <a:solidFill>
                  <a:srgbClr val="FFFFFF"/>
                </a:solidFill>
                <a:latin typeface="Carlito"/>
                <a:ea typeface="Carlito"/>
                <a:cs typeface="Carlito"/>
              </a:defRPr>
            </a:lvl2pPr>
            <a:lvl3pPr algn="l">
              <a:defRPr sz="1900" b="1" i="0">
                <a:solidFill>
                  <a:srgbClr val="FFFFFF"/>
                </a:solidFill>
                <a:latin typeface="Carlito"/>
                <a:ea typeface="Carlito"/>
                <a:cs typeface="Carlito"/>
              </a:defRPr>
            </a:lvl3pPr>
            <a:lvl4pPr algn="l">
              <a:defRPr sz="1900" b="1" i="0">
                <a:solidFill>
                  <a:srgbClr val="FFFFFF"/>
                </a:solidFill>
                <a:latin typeface="Carlito"/>
                <a:ea typeface="Carlito"/>
                <a:cs typeface="Carlito"/>
              </a:defRPr>
            </a:lvl4pPr>
            <a:lvl5pPr algn="l">
              <a:defRPr sz="1900" b="1" i="0">
                <a:solidFill>
                  <a:srgbClr val="FFFFFF"/>
                </a:solidFill>
                <a:latin typeface="Carlito"/>
                <a:ea typeface="Carlito"/>
                <a:cs typeface="Carlito"/>
              </a:defRPr>
            </a:lvl5pPr>
            <a:lvl6pPr algn="l">
              <a:defRPr sz="1900" b="1" i="0">
                <a:solidFill>
                  <a:srgbClr val="FFFFFF"/>
                </a:solidFill>
                <a:latin typeface="Carlito"/>
                <a:ea typeface="Carlito"/>
                <a:cs typeface="Carlito"/>
              </a:defRPr>
            </a:lvl6pPr>
            <a:lvl7pPr algn="l">
              <a:defRPr sz="1900" b="1" i="0">
                <a:solidFill>
                  <a:srgbClr val="FFFFFF"/>
                </a:solidFill>
                <a:latin typeface="Carlito"/>
                <a:ea typeface="Carlito"/>
                <a:cs typeface="Carlito"/>
              </a:defRPr>
            </a:lvl7pPr>
            <a:lvl8pPr algn="l">
              <a:defRPr sz="1900" b="1" i="0">
                <a:solidFill>
                  <a:srgbClr val="FFFFFF"/>
                </a:solidFill>
                <a:latin typeface="Carlito"/>
                <a:ea typeface="Carlito"/>
                <a:cs typeface="Carlito"/>
              </a:defRPr>
            </a:lvl8pPr>
            <a:lvl9pPr algn="l">
              <a:defRPr sz="1900" b="1" i="0">
                <a:solidFill>
                  <a:srgbClr val="FFFFFF"/>
                </a:solidFill>
                <a:latin typeface="Carlito"/>
                <a:ea typeface="Carlito"/>
                <a:cs typeface="Carlito"/>
              </a:defRPr>
            </a:lvl9pPr>
          </a:lstStyle>
          <a:p>
            <a:pPr algn="l">
              <a:defRPr sz="1900" b="1" i="0">
                <a:solidFill>
                  <a:srgbClr val="FFFFFF"/>
                </a:solidFill>
                <a:latin typeface="Carlito"/>
                <a:ea typeface="Carlito"/>
                <a:cs typeface="Carlito"/>
              </a:defRPr>
            </a:pPr>
            <a:r>
              <a:rPr sz="1900" b="1" i="0">
                <a:solidFill>
                  <a:srgbClr val="FFFFFF"/>
                </a:solidFill>
                <a:latin typeface="Carlito"/>
                <a:ea typeface="Carlito"/>
                <a:cs typeface="Carlito"/>
              </a:rPr>
              <a:t>Tailor strategy by country</a:t>
            </a:r>
          </a:p>
        </p:txBody>
      </p:sp>
      <p:sp>
        <p:nvSpPr>
          <p:cNvPr id="9" name="Rectangle 8">
            <a:extLst>
              <a:ext uri="{FF2B5EF4-FFF2-40B4-BE49-F238E27FC236}">
                <a16:creationId xmlns:a16="http://schemas.microsoft.com/office/drawing/2014/main" id="{8E4C10E5-3EA0-40B6-BD4A-2AE4D5A13D8B}"/>
              </a:ext>
            </a:extLst>
          </p:cNvPr>
          <p:cNvSpPr>
            <a:spLocks noGrp="1"/>
          </p:cNvSpPr>
          <p:nvPr/>
        </p:nvSpPr>
        <p:spPr>
          <a:xfrm>
            <a:off x="1257300" y="3267075"/>
            <a:ext cx="5334000" cy="628650"/>
          </a:xfrm>
          <a:prstGeom prst="rect">
            <a:avLst/>
          </a:prstGeom>
          <a:noFill/>
          <a:ln w="0">
            <a:noFill/>
            <a:prstDash val="solid"/>
          </a:ln>
        </p:spPr>
        <p:txBody>
          <a:bodyPr wrap="square" lIns="0" tIns="0" rIns="0" bIns="0" anchor="t">
            <a:normAutofit/>
          </a:bodyPr>
          <a:lstStyle>
            <a:defPPr algn="l">
              <a:defRPr sz="1500" b="0" i="0">
                <a:solidFill>
                  <a:srgbClr val="D9E2EC"/>
                </a:solidFill>
                <a:latin typeface="Carlito"/>
                <a:ea typeface="Carlito"/>
                <a:cs typeface="Carlito"/>
              </a:defRPr>
            </a:defPPr>
            <a:lvl1pPr algn="l">
              <a:defRPr sz="1500" b="0" i="0">
                <a:solidFill>
                  <a:srgbClr val="D9E2EC"/>
                </a:solidFill>
                <a:latin typeface="Carlito"/>
                <a:ea typeface="Carlito"/>
                <a:cs typeface="Carlito"/>
              </a:defRPr>
            </a:lvl1pPr>
            <a:lvl2pPr algn="l">
              <a:defRPr sz="1500" b="0" i="0">
                <a:solidFill>
                  <a:srgbClr val="D9E2EC"/>
                </a:solidFill>
                <a:latin typeface="Carlito"/>
                <a:ea typeface="Carlito"/>
                <a:cs typeface="Carlito"/>
              </a:defRPr>
            </a:lvl2pPr>
            <a:lvl3pPr algn="l">
              <a:defRPr sz="1500" b="0" i="0">
                <a:solidFill>
                  <a:srgbClr val="D9E2EC"/>
                </a:solidFill>
                <a:latin typeface="Carlito"/>
                <a:ea typeface="Carlito"/>
                <a:cs typeface="Carlito"/>
              </a:defRPr>
            </a:lvl3pPr>
            <a:lvl4pPr algn="l">
              <a:defRPr sz="1500" b="0" i="0">
                <a:solidFill>
                  <a:srgbClr val="D9E2EC"/>
                </a:solidFill>
                <a:latin typeface="Carlito"/>
                <a:ea typeface="Carlito"/>
                <a:cs typeface="Carlito"/>
              </a:defRPr>
            </a:lvl4pPr>
            <a:lvl5pPr algn="l">
              <a:defRPr sz="1500" b="0" i="0">
                <a:solidFill>
                  <a:srgbClr val="D9E2EC"/>
                </a:solidFill>
                <a:latin typeface="Carlito"/>
                <a:ea typeface="Carlito"/>
                <a:cs typeface="Carlito"/>
              </a:defRPr>
            </a:lvl5pPr>
            <a:lvl6pPr algn="l">
              <a:defRPr sz="1500" b="0" i="0">
                <a:solidFill>
                  <a:srgbClr val="D9E2EC"/>
                </a:solidFill>
                <a:latin typeface="Carlito"/>
                <a:ea typeface="Carlito"/>
                <a:cs typeface="Carlito"/>
              </a:defRPr>
            </a:lvl6pPr>
            <a:lvl7pPr algn="l">
              <a:defRPr sz="1500" b="0" i="0">
                <a:solidFill>
                  <a:srgbClr val="D9E2EC"/>
                </a:solidFill>
                <a:latin typeface="Carlito"/>
                <a:ea typeface="Carlito"/>
                <a:cs typeface="Carlito"/>
              </a:defRPr>
            </a:lvl7pPr>
            <a:lvl8pPr algn="l">
              <a:defRPr sz="1500" b="0" i="0">
                <a:solidFill>
                  <a:srgbClr val="D9E2EC"/>
                </a:solidFill>
                <a:latin typeface="Carlito"/>
                <a:ea typeface="Carlito"/>
                <a:cs typeface="Carlito"/>
              </a:defRPr>
            </a:lvl8pPr>
            <a:lvl9pPr algn="l">
              <a:defRPr sz="1500" b="0" i="0">
                <a:solidFill>
                  <a:srgbClr val="D9E2EC"/>
                </a:solidFill>
                <a:latin typeface="Carlito"/>
                <a:ea typeface="Carlito"/>
                <a:cs typeface="Carlito"/>
              </a:defRPr>
            </a:lvl9pPr>
          </a:lstStyle>
          <a:p>
            <a:pPr algn="l">
              <a:defRPr sz="1500" b="0" i="0">
                <a:solidFill>
                  <a:srgbClr val="D9E2EC"/>
                </a:solidFill>
                <a:latin typeface="Carlito"/>
                <a:ea typeface="Carlito"/>
                <a:cs typeface="Carlito"/>
              </a:defRPr>
            </a:pPr>
            <a:r>
              <a:rPr sz="1500" b="0" i="0">
                <a:solidFill>
                  <a:srgbClr val="D9E2EC"/>
                </a:solidFill>
                <a:latin typeface="Carlito"/>
                <a:ea typeface="Carlito"/>
                <a:cs typeface="Carlito"/>
              </a:rPr>
              <a:t>Use each country’s sport profile and medal yield to prioritise detailed reviews instead of applying one regional programme.</a:t>
            </a:r>
          </a:p>
        </p:txBody>
      </p:sp>
      <p:sp>
        <p:nvSpPr>
          <p:cNvPr id="10" name="Rectangle 9">
            <a:extLst>
              <a:ext uri="{FF2B5EF4-FFF2-40B4-BE49-F238E27FC236}">
                <a16:creationId xmlns:a16="http://schemas.microsoft.com/office/drawing/2014/main" id="{082A8D22-F822-4D63-B582-D8FFC6EDBBD5}"/>
              </a:ext>
            </a:extLst>
          </p:cNvPr>
          <p:cNvSpPr>
            <a:spLocks noGrp="1"/>
          </p:cNvSpPr>
          <p:nvPr/>
        </p:nvSpPr>
        <p:spPr>
          <a:xfrm>
            <a:off x="628650" y="4038600"/>
            <a:ext cx="495300" cy="361950"/>
          </a:xfrm>
          <a:prstGeom prst="rect">
            <a:avLst/>
          </a:prstGeom>
          <a:noFill/>
          <a:ln w="0">
            <a:noFill/>
            <a:prstDash val="solid"/>
          </a:ln>
        </p:spPr>
        <p:txBody>
          <a:bodyPr wrap="square" lIns="0" tIns="0" rIns="0" bIns="0" anchor="t">
            <a:normAutofit/>
          </a:bodyPr>
          <a:lstStyle>
            <a:defPPr algn="l">
              <a:defRPr sz="1700" b="1" i="0">
                <a:solidFill>
                  <a:srgbClr val="CD7F32"/>
                </a:solidFill>
                <a:latin typeface="Carlito"/>
                <a:ea typeface="Carlito"/>
                <a:cs typeface="Carlito"/>
              </a:defRPr>
            </a:defPPr>
            <a:lvl1pPr algn="l">
              <a:defRPr sz="1700" b="1" i="0">
                <a:solidFill>
                  <a:srgbClr val="CD7F32"/>
                </a:solidFill>
                <a:latin typeface="Carlito"/>
                <a:ea typeface="Carlito"/>
                <a:cs typeface="Carlito"/>
              </a:defRPr>
            </a:lvl1pPr>
            <a:lvl2pPr algn="l">
              <a:defRPr sz="1700" b="1" i="0">
                <a:solidFill>
                  <a:srgbClr val="CD7F32"/>
                </a:solidFill>
                <a:latin typeface="Carlito"/>
                <a:ea typeface="Carlito"/>
                <a:cs typeface="Carlito"/>
              </a:defRPr>
            </a:lvl2pPr>
            <a:lvl3pPr algn="l">
              <a:defRPr sz="1700" b="1" i="0">
                <a:solidFill>
                  <a:srgbClr val="CD7F32"/>
                </a:solidFill>
                <a:latin typeface="Carlito"/>
                <a:ea typeface="Carlito"/>
                <a:cs typeface="Carlito"/>
              </a:defRPr>
            </a:lvl3pPr>
            <a:lvl4pPr algn="l">
              <a:defRPr sz="1700" b="1" i="0">
                <a:solidFill>
                  <a:srgbClr val="CD7F32"/>
                </a:solidFill>
                <a:latin typeface="Carlito"/>
                <a:ea typeface="Carlito"/>
                <a:cs typeface="Carlito"/>
              </a:defRPr>
            </a:lvl4pPr>
            <a:lvl5pPr algn="l">
              <a:defRPr sz="1700" b="1" i="0">
                <a:solidFill>
                  <a:srgbClr val="CD7F32"/>
                </a:solidFill>
                <a:latin typeface="Carlito"/>
                <a:ea typeface="Carlito"/>
                <a:cs typeface="Carlito"/>
              </a:defRPr>
            </a:lvl5pPr>
            <a:lvl6pPr algn="l">
              <a:defRPr sz="1700" b="1" i="0">
                <a:solidFill>
                  <a:srgbClr val="CD7F32"/>
                </a:solidFill>
                <a:latin typeface="Carlito"/>
                <a:ea typeface="Carlito"/>
                <a:cs typeface="Carlito"/>
              </a:defRPr>
            </a:lvl6pPr>
            <a:lvl7pPr algn="l">
              <a:defRPr sz="1700" b="1" i="0">
                <a:solidFill>
                  <a:srgbClr val="CD7F32"/>
                </a:solidFill>
                <a:latin typeface="Carlito"/>
                <a:ea typeface="Carlito"/>
                <a:cs typeface="Carlito"/>
              </a:defRPr>
            </a:lvl7pPr>
            <a:lvl8pPr algn="l">
              <a:defRPr sz="1700" b="1" i="0">
                <a:solidFill>
                  <a:srgbClr val="CD7F32"/>
                </a:solidFill>
                <a:latin typeface="Carlito"/>
                <a:ea typeface="Carlito"/>
                <a:cs typeface="Carlito"/>
              </a:defRPr>
            </a:lvl8pPr>
            <a:lvl9pPr algn="l">
              <a:defRPr sz="1700" b="1" i="0">
                <a:solidFill>
                  <a:srgbClr val="CD7F32"/>
                </a:solidFill>
                <a:latin typeface="Carlito"/>
                <a:ea typeface="Carlito"/>
                <a:cs typeface="Carlito"/>
              </a:defRPr>
            </a:lvl9pPr>
          </a:lstStyle>
          <a:p>
            <a:pPr algn="l">
              <a:defRPr sz="1700" b="1" i="0">
                <a:solidFill>
                  <a:srgbClr val="CD7F32"/>
                </a:solidFill>
                <a:latin typeface="Carlito"/>
                <a:ea typeface="Carlito"/>
                <a:cs typeface="Carlito"/>
              </a:defRPr>
            </a:pPr>
            <a:r>
              <a:rPr sz="1700" b="1" i="0">
                <a:solidFill>
                  <a:srgbClr val="CD7F32"/>
                </a:solidFill>
                <a:latin typeface="Carlito"/>
                <a:ea typeface="Carlito"/>
                <a:cs typeface="Carlito"/>
              </a:rPr>
              <a:t>03</a:t>
            </a:r>
          </a:p>
        </p:txBody>
      </p:sp>
      <p:sp>
        <p:nvSpPr>
          <p:cNvPr id="11" name="Rectangle 10">
            <a:extLst>
              <a:ext uri="{FF2B5EF4-FFF2-40B4-BE49-F238E27FC236}">
                <a16:creationId xmlns:a16="http://schemas.microsoft.com/office/drawing/2014/main" id="{20F11D52-1A0A-491A-A511-AC2B9CF8F58E}"/>
              </a:ext>
            </a:extLst>
          </p:cNvPr>
          <p:cNvSpPr>
            <a:spLocks noGrp="1"/>
          </p:cNvSpPr>
          <p:nvPr/>
        </p:nvSpPr>
        <p:spPr>
          <a:xfrm>
            <a:off x="1257300" y="4019550"/>
            <a:ext cx="3714750" cy="323850"/>
          </a:xfrm>
          <a:prstGeom prst="rect">
            <a:avLst/>
          </a:prstGeom>
          <a:noFill/>
          <a:ln w="0">
            <a:noFill/>
            <a:prstDash val="solid"/>
          </a:ln>
        </p:spPr>
        <p:txBody>
          <a:bodyPr wrap="square" lIns="0" tIns="0" rIns="0" bIns="0" anchor="t">
            <a:normAutofit fontScale="92062"/>
          </a:bodyPr>
          <a:lstStyle>
            <a:defPPr algn="l">
              <a:defRPr sz="1900" b="1" i="0">
                <a:solidFill>
                  <a:srgbClr val="FFFFFF"/>
                </a:solidFill>
                <a:latin typeface="Carlito"/>
                <a:ea typeface="Carlito"/>
                <a:cs typeface="Carlito"/>
              </a:defRPr>
            </a:defPPr>
            <a:lvl1pPr algn="l">
              <a:defRPr sz="1900" b="1" i="0">
                <a:solidFill>
                  <a:srgbClr val="FFFFFF"/>
                </a:solidFill>
                <a:latin typeface="Carlito"/>
                <a:ea typeface="Carlito"/>
                <a:cs typeface="Carlito"/>
              </a:defRPr>
            </a:lvl1pPr>
            <a:lvl2pPr algn="l">
              <a:defRPr sz="1900" b="1" i="0">
                <a:solidFill>
                  <a:srgbClr val="FFFFFF"/>
                </a:solidFill>
                <a:latin typeface="Carlito"/>
                <a:ea typeface="Carlito"/>
                <a:cs typeface="Carlito"/>
              </a:defRPr>
            </a:lvl2pPr>
            <a:lvl3pPr algn="l">
              <a:defRPr sz="1900" b="1" i="0">
                <a:solidFill>
                  <a:srgbClr val="FFFFFF"/>
                </a:solidFill>
                <a:latin typeface="Carlito"/>
                <a:ea typeface="Carlito"/>
                <a:cs typeface="Carlito"/>
              </a:defRPr>
            </a:lvl3pPr>
            <a:lvl4pPr algn="l">
              <a:defRPr sz="1900" b="1" i="0">
                <a:solidFill>
                  <a:srgbClr val="FFFFFF"/>
                </a:solidFill>
                <a:latin typeface="Carlito"/>
                <a:ea typeface="Carlito"/>
                <a:cs typeface="Carlito"/>
              </a:defRPr>
            </a:lvl4pPr>
            <a:lvl5pPr algn="l">
              <a:defRPr sz="1900" b="1" i="0">
                <a:solidFill>
                  <a:srgbClr val="FFFFFF"/>
                </a:solidFill>
                <a:latin typeface="Carlito"/>
                <a:ea typeface="Carlito"/>
                <a:cs typeface="Carlito"/>
              </a:defRPr>
            </a:lvl5pPr>
            <a:lvl6pPr algn="l">
              <a:defRPr sz="1900" b="1" i="0">
                <a:solidFill>
                  <a:srgbClr val="FFFFFF"/>
                </a:solidFill>
                <a:latin typeface="Carlito"/>
                <a:ea typeface="Carlito"/>
                <a:cs typeface="Carlito"/>
              </a:defRPr>
            </a:lvl6pPr>
            <a:lvl7pPr algn="l">
              <a:defRPr sz="1900" b="1" i="0">
                <a:solidFill>
                  <a:srgbClr val="FFFFFF"/>
                </a:solidFill>
                <a:latin typeface="Carlito"/>
                <a:ea typeface="Carlito"/>
                <a:cs typeface="Carlito"/>
              </a:defRPr>
            </a:lvl7pPr>
            <a:lvl8pPr algn="l">
              <a:defRPr sz="1900" b="1" i="0">
                <a:solidFill>
                  <a:srgbClr val="FFFFFF"/>
                </a:solidFill>
                <a:latin typeface="Carlito"/>
                <a:ea typeface="Carlito"/>
                <a:cs typeface="Carlito"/>
              </a:defRPr>
            </a:lvl8pPr>
            <a:lvl9pPr algn="l">
              <a:defRPr sz="1900" b="1" i="0">
                <a:solidFill>
                  <a:srgbClr val="FFFFFF"/>
                </a:solidFill>
                <a:latin typeface="Carlito"/>
                <a:ea typeface="Carlito"/>
                <a:cs typeface="Carlito"/>
              </a:defRPr>
            </a:lvl9pPr>
          </a:lstStyle>
          <a:p>
            <a:pPr algn="l">
              <a:defRPr sz="1900" b="1" i="0">
                <a:solidFill>
                  <a:srgbClr val="FFFFFF"/>
                </a:solidFill>
                <a:latin typeface="Carlito"/>
                <a:ea typeface="Carlito"/>
                <a:cs typeface="Carlito"/>
              </a:defRPr>
            </a:pPr>
            <a:r>
              <a:rPr sz="1900" b="1" i="0">
                <a:solidFill>
                  <a:srgbClr val="FFFFFF"/>
                </a:solidFill>
                <a:latin typeface="Carlito"/>
                <a:ea typeface="Carlito"/>
                <a:cs typeface="Carlito"/>
              </a:rPr>
              <a:t>Track performance by Olympic edition</a:t>
            </a:r>
          </a:p>
        </p:txBody>
      </p:sp>
      <p:sp>
        <p:nvSpPr>
          <p:cNvPr id="12" name="Rectangle 11">
            <a:extLst>
              <a:ext uri="{FF2B5EF4-FFF2-40B4-BE49-F238E27FC236}">
                <a16:creationId xmlns:a16="http://schemas.microsoft.com/office/drawing/2014/main" id="{915CE446-6C23-43B4-B8E4-923E062F7C4A}"/>
              </a:ext>
            </a:extLst>
          </p:cNvPr>
          <p:cNvSpPr>
            <a:spLocks noGrp="1"/>
          </p:cNvSpPr>
          <p:nvPr/>
        </p:nvSpPr>
        <p:spPr>
          <a:xfrm>
            <a:off x="1257300" y="4429125"/>
            <a:ext cx="5334000" cy="628650"/>
          </a:xfrm>
          <a:prstGeom prst="rect">
            <a:avLst/>
          </a:prstGeom>
          <a:noFill/>
          <a:ln w="0">
            <a:noFill/>
            <a:prstDash val="solid"/>
          </a:ln>
        </p:spPr>
        <p:txBody>
          <a:bodyPr wrap="square" lIns="0" tIns="0" rIns="0" bIns="0" anchor="t">
            <a:normAutofit/>
          </a:bodyPr>
          <a:lstStyle>
            <a:defPPr algn="l">
              <a:defRPr sz="1500" b="0" i="0">
                <a:solidFill>
                  <a:srgbClr val="D9E2EC"/>
                </a:solidFill>
                <a:latin typeface="Carlito"/>
                <a:ea typeface="Carlito"/>
                <a:cs typeface="Carlito"/>
              </a:defRPr>
            </a:defPPr>
            <a:lvl1pPr algn="l">
              <a:defRPr sz="1500" b="0" i="0">
                <a:solidFill>
                  <a:srgbClr val="D9E2EC"/>
                </a:solidFill>
                <a:latin typeface="Carlito"/>
                <a:ea typeface="Carlito"/>
                <a:cs typeface="Carlito"/>
              </a:defRPr>
            </a:lvl1pPr>
            <a:lvl2pPr algn="l">
              <a:defRPr sz="1500" b="0" i="0">
                <a:solidFill>
                  <a:srgbClr val="D9E2EC"/>
                </a:solidFill>
                <a:latin typeface="Carlito"/>
                <a:ea typeface="Carlito"/>
                <a:cs typeface="Carlito"/>
              </a:defRPr>
            </a:lvl2pPr>
            <a:lvl3pPr algn="l">
              <a:defRPr sz="1500" b="0" i="0">
                <a:solidFill>
                  <a:srgbClr val="D9E2EC"/>
                </a:solidFill>
                <a:latin typeface="Carlito"/>
                <a:ea typeface="Carlito"/>
                <a:cs typeface="Carlito"/>
              </a:defRPr>
            </a:lvl3pPr>
            <a:lvl4pPr algn="l">
              <a:defRPr sz="1500" b="0" i="0">
                <a:solidFill>
                  <a:srgbClr val="D9E2EC"/>
                </a:solidFill>
                <a:latin typeface="Carlito"/>
                <a:ea typeface="Carlito"/>
                <a:cs typeface="Carlito"/>
              </a:defRPr>
            </a:lvl4pPr>
            <a:lvl5pPr algn="l">
              <a:defRPr sz="1500" b="0" i="0">
                <a:solidFill>
                  <a:srgbClr val="D9E2EC"/>
                </a:solidFill>
                <a:latin typeface="Carlito"/>
                <a:ea typeface="Carlito"/>
                <a:cs typeface="Carlito"/>
              </a:defRPr>
            </a:lvl5pPr>
            <a:lvl6pPr algn="l">
              <a:defRPr sz="1500" b="0" i="0">
                <a:solidFill>
                  <a:srgbClr val="D9E2EC"/>
                </a:solidFill>
                <a:latin typeface="Carlito"/>
                <a:ea typeface="Carlito"/>
                <a:cs typeface="Carlito"/>
              </a:defRPr>
            </a:lvl6pPr>
            <a:lvl7pPr algn="l">
              <a:defRPr sz="1500" b="0" i="0">
                <a:solidFill>
                  <a:srgbClr val="D9E2EC"/>
                </a:solidFill>
                <a:latin typeface="Carlito"/>
                <a:ea typeface="Carlito"/>
                <a:cs typeface="Carlito"/>
              </a:defRPr>
            </a:lvl7pPr>
            <a:lvl8pPr algn="l">
              <a:defRPr sz="1500" b="0" i="0">
                <a:solidFill>
                  <a:srgbClr val="D9E2EC"/>
                </a:solidFill>
                <a:latin typeface="Carlito"/>
                <a:ea typeface="Carlito"/>
                <a:cs typeface="Carlito"/>
              </a:defRPr>
            </a:lvl8pPr>
            <a:lvl9pPr algn="l">
              <a:defRPr sz="1500" b="0" i="0">
                <a:solidFill>
                  <a:srgbClr val="D9E2EC"/>
                </a:solidFill>
                <a:latin typeface="Carlito"/>
                <a:ea typeface="Carlito"/>
                <a:cs typeface="Carlito"/>
              </a:defRPr>
            </a:lvl9pPr>
          </a:lstStyle>
          <a:p>
            <a:pPr algn="l">
              <a:defRPr sz="1500" b="0" i="0">
                <a:solidFill>
                  <a:srgbClr val="D9E2EC"/>
                </a:solidFill>
                <a:latin typeface="Carlito"/>
                <a:ea typeface="Carlito"/>
                <a:cs typeface="Carlito"/>
              </a:defRPr>
            </a:pPr>
            <a:r>
              <a:rPr sz="1500" b="0" i="0">
                <a:solidFill>
                  <a:srgbClr val="D9E2EC"/>
                </a:solidFill>
                <a:latin typeface="Carlito"/>
                <a:ea typeface="Carlito"/>
                <a:cs typeface="Carlito"/>
              </a:rPr>
              <a:t>Monitor participation, gender representation, official medals and medals per 100 participations using the same definitions.</a:t>
            </a:r>
          </a:p>
        </p:txBody>
      </p:sp>
      <p:sp>
        <p:nvSpPr>
          <p:cNvPr id="13" name="Rectangle 12">
            <a:extLst>
              <a:ext uri="{FF2B5EF4-FFF2-40B4-BE49-F238E27FC236}">
                <a16:creationId xmlns:a16="http://schemas.microsoft.com/office/drawing/2014/main" id="{80D95D8F-FEEE-4AE1-8490-43C989E5A789}"/>
              </a:ext>
            </a:extLst>
          </p:cNvPr>
          <p:cNvSpPr>
            <a:spLocks noGrp="1"/>
          </p:cNvSpPr>
          <p:nvPr/>
        </p:nvSpPr>
        <p:spPr>
          <a:xfrm>
            <a:off x="7524750" y="1771650"/>
            <a:ext cx="3143250" cy="333375"/>
          </a:xfrm>
          <a:prstGeom prst="rect">
            <a:avLst/>
          </a:prstGeom>
          <a:noFill/>
          <a:ln w="0">
            <a:noFill/>
            <a:prstDash val="solid"/>
          </a:ln>
        </p:spPr>
        <p:txBody>
          <a:bodyPr wrap="square" lIns="0" tIns="0" rIns="0" bIns="0" anchor="t">
            <a:normAutofit/>
          </a:bodyPr>
          <a:lstStyle>
            <a:defPPr algn="l">
              <a:defRPr sz="2000" b="1" i="0">
                <a:solidFill>
                  <a:srgbClr val="D4AF37"/>
                </a:solidFill>
                <a:latin typeface="Carlito"/>
                <a:ea typeface="Carlito"/>
                <a:cs typeface="Carlito"/>
              </a:defRPr>
            </a:defPPr>
            <a:lvl1pPr algn="l">
              <a:defRPr sz="2000" b="1" i="0">
                <a:solidFill>
                  <a:srgbClr val="D4AF37"/>
                </a:solidFill>
                <a:latin typeface="Carlito"/>
                <a:ea typeface="Carlito"/>
                <a:cs typeface="Carlito"/>
              </a:defRPr>
            </a:lvl1pPr>
            <a:lvl2pPr algn="l">
              <a:defRPr sz="2000" b="1" i="0">
                <a:solidFill>
                  <a:srgbClr val="D4AF37"/>
                </a:solidFill>
                <a:latin typeface="Carlito"/>
                <a:ea typeface="Carlito"/>
                <a:cs typeface="Carlito"/>
              </a:defRPr>
            </a:lvl2pPr>
            <a:lvl3pPr algn="l">
              <a:defRPr sz="2000" b="1" i="0">
                <a:solidFill>
                  <a:srgbClr val="D4AF37"/>
                </a:solidFill>
                <a:latin typeface="Carlito"/>
                <a:ea typeface="Carlito"/>
                <a:cs typeface="Carlito"/>
              </a:defRPr>
            </a:lvl3pPr>
            <a:lvl4pPr algn="l">
              <a:defRPr sz="2000" b="1" i="0">
                <a:solidFill>
                  <a:srgbClr val="D4AF37"/>
                </a:solidFill>
                <a:latin typeface="Carlito"/>
                <a:ea typeface="Carlito"/>
                <a:cs typeface="Carlito"/>
              </a:defRPr>
            </a:lvl4pPr>
            <a:lvl5pPr algn="l">
              <a:defRPr sz="2000" b="1" i="0">
                <a:solidFill>
                  <a:srgbClr val="D4AF37"/>
                </a:solidFill>
                <a:latin typeface="Carlito"/>
                <a:ea typeface="Carlito"/>
                <a:cs typeface="Carlito"/>
              </a:defRPr>
            </a:lvl5pPr>
            <a:lvl6pPr algn="l">
              <a:defRPr sz="2000" b="1" i="0">
                <a:solidFill>
                  <a:srgbClr val="D4AF37"/>
                </a:solidFill>
                <a:latin typeface="Carlito"/>
                <a:ea typeface="Carlito"/>
                <a:cs typeface="Carlito"/>
              </a:defRPr>
            </a:lvl6pPr>
            <a:lvl7pPr algn="l">
              <a:defRPr sz="2000" b="1" i="0">
                <a:solidFill>
                  <a:srgbClr val="D4AF37"/>
                </a:solidFill>
                <a:latin typeface="Carlito"/>
                <a:ea typeface="Carlito"/>
                <a:cs typeface="Carlito"/>
              </a:defRPr>
            </a:lvl7pPr>
            <a:lvl8pPr algn="l">
              <a:defRPr sz="2000" b="1" i="0">
                <a:solidFill>
                  <a:srgbClr val="D4AF37"/>
                </a:solidFill>
                <a:latin typeface="Carlito"/>
                <a:ea typeface="Carlito"/>
                <a:cs typeface="Carlito"/>
              </a:defRPr>
            </a:lvl8pPr>
            <a:lvl9pPr algn="l">
              <a:defRPr sz="2000" b="1" i="0">
                <a:solidFill>
                  <a:srgbClr val="D4AF37"/>
                </a:solidFill>
                <a:latin typeface="Carlito"/>
                <a:ea typeface="Carlito"/>
                <a:cs typeface="Carlito"/>
              </a:defRPr>
            </a:lvl9pPr>
          </a:lstStyle>
          <a:p>
            <a:pPr algn="l">
              <a:defRPr sz="2000" b="1" i="0">
                <a:solidFill>
                  <a:srgbClr val="D4AF37"/>
                </a:solidFill>
                <a:latin typeface="Carlito"/>
                <a:ea typeface="Carlito"/>
                <a:cs typeface="Carlito"/>
              </a:defRPr>
            </a:pPr>
            <a:r>
              <a:rPr sz="2000" b="1" i="0">
                <a:solidFill>
                  <a:srgbClr val="D4AF37"/>
                </a:solidFill>
                <a:latin typeface="Carlito"/>
                <a:ea typeface="Carlito"/>
                <a:cs typeface="Carlito"/>
              </a:rPr>
              <a:t>Limitations</a:t>
            </a:r>
          </a:p>
        </p:txBody>
      </p:sp>
      <p:sp>
        <p:nvSpPr>
          <p:cNvPr id="14" name="Rectangle 13">
            <a:extLst>
              <a:ext uri="{FF2B5EF4-FFF2-40B4-BE49-F238E27FC236}">
                <a16:creationId xmlns:a16="http://schemas.microsoft.com/office/drawing/2014/main" id="{CF9FB482-0491-4A03-BFB8-B0B2210CBC55}"/>
              </a:ext>
            </a:extLst>
          </p:cNvPr>
          <p:cNvSpPr>
            <a:spLocks noGrp="1"/>
          </p:cNvSpPr>
          <p:nvPr/>
        </p:nvSpPr>
        <p:spPr>
          <a:xfrm>
            <a:off x="7524750" y="2305050"/>
            <a:ext cx="171450" cy="361950"/>
          </a:xfrm>
          <a:prstGeom prst="rect">
            <a:avLst/>
          </a:prstGeom>
          <a:noFill/>
          <a:ln w="0">
            <a:noFill/>
            <a:prstDash val="solid"/>
          </a:ln>
        </p:spPr>
        <p:txBody>
          <a:bodyPr wrap="square" lIns="0" tIns="0" rIns="0" bIns="0" anchor="t">
            <a:normAutofit/>
          </a:bodyPr>
          <a:lstStyle>
            <a:defPPr algn="l">
              <a:defRPr sz="1500" b="1" i="0">
                <a:solidFill>
                  <a:srgbClr val="A7A9AC"/>
                </a:solidFill>
                <a:latin typeface="Carlito"/>
                <a:ea typeface="Carlito"/>
                <a:cs typeface="Carlito"/>
              </a:defRPr>
            </a:defPPr>
            <a:lvl1pPr algn="l">
              <a:defRPr sz="1500" b="1" i="0">
                <a:solidFill>
                  <a:srgbClr val="A7A9AC"/>
                </a:solidFill>
                <a:latin typeface="Carlito"/>
                <a:ea typeface="Carlito"/>
                <a:cs typeface="Carlito"/>
              </a:defRPr>
            </a:lvl1pPr>
            <a:lvl2pPr algn="l">
              <a:defRPr sz="1500" b="1" i="0">
                <a:solidFill>
                  <a:srgbClr val="A7A9AC"/>
                </a:solidFill>
                <a:latin typeface="Carlito"/>
                <a:ea typeface="Carlito"/>
                <a:cs typeface="Carlito"/>
              </a:defRPr>
            </a:lvl2pPr>
            <a:lvl3pPr algn="l">
              <a:defRPr sz="1500" b="1" i="0">
                <a:solidFill>
                  <a:srgbClr val="A7A9AC"/>
                </a:solidFill>
                <a:latin typeface="Carlito"/>
                <a:ea typeface="Carlito"/>
                <a:cs typeface="Carlito"/>
              </a:defRPr>
            </a:lvl3pPr>
            <a:lvl4pPr algn="l">
              <a:defRPr sz="1500" b="1" i="0">
                <a:solidFill>
                  <a:srgbClr val="A7A9AC"/>
                </a:solidFill>
                <a:latin typeface="Carlito"/>
                <a:ea typeface="Carlito"/>
                <a:cs typeface="Carlito"/>
              </a:defRPr>
            </a:lvl4pPr>
            <a:lvl5pPr algn="l">
              <a:defRPr sz="1500" b="1" i="0">
                <a:solidFill>
                  <a:srgbClr val="A7A9AC"/>
                </a:solidFill>
                <a:latin typeface="Carlito"/>
                <a:ea typeface="Carlito"/>
                <a:cs typeface="Carlito"/>
              </a:defRPr>
            </a:lvl5pPr>
            <a:lvl6pPr algn="l">
              <a:defRPr sz="1500" b="1" i="0">
                <a:solidFill>
                  <a:srgbClr val="A7A9AC"/>
                </a:solidFill>
                <a:latin typeface="Carlito"/>
                <a:ea typeface="Carlito"/>
                <a:cs typeface="Carlito"/>
              </a:defRPr>
            </a:lvl6pPr>
            <a:lvl7pPr algn="l">
              <a:defRPr sz="1500" b="1" i="0">
                <a:solidFill>
                  <a:srgbClr val="A7A9AC"/>
                </a:solidFill>
                <a:latin typeface="Carlito"/>
                <a:ea typeface="Carlito"/>
                <a:cs typeface="Carlito"/>
              </a:defRPr>
            </a:lvl7pPr>
            <a:lvl8pPr algn="l">
              <a:defRPr sz="1500" b="1" i="0">
                <a:solidFill>
                  <a:srgbClr val="A7A9AC"/>
                </a:solidFill>
                <a:latin typeface="Carlito"/>
                <a:ea typeface="Carlito"/>
                <a:cs typeface="Carlito"/>
              </a:defRPr>
            </a:lvl8pPr>
            <a:lvl9pPr algn="l">
              <a:defRPr sz="1500" b="1" i="0">
                <a:solidFill>
                  <a:srgbClr val="A7A9AC"/>
                </a:solidFill>
                <a:latin typeface="Carlito"/>
                <a:ea typeface="Carlito"/>
                <a:cs typeface="Carlito"/>
              </a:defRPr>
            </a:lvl9pPr>
          </a:lstStyle>
          <a:p>
            <a:pPr algn="l">
              <a:defRPr sz="1500" b="1" i="0">
                <a:solidFill>
                  <a:srgbClr val="A7A9AC"/>
                </a:solidFill>
                <a:latin typeface="Carlito"/>
                <a:ea typeface="Carlito"/>
                <a:cs typeface="Carlito"/>
              </a:defRPr>
            </a:pPr>
            <a:r>
              <a:rPr sz="1500" b="1" i="0">
                <a:solidFill>
                  <a:srgbClr val="A7A9AC"/>
                </a:solidFill>
                <a:latin typeface="Carlito"/>
                <a:ea typeface="Carlito"/>
                <a:cs typeface="Carlito"/>
              </a:rPr>
              <a:t>•</a:t>
            </a:r>
          </a:p>
        </p:txBody>
      </p:sp>
      <p:sp>
        <p:nvSpPr>
          <p:cNvPr id="15" name="Rectangle 14">
            <a:extLst>
              <a:ext uri="{FF2B5EF4-FFF2-40B4-BE49-F238E27FC236}">
                <a16:creationId xmlns:a16="http://schemas.microsoft.com/office/drawing/2014/main" id="{6166A077-4A1F-4E54-B619-06F49EFA07DB}"/>
              </a:ext>
            </a:extLst>
          </p:cNvPr>
          <p:cNvSpPr>
            <a:spLocks noGrp="1"/>
          </p:cNvSpPr>
          <p:nvPr/>
        </p:nvSpPr>
        <p:spPr>
          <a:xfrm>
            <a:off x="7753350" y="2305050"/>
            <a:ext cx="3581400" cy="361950"/>
          </a:xfrm>
          <a:prstGeom prst="rect">
            <a:avLst/>
          </a:prstGeom>
          <a:noFill/>
          <a:ln w="0">
            <a:noFill/>
            <a:prstDash val="solid"/>
          </a:ln>
        </p:spPr>
        <p:txBody>
          <a:bodyPr wrap="square" lIns="0" tIns="0" rIns="0" bIns="0" anchor="t">
            <a:normAutofit/>
          </a:bodyPr>
          <a:lstStyle>
            <a:defPPr algn="l">
              <a:defRPr sz="1500" b="0" i="0">
                <a:solidFill>
                  <a:srgbClr val="E2E9F0"/>
                </a:solidFill>
                <a:latin typeface="Carlito"/>
                <a:ea typeface="Carlito"/>
                <a:cs typeface="Carlito"/>
              </a:defRPr>
            </a:defPPr>
            <a:lvl1pPr algn="l">
              <a:defRPr sz="1500" b="0" i="0">
                <a:solidFill>
                  <a:srgbClr val="E2E9F0"/>
                </a:solidFill>
                <a:latin typeface="Carlito"/>
                <a:ea typeface="Carlito"/>
                <a:cs typeface="Carlito"/>
              </a:defRPr>
            </a:lvl1pPr>
            <a:lvl2pPr algn="l">
              <a:defRPr sz="1500" b="0" i="0">
                <a:solidFill>
                  <a:srgbClr val="E2E9F0"/>
                </a:solidFill>
                <a:latin typeface="Carlito"/>
                <a:ea typeface="Carlito"/>
                <a:cs typeface="Carlito"/>
              </a:defRPr>
            </a:lvl2pPr>
            <a:lvl3pPr algn="l">
              <a:defRPr sz="1500" b="0" i="0">
                <a:solidFill>
                  <a:srgbClr val="E2E9F0"/>
                </a:solidFill>
                <a:latin typeface="Carlito"/>
                <a:ea typeface="Carlito"/>
                <a:cs typeface="Carlito"/>
              </a:defRPr>
            </a:lvl3pPr>
            <a:lvl4pPr algn="l">
              <a:defRPr sz="1500" b="0" i="0">
                <a:solidFill>
                  <a:srgbClr val="E2E9F0"/>
                </a:solidFill>
                <a:latin typeface="Carlito"/>
                <a:ea typeface="Carlito"/>
                <a:cs typeface="Carlito"/>
              </a:defRPr>
            </a:lvl4pPr>
            <a:lvl5pPr algn="l">
              <a:defRPr sz="1500" b="0" i="0">
                <a:solidFill>
                  <a:srgbClr val="E2E9F0"/>
                </a:solidFill>
                <a:latin typeface="Carlito"/>
                <a:ea typeface="Carlito"/>
                <a:cs typeface="Carlito"/>
              </a:defRPr>
            </a:lvl5pPr>
            <a:lvl6pPr algn="l">
              <a:defRPr sz="1500" b="0" i="0">
                <a:solidFill>
                  <a:srgbClr val="E2E9F0"/>
                </a:solidFill>
                <a:latin typeface="Carlito"/>
                <a:ea typeface="Carlito"/>
                <a:cs typeface="Carlito"/>
              </a:defRPr>
            </a:lvl6pPr>
            <a:lvl7pPr algn="l">
              <a:defRPr sz="1500" b="0" i="0">
                <a:solidFill>
                  <a:srgbClr val="E2E9F0"/>
                </a:solidFill>
                <a:latin typeface="Carlito"/>
                <a:ea typeface="Carlito"/>
                <a:cs typeface="Carlito"/>
              </a:defRPr>
            </a:lvl7pPr>
            <a:lvl8pPr algn="l">
              <a:defRPr sz="1500" b="0" i="0">
                <a:solidFill>
                  <a:srgbClr val="E2E9F0"/>
                </a:solidFill>
                <a:latin typeface="Carlito"/>
                <a:ea typeface="Carlito"/>
                <a:cs typeface="Carlito"/>
              </a:defRPr>
            </a:lvl8pPr>
            <a:lvl9pPr algn="l">
              <a:defRPr sz="1500" b="0" i="0">
                <a:solidFill>
                  <a:srgbClr val="E2E9F0"/>
                </a:solidFill>
                <a:latin typeface="Carlito"/>
                <a:ea typeface="Carlito"/>
                <a:cs typeface="Carlito"/>
              </a:defRPr>
            </a:lvl9pPr>
          </a:lstStyle>
          <a:p>
            <a:pPr algn="l">
              <a:defRPr sz="1500" b="0" i="0">
                <a:solidFill>
                  <a:srgbClr val="E2E9F0"/>
                </a:solidFill>
                <a:latin typeface="Carlito"/>
                <a:ea typeface="Carlito"/>
                <a:cs typeface="Carlito"/>
              </a:defRPr>
            </a:pPr>
            <a:r>
              <a:rPr sz="1500" b="0" i="0">
                <a:solidFill>
                  <a:srgbClr val="E2E9F0"/>
                </a:solidFill>
                <a:latin typeface="Carlito"/>
                <a:ea typeface="Carlito"/>
                <a:cs typeface="Carlito"/>
              </a:rPr>
              <a:t>Historical records end in 2016.</a:t>
            </a:r>
          </a:p>
        </p:txBody>
      </p:sp>
      <p:sp>
        <p:nvSpPr>
          <p:cNvPr id="16" name="Rectangle 15">
            <a:extLst>
              <a:ext uri="{FF2B5EF4-FFF2-40B4-BE49-F238E27FC236}">
                <a16:creationId xmlns:a16="http://schemas.microsoft.com/office/drawing/2014/main" id="{A82D0E7B-C9FB-4CDB-A3CA-29E542FA0C18}"/>
              </a:ext>
            </a:extLst>
          </p:cNvPr>
          <p:cNvSpPr>
            <a:spLocks noGrp="1"/>
          </p:cNvSpPr>
          <p:nvPr/>
        </p:nvSpPr>
        <p:spPr>
          <a:xfrm>
            <a:off x="7524750" y="2800350"/>
            <a:ext cx="171450" cy="495300"/>
          </a:xfrm>
          <a:prstGeom prst="rect">
            <a:avLst/>
          </a:prstGeom>
          <a:noFill/>
          <a:ln w="0">
            <a:noFill/>
            <a:prstDash val="solid"/>
          </a:ln>
        </p:spPr>
        <p:txBody>
          <a:bodyPr wrap="square" lIns="0" tIns="0" rIns="0" bIns="0" anchor="t">
            <a:normAutofit/>
          </a:bodyPr>
          <a:lstStyle>
            <a:defPPr algn="l">
              <a:defRPr sz="1500" b="1" i="0">
                <a:solidFill>
                  <a:srgbClr val="A7A9AC"/>
                </a:solidFill>
                <a:latin typeface="Carlito"/>
                <a:ea typeface="Carlito"/>
                <a:cs typeface="Carlito"/>
              </a:defRPr>
            </a:defPPr>
            <a:lvl1pPr algn="l">
              <a:defRPr sz="1500" b="1" i="0">
                <a:solidFill>
                  <a:srgbClr val="A7A9AC"/>
                </a:solidFill>
                <a:latin typeface="Carlito"/>
                <a:ea typeface="Carlito"/>
                <a:cs typeface="Carlito"/>
              </a:defRPr>
            </a:lvl1pPr>
            <a:lvl2pPr algn="l">
              <a:defRPr sz="1500" b="1" i="0">
                <a:solidFill>
                  <a:srgbClr val="A7A9AC"/>
                </a:solidFill>
                <a:latin typeface="Carlito"/>
                <a:ea typeface="Carlito"/>
                <a:cs typeface="Carlito"/>
              </a:defRPr>
            </a:lvl2pPr>
            <a:lvl3pPr algn="l">
              <a:defRPr sz="1500" b="1" i="0">
                <a:solidFill>
                  <a:srgbClr val="A7A9AC"/>
                </a:solidFill>
                <a:latin typeface="Carlito"/>
                <a:ea typeface="Carlito"/>
                <a:cs typeface="Carlito"/>
              </a:defRPr>
            </a:lvl3pPr>
            <a:lvl4pPr algn="l">
              <a:defRPr sz="1500" b="1" i="0">
                <a:solidFill>
                  <a:srgbClr val="A7A9AC"/>
                </a:solidFill>
                <a:latin typeface="Carlito"/>
                <a:ea typeface="Carlito"/>
                <a:cs typeface="Carlito"/>
              </a:defRPr>
            </a:lvl4pPr>
            <a:lvl5pPr algn="l">
              <a:defRPr sz="1500" b="1" i="0">
                <a:solidFill>
                  <a:srgbClr val="A7A9AC"/>
                </a:solidFill>
                <a:latin typeface="Carlito"/>
                <a:ea typeface="Carlito"/>
                <a:cs typeface="Carlito"/>
              </a:defRPr>
            </a:lvl5pPr>
            <a:lvl6pPr algn="l">
              <a:defRPr sz="1500" b="1" i="0">
                <a:solidFill>
                  <a:srgbClr val="A7A9AC"/>
                </a:solidFill>
                <a:latin typeface="Carlito"/>
                <a:ea typeface="Carlito"/>
                <a:cs typeface="Carlito"/>
              </a:defRPr>
            </a:lvl6pPr>
            <a:lvl7pPr algn="l">
              <a:defRPr sz="1500" b="1" i="0">
                <a:solidFill>
                  <a:srgbClr val="A7A9AC"/>
                </a:solidFill>
                <a:latin typeface="Carlito"/>
                <a:ea typeface="Carlito"/>
                <a:cs typeface="Carlito"/>
              </a:defRPr>
            </a:lvl7pPr>
            <a:lvl8pPr algn="l">
              <a:defRPr sz="1500" b="1" i="0">
                <a:solidFill>
                  <a:srgbClr val="A7A9AC"/>
                </a:solidFill>
                <a:latin typeface="Carlito"/>
                <a:ea typeface="Carlito"/>
                <a:cs typeface="Carlito"/>
              </a:defRPr>
            </a:lvl8pPr>
            <a:lvl9pPr algn="l">
              <a:defRPr sz="1500" b="1" i="0">
                <a:solidFill>
                  <a:srgbClr val="A7A9AC"/>
                </a:solidFill>
                <a:latin typeface="Carlito"/>
                <a:ea typeface="Carlito"/>
                <a:cs typeface="Carlito"/>
              </a:defRPr>
            </a:lvl9pPr>
          </a:lstStyle>
          <a:p>
            <a:pPr algn="l">
              <a:defRPr sz="1500" b="1" i="0">
                <a:solidFill>
                  <a:srgbClr val="A7A9AC"/>
                </a:solidFill>
                <a:latin typeface="Carlito"/>
                <a:ea typeface="Carlito"/>
                <a:cs typeface="Carlito"/>
              </a:defRPr>
            </a:pPr>
            <a:r>
              <a:rPr sz="1500" b="1" i="0">
                <a:solidFill>
                  <a:srgbClr val="A7A9AC"/>
                </a:solidFill>
                <a:latin typeface="Carlito"/>
                <a:ea typeface="Carlito"/>
                <a:cs typeface="Carlito"/>
              </a:rPr>
              <a:t>•</a:t>
            </a:r>
          </a:p>
        </p:txBody>
      </p:sp>
      <p:sp>
        <p:nvSpPr>
          <p:cNvPr id="17" name="Rectangle 16">
            <a:extLst>
              <a:ext uri="{FF2B5EF4-FFF2-40B4-BE49-F238E27FC236}">
                <a16:creationId xmlns:a16="http://schemas.microsoft.com/office/drawing/2014/main" id="{6D6B9505-5DB9-47FE-8179-7E1F30029346}"/>
              </a:ext>
            </a:extLst>
          </p:cNvPr>
          <p:cNvSpPr>
            <a:spLocks noGrp="1"/>
          </p:cNvSpPr>
          <p:nvPr/>
        </p:nvSpPr>
        <p:spPr>
          <a:xfrm>
            <a:off x="7753350" y="2800350"/>
            <a:ext cx="3581400" cy="495300"/>
          </a:xfrm>
          <a:prstGeom prst="rect">
            <a:avLst/>
          </a:prstGeom>
          <a:noFill/>
          <a:ln w="0">
            <a:noFill/>
            <a:prstDash val="solid"/>
          </a:ln>
        </p:spPr>
        <p:txBody>
          <a:bodyPr wrap="square" lIns="0" tIns="0" rIns="0" bIns="0" anchor="t">
            <a:normAutofit/>
          </a:bodyPr>
          <a:lstStyle>
            <a:defPPr algn="l">
              <a:defRPr sz="1500" b="0" i="0">
                <a:solidFill>
                  <a:srgbClr val="E2E9F0"/>
                </a:solidFill>
                <a:latin typeface="Carlito"/>
                <a:ea typeface="Carlito"/>
                <a:cs typeface="Carlito"/>
              </a:defRPr>
            </a:defPPr>
            <a:lvl1pPr algn="l">
              <a:defRPr sz="1500" b="0" i="0">
                <a:solidFill>
                  <a:srgbClr val="E2E9F0"/>
                </a:solidFill>
                <a:latin typeface="Carlito"/>
                <a:ea typeface="Carlito"/>
                <a:cs typeface="Carlito"/>
              </a:defRPr>
            </a:lvl1pPr>
            <a:lvl2pPr algn="l">
              <a:defRPr sz="1500" b="0" i="0">
                <a:solidFill>
                  <a:srgbClr val="E2E9F0"/>
                </a:solidFill>
                <a:latin typeface="Carlito"/>
                <a:ea typeface="Carlito"/>
                <a:cs typeface="Carlito"/>
              </a:defRPr>
            </a:lvl2pPr>
            <a:lvl3pPr algn="l">
              <a:defRPr sz="1500" b="0" i="0">
                <a:solidFill>
                  <a:srgbClr val="E2E9F0"/>
                </a:solidFill>
                <a:latin typeface="Carlito"/>
                <a:ea typeface="Carlito"/>
                <a:cs typeface="Carlito"/>
              </a:defRPr>
            </a:lvl3pPr>
            <a:lvl4pPr algn="l">
              <a:defRPr sz="1500" b="0" i="0">
                <a:solidFill>
                  <a:srgbClr val="E2E9F0"/>
                </a:solidFill>
                <a:latin typeface="Carlito"/>
                <a:ea typeface="Carlito"/>
                <a:cs typeface="Carlito"/>
              </a:defRPr>
            </a:lvl4pPr>
            <a:lvl5pPr algn="l">
              <a:defRPr sz="1500" b="0" i="0">
                <a:solidFill>
                  <a:srgbClr val="E2E9F0"/>
                </a:solidFill>
                <a:latin typeface="Carlito"/>
                <a:ea typeface="Carlito"/>
                <a:cs typeface="Carlito"/>
              </a:defRPr>
            </a:lvl5pPr>
            <a:lvl6pPr algn="l">
              <a:defRPr sz="1500" b="0" i="0">
                <a:solidFill>
                  <a:srgbClr val="E2E9F0"/>
                </a:solidFill>
                <a:latin typeface="Carlito"/>
                <a:ea typeface="Carlito"/>
                <a:cs typeface="Carlito"/>
              </a:defRPr>
            </a:lvl6pPr>
            <a:lvl7pPr algn="l">
              <a:defRPr sz="1500" b="0" i="0">
                <a:solidFill>
                  <a:srgbClr val="E2E9F0"/>
                </a:solidFill>
                <a:latin typeface="Carlito"/>
                <a:ea typeface="Carlito"/>
                <a:cs typeface="Carlito"/>
              </a:defRPr>
            </a:lvl7pPr>
            <a:lvl8pPr algn="l">
              <a:defRPr sz="1500" b="0" i="0">
                <a:solidFill>
                  <a:srgbClr val="E2E9F0"/>
                </a:solidFill>
                <a:latin typeface="Carlito"/>
                <a:ea typeface="Carlito"/>
                <a:cs typeface="Carlito"/>
              </a:defRPr>
            </a:lvl8pPr>
            <a:lvl9pPr algn="l">
              <a:defRPr sz="1500" b="0" i="0">
                <a:solidFill>
                  <a:srgbClr val="E2E9F0"/>
                </a:solidFill>
                <a:latin typeface="Carlito"/>
                <a:ea typeface="Carlito"/>
                <a:cs typeface="Carlito"/>
              </a:defRPr>
            </a:lvl9pPr>
          </a:lstStyle>
          <a:p>
            <a:pPr algn="l">
              <a:defRPr sz="1500" b="0" i="0">
                <a:solidFill>
                  <a:srgbClr val="E2E9F0"/>
                </a:solidFill>
                <a:latin typeface="Carlito"/>
                <a:ea typeface="Carlito"/>
                <a:cs typeface="Carlito"/>
              </a:defRPr>
            </a:pPr>
            <a:r>
              <a:rPr sz="1500" b="0" i="0">
                <a:solidFill>
                  <a:srgbClr val="E2E9F0"/>
                </a:solidFill>
                <a:latin typeface="Carlito"/>
                <a:ea typeface="Carlito"/>
                <a:cs typeface="Carlito"/>
              </a:rPr>
              <a:t>The data lacks funding, coaching and training variables.</a:t>
            </a:r>
          </a:p>
        </p:txBody>
      </p:sp>
      <p:sp>
        <p:nvSpPr>
          <p:cNvPr id="18" name="Rectangle 17">
            <a:extLst>
              <a:ext uri="{FF2B5EF4-FFF2-40B4-BE49-F238E27FC236}">
                <a16:creationId xmlns:a16="http://schemas.microsoft.com/office/drawing/2014/main" id="{527B00C4-8996-43DA-8F42-0D2BE09B5650}"/>
              </a:ext>
            </a:extLst>
          </p:cNvPr>
          <p:cNvSpPr>
            <a:spLocks noGrp="1"/>
          </p:cNvSpPr>
          <p:nvPr/>
        </p:nvSpPr>
        <p:spPr>
          <a:xfrm>
            <a:off x="7524750" y="3429000"/>
            <a:ext cx="171450" cy="428625"/>
          </a:xfrm>
          <a:prstGeom prst="rect">
            <a:avLst/>
          </a:prstGeom>
          <a:noFill/>
          <a:ln w="0">
            <a:noFill/>
            <a:prstDash val="solid"/>
          </a:ln>
        </p:spPr>
        <p:txBody>
          <a:bodyPr wrap="square" lIns="0" tIns="0" rIns="0" bIns="0" anchor="t">
            <a:normAutofit/>
          </a:bodyPr>
          <a:lstStyle>
            <a:defPPr algn="l">
              <a:defRPr sz="1500" b="1" i="0">
                <a:solidFill>
                  <a:srgbClr val="A7A9AC"/>
                </a:solidFill>
                <a:latin typeface="Carlito"/>
                <a:ea typeface="Carlito"/>
                <a:cs typeface="Carlito"/>
              </a:defRPr>
            </a:defPPr>
            <a:lvl1pPr algn="l">
              <a:defRPr sz="1500" b="1" i="0">
                <a:solidFill>
                  <a:srgbClr val="A7A9AC"/>
                </a:solidFill>
                <a:latin typeface="Carlito"/>
                <a:ea typeface="Carlito"/>
                <a:cs typeface="Carlito"/>
              </a:defRPr>
            </a:lvl1pPr>
            <a:lvl2pPr algn="l">
              <a:defRPr sz="1500" b="1" i="0">
                <a:solidFill>
                  <a:srgbClr val="A7A9AC"/>
                </a:solidFill>
                <a:latin typeface="Carlito"/>
                <a:ea typeface="Carlito"/>
                <a:cs typeface="Carlito"/>
              </a:defRPr>
            </a:lvl2pPr>
            <a:lvl3pPr algn="l">
              <a:defRPr sz="1500" b="1" i="0">
                <a:solidFill>
                  <a:srgbClr val="A7A9AC"/>
                </a:solidFill>
                <a:latin typeface="Carlito"/>
                <a:ea typeface="Carlito"/>
                <a:cs typeface="Carlito"/>
              </a:defRPr>
            </a:lvl3pPr>
            <a:lvl4pPr algn="l">
              <a:defRPr sz="1500" b="1" i="0">
                <a:solidFill>
                  <a:srgbClr val="A7A9AC"/>
                </a:solidFill>
                <a:latin typeface="Carlito"/>
                <a:ea typeface="Carlito"/>
                <a:cs typeface="Carlito"/>
              </a:defRPr>
            </a:lvl4pPr>
            <a:lvl5pPr algn="l">
              <a:defRPr sz="1500" b="1" i="0">
                <a:solidFill>
                  <a:srgbClr val="A7A9AC"/>
                </a:solidFill>
                <a:latin typeface="Carlito"/>
                <a:ea typeface="Carlito"/>
                <a:cs typeface="Carlito"/>
              </a:defRPr>
            </a:lvl5pPr>
            <a:lvl6pPr algn="l">
              <a:defRPr sz="1500" b="1" i="0">
                <a:solidFill>
                  <a:srgbClr val="A7A9AC"/>
                </a:solidFill>
                <a:latin typeface="Carlito"/>
                <a:ea typeface="Carlito"/>
                <a:cs typeface="Carlito"/>
              </a:defRPr>
            </a:lvl6pPr>
            <a:lvl7pPr algn="l">
              <a:defRPr sz="1500" b="1" i="0">
                <a:solidFill>
                  <a:srgbClr val="A7A9AC"/>
                </a:solidFill>
                <a:latin typeface="Carlito"/>
                <a:ea typeface="Carlito"/>
                <a:cs typeface="Carlito"/>
              </a:defRPr>
            </a:lvl7pPr>
            <a:lvl8pPr algn="l">
              <a:defRPr sz="1500" b="1" i="0">
                <a:solidFill>
                  <a:srgbClr val="A7A9AC"/>
                </a:solidFill>
                <a:latin typeface="Carlito"/>
                <a:ea typeface="Carlito"/>
                <a:cs typeface="Carlito"/>
              </a:defRPr>
            </a:lvl8pPr>
            <a:lvl9pPr algn="l">
              <a:defRPr sz="1500" b="1" i="0">
                <a:solidFill>
                  <a:srgbClr val="A7A9AC"/>
                </a:solidFill>
                <a:latin typeface="Carlito"/>
                <a:ea typeface="Carlito"/>
                <a:cs typeface="Carlito"/>
              </a:defRPr>
            </a:lvl9pPr>
          </a:lstStyle>
          <a:p>
            <a:pPr algn="l">
              <a:defRPr sz="1500" b="1" i="0">
                <a:solidFill>
                  <a:srgbClr val="A7A9AC"/>
                </a:solidFill>
                <a:latin typeface="Carlito"/>
                <a:ea typeface="Carlito"/>
                <a:cs typeface="Carlito"/>
              </a:defRPr>
            </a:pPr>
            <a:r>
              <a:rPr sz="1500" b="1" i="0">
                <a:solidFill>
                  <a:srgbClr val="A7A9AC"/>
                </a:solidFill>
                <a:latin typeface="Carlito"/>
                <a:ea typeface="Carlito"/>
                <a:cs typeface="Carlito"/>
              </a:rPr>
              <a:t>•</a:t>
            </a:r>
          </a:p>
        </p:txBody>
      </p:sp>
      <p:sp>
        <p:nvSpPr>
          <p:cNvPr id="19" name="Rectangle 18">
            <a:extLst>
              <a:ext uri="{FF2B5EF4-FFF2-40B4-BE49-F238E27FC236}">
                <a16:creationId xmlns:a16="http://schemas.microsoft.com/office/drawing/2014/main" id="{563F4A00-4FE9-420A-BF66-2B1A2D075026}"/>
              </a:ext>
            </a:extLst>
          </p:cNvPr>
          <p:cNvSpPr>
            <a:spLocks noGrp="1"/>
          </p:cNvSpPr>
          <p:nvPr/>
        </p:nvSpPr>
        <p:spPr>
          <a:xfrm>
            <a:off x="7753350" y="3429000"/>
            <a:ext cx="3581400" cy="428625"/>
          </a:xfrm>
          <a:prstGeom prst="rect">
            <a:avLst/>
          </a:prstGeom>
          <a:noFill/>
          <a:ln w="0">
            <a:noFill/>
            <a:prstDash val="solid"/>
          </a:ln>
        </p:spPr>
        <p:txBody>
          <a:bodyPr wrap="square" lIns="0" tIns="0" rIns="0" bIns="0" anchor="t">
            <a:normAutofit fontScale="93750"/>
          </a:bodyPr>
          <a:lstStyle>
            <a:defPPr algn="l">
              <a:defRPr sz="1500" b="0" i="0">
                <a:solidFill>
                  <a:srgbClr val="E2E9F0"/>
                </a:solidFill>
                <a:latin typeface="Carlito"/>
                <a:ea typeface="Carlito"/>
                <a:cs typeface="Carlito"/>
              </a:defRPr>
            </a:defPPr>
            <a:lvl1pPr algn="l">
              <a:defRPr sz="1500" b="0" i="0">
                <a:solidFill>
                  <a:srgbClr val="E2E9F0"/>
                </a:solidFill>
                <a:latin typeface="Carlito"/>
                <a:ea typeface="Carlito"/>
                <a:cs typeface="Carlito"/>
              </a:defRPr>
            </a:lvl1pPr>
            <a:lvl2pPr algn="l">
              <a:defRPr sz="1500" b="0" i="0">
                <a:solidFill>
                  <a:srgbClr val="E2E9F0"/>
                </a:solidFill>
                <a:latin typeface="Carlito"/>
                <a:ea typeface="Carlito"/>
                <a:cs typeface="Carlito"/>
              </a:defRPr>
            </a:lvl2pPr>
            <a:lvl3pPr algn="l">
              <a:defRPr sz="1500" b="0" i="0">
                <a:solidFill>
                  <a:srgbClr val="E2E9F0"/>
                </a:solidFill>
                <a:latin typeface="Carlito"/>
                <a:ea typeface="Carlito"/>
                <a:cs typeface="Carlito"/>
              </a:defRPr>
            </a:lvl3pPr>
            <a:lvl4pPr algn="l">
              <a:defRPr sz="1500" b="0" i="0">
                <a:solidFill>
                  <a:srgbClr val="E2E9F0"/>
                </a:solidFill>
                <a:latin typeface="Carlito"/>
                <a:ea typeface="Carlito"/>
                <a:cs typeface="Carlito"/>
              </a:defRPr>
            </a:lvl4pPr>
            <a:lvl5pPr algn="l">
              <a:defRPr sz="1500" b="0" i="0">
                <a:solidFill>
                  <a:srgbClr val="E2E9F0"/>
                </a:solidFill>
                <a:latin typeface="Carlito"/>
                <a:ea typeface="Carlito"/>
                <a:cs typeface="Carlito"/>
              </a:defRPr>
            </a:lvl5pPr>
            <a:lvl6pPr algn="l">
              <a:defRPr sz="1500" b="0" i="0">
                <a:solidFill>
                  <a:srgbClr val="E2E9F0"/>
                </a:solidFill>
                <a:latin typeface="Carlito"/>
                <a:ea typeface="Carlito"/>
                <a:cs typeface="Carlito"/>
              </a:defRPr>
            </a:lvl6pPr>
            <a:lvl7pPr algn="l">
              <a:defRPr sz="1500" b="0" i="0">
                <a:solidFill>
                  <a:srgbClr val="E2E9F0"/>
                </a:solidFill>
                <a:latin typeface="Carlito"/>
                <a:ea typeface="Carlito"/>
                <a:cs typeface="Carlito"/>
              </a:defRPr>
            </a:lvl7pPr>
            <a:lvl8pPr algn="l">
              <a:defRPr sz="1500" b="0" i="0">
                <a:solidFill>
                  <a:srgbClr val="E2E9F0"/>
                </a:solidFill>
                <a:latin typeface="Carlito"/>
                <a:ea typeface="Carlito"/>
                <a:cs typeface="Carlito"/>
              </a:defRPr>
            </a:lvl8pPr>
            <a:lvl9pPr algn="l">
              <a:defRPr sz="1500" b="0" i="0">
                <a:solidFill>
                  <a:srgbClr val="E2E9F0"/>
                </a:solidFill>
                <a:latin typeface="Carlito"/>
                <a:ea typeface="Carlito"/>
                <a:cs typeface="Carlito"/>
              </a:defRPr>
            </a:lvl9pPr>
          </a:lstStyle>
          <a:p>
            <a:pPr algn="l">
              <a:defRPr sz="1500" b="0" i="0">
                <a:solidFill>
                  <a:srgbClr val="E2E9F0"/>
                </a:solidFill>
                <a:latin typeface="Carlito"/>
                <a:ea typeface="Carlito"/>
                <a:cs typeface="Carlito"/>
              </a:defRPr>
            </a:pPr>
            <a:r>
              <a:rPr sz="1500" b="0" i="0">
                <a:solidFill>
                  <a:srgbClr val="E2E9F0"/>
                </a:solidFill>
                <a:latin typeface="Carlito"/>
                <a:ea typeface="Carlito"/>
                <a:cs typeface="Carlito"/>
              </a:rPr>
              <a:t>Athlete-event records can repeat the same athlete.</a:t>
            </a:r>
          </a:p>
        </p:txBody>
      </p:sp>
      <p:sp>
        <p:nvSpPr>
          <p:cNvPr id="20" name="Rectangle 19">
            <a:extLst>
              <a:ext uri="{FF2B5EF4-FFF2-40B4-BE49-F238E27FC236}">
                <a16:creationId xmlns:a16="http://schemas.microsoft.com/office/drawing/2014/main" id="{E94151B0-783C-4B3A-9DF1-E9687A678D64}"/>
              </a:ext>
            </a:extLst>
          </p:cNvPr>
          <p:cNvSpPr>
            <a:spLocks noGrp="1"/>
          </p:cNvSpPr>
          <p:nvPr/>
        </p:nvSpPr>
        <p:spPr>
          <a:xfrm>
            <a:off x="7524750" y="3990975"/>
            <a:ext cx="171450" cy="609600"/>
          </a:xfrm>
          <a:prstGeom prst="rect">
            <a:avLst/>
          </a:prstGeom>
          <a:noFill/>
          <a:ln w="0">
            <a:noFill/>
            <a:prstDash val="solid"/>
          </a:ln>
        </p:spPr>
        <p:txBody>
          <a:bodyPr wrap="square" lIns="0" tIns="0" rIns="0" bIns="0" anchor="t">
            <a:normAutofit/>
          </a:bodyPr>
          <a:lstStyle>
            <a:defPPr algn="l">
              <a:defRPr sz="1500" b="1" i="0">
                <a:solidFill>
                  <a:srgbClr val="A7A9AC"/>
                </a:solidFill>
                <a:latin typeface="Carlito"/>
                <a:ea typeface="Carlito"/>
                <a:cs typeface="Carlito"/>
              </a:defRPr>
            </a:defPPr>
            <a:lvl1pPr algn="l">
              <a:defRPr sz="1500" b="1" i="0">
                <a:solidFill>
                  <a:srgbClr val="A7A9AC"/>
                </a:solidFill>
                <a:latin typeface="Carlito"/>
                <a:ea typeface="Carlito"/>
                <a:cs typeface="Carlito"/>
              </a:defRPr>
            </a:lvl1pPr>
            <a:lvl2pPr algn="l">
              <a:defRPr sz="1500" b="1" i="0">
                <a:solidFill>
                  <a:srgbClr val="A7A9AC"/>
                </a:solidFill>
                <a:latin typeface="Carlito"/>
                <a:ea typeface="Carlito"/>
                <a:cs typeface="Carlito"/>
              </a:defRPr>
            </a:lvl2pPr>
            <a:lvl3pPr algn="l">
              <a:defRPr sz="1500" b="1" i="0">
                <a:solidFill>
                  <a:srgbClr val="A7A9AC"/>
                </a:solidFill>
                <a:latin typeface="Carlito"/>
                <a:ea typeface="Carlito"/>
                <a:cs typeface="Carlito"/>
              </a:defRPr>
            </a:lvl3pPr>
            <a:lvl4pPr algn="l">
              <a:defRPr sz="1500" b="1" i="0">
                <a:solidFill>
                  <a:srgbClr val="A7A9AC"/>
                </a:solidFill>
                <a:latin typeface="Carlito"/>
                <a:ea typeface="Carlito"/>
                <a:cs typeface="Carlito"/>
              </a:defRPr>
            </a:lvl4pPr>
            <a:lvl5pPr algn="l">
              <a:defRPr sz="1500" b="1" i="0">
                <a:solidFill>
                  <a:srgbClr val="A7A9AC"/>
                </a:solidFill>
                <a:latin typeface="Carlito"/>
                <a:ea typeface="Carlito"/>
                <a:cs typeface="Carlito"/>
              </a:defRPr>
            </a:lvl5pPr>
            <a:lvl6pPr algn="l">
              <a:defRPr sz="1500" b="1" i="0">
                <a:solidFill>
                  <a:srgbClr val="A7A9AC"/>
                </a:solidFill>
                <a:latin typeface="Carlito"/>
                <a:ea typeface="Carlito"/>
                <a:cs typeface="Carlito"/>
              </a:defRPr>
            </a:lvl6pPr>
            <a:lvl7pPr algn="l">
              <a:defRPr sz="1500" b="1" i="0">
                <a:solidFill>
                  <a:srgbClr val="A7A9AC"/>
                </a:solidFill>
                <a:latin typeface="Carlito"/>
                <a:ea typeface="Carlito"/>
                <a:cs typeface="Carlito"/>
              </a:defRPr>
            </a:lvl7pPr>
            <a:lvl8pPr algn="l">
              <a:defRPr sz="1500" b="1" i="0">
                <a:solidFill>
                  <a:srgbClr val="A7A9AC"/>
                </a:solidFill>
                <a:latin typeface="Carlito"/>
                <a:ea typeface="Carlito"/>
                <a:cs typeface="Carlito"/>
              </a:defRPr>
            </a:lvl8pPr>
            <a:lvl9pPr algn="l">
              <a:defRPr sz="1500" b="1" i="0">
                <a:solidFill>
                  <a:srgbClr val="A7A9AC"/>
                </a:solidFill>
                <a:latin typeface="Carlito"/>
                <a:ea typeface="Carlito"/>
                <a:cs typeface="Carlito"/>
              </a:defRPr>
            </a:lvl9pPr>
          </a:lstStyle>
          <a:p>
            <a:pPr algn="l">
              <a:defRPr sz="1500" b="1" i="0">
                <a:solidFill>
                  <a:srgbClr val="A7A9AC"/>
                </a:solidFill>
                <a:latin typeface="Carlito"/>
                <a:ea typeface="Carlito"/>
                <a:cs typeface="Carlito"/>
              </a:defRPr>
            </a:pPr>
            <a:r>
              <a:rPr sz="1500" b="1" i="0">
                <a:solidFill>
                  <a:srgbClr val="A7A9AC"/>
                </a:solidFill>
                <a:latin typeface="Carlito"/>
                <a:ea typeface="Carlito"/>
                <a:cs typeface="Carlito"/>
              </a:rPr>
              <a:t>•</a:t>
            </a:r>
          </a:p>
        </p:txBody>
      </p:sp>
      <p:sp>
        <p:nvSpPr>
          <p:cNvPr id="21" name="Rectangle 20">
            <a:extLst>
              <a:ext uri="{FF2B5EF4-FFF2-40B4-BE49-F238E27FC236}">
                <a16:creationId xmlns:a16="http://schemas.microsoft.com/office/drawing/2014/main" id="{ACAACEBD-DA2A-4625-987D-A736A29DF950}"/>
              </a:ext>
            </a:extLst>
          </p:cNvPr>
          <p:cNvSpPr>
            <a:spLocks noGrp="1"/>
          </p:cNvSpPr>
          <p:nvPr/>
        </p:nvSpPr>
        <p:spPr>
          <a:xfrm>
            <a:off x="7753350" y="3990975"/>
            <a:ext cx="3581400" cy="609600"/>
          </a:xfrm>
          <a:prstGeom prst="rect">
            <a:avLst/>
          </a:prstGeom>
          <a:noFill/>
          <a:ln w="0">
            <a:noFill/>
            <a:prstDash val="solid"/>
          </a:ln>
        </p:spPr>
        <p:txBody>
          <a:bodyPr wrap="square" lIns="0" tIns="0" rIns="0" bIns="0" anchor="t">
            <a:normAutofit fontScale="90702"/>
          </a:bodyPr>
          <a:lstStyle>
            <a:defPPr algn="l">
              <a:defRPr sz="1500" b="0" i="0">
                <a:solidFill>
                  <a:srgbClr val="E2E9F0"/>
                </a:solidFill>
                <a:latin typeface="Carlito"/>
                <a:ea typeface="Carlito"/>
                <a:cs typeface="Carlito"/>
              </a:defRPr>
            </a:defPPr>
            <a:lvl1pPr algn="l">
              <a:defRPr sz="1500" b="0" i="0">
                <a:solidFill>
                  <a:srgbClr val="E2E9F0"/>
                </a:solidFill>
                <a:latin typeface="Carlito"/>
                <a:ea typeface="Carlito"/>
                <a:cs typeface="Carlito"/>
              </a:defRPr>
            </a:lvl1pPr>
            <a:lvl2pPr algn="l">
              <a:defRPr sz="1500" b="0" i="0">
                <a:solidFill>
                  <a:srgbClr val="E2E9F0"/>
                </a:solidFill>
                <a:latin typeface="Carlito"/>
                <a:ea typeface="Carlito"/>
                <a:cs typeface="Carlito"/>
              </a:defRPr>
            </a:lvl2pPr>
            <a:lvl3pPr algn="l">
              <a:defRPr sz="1500" b="0" i="0">
                <a:solidFill>
                  <a:srgbClr val="E2E9F0"/>
                </a:solidFill>
                <a:latin typeface="Carlito"/>
                <a:ea typeface="Carlito"/>
                <a:cs typeface="Carlito"/>
              </a:defRPr>
            </a:lvl3pPr>
            <a:lvl4pPr algn="l">
              <a:defRPr sz="1500" b="0" i="0">
                <a:solidFill>
                  <a:srgbClr val="E2E9F0"/>
                </a:solidFill>
                <a:latin typeface="Carlito"/>
                <a:ea typeface="Carlito"/>
                <a:cs typeface="Carlito"/>
              </a:defRPr>
            </a:lvl4pPr>
            <a:lvl5pPr algn="l">
              <a:defRPr sz="1500" b="0" i="0">
                <a:solidFill>
                  <a:srgbClr val="E2E9F0"/>
                </a:solidFill>
                <a:latin typeface="Carlito"/>
                <a:ea typeface="Carlito"/>
                <a:cs typeface="Carlito"/>
              </a:defRPr>
            </a:lvl5pPr>
            <a:lvl6pPr algn="l">
              <a:defRPr sz="1500" b="0" i="0">
                <a:solidFill>
                  <a:srgbClr val="E2E9F0"/>
                </a:solidFill>
                <a:latin typeface="Carlito"/>
                <a:ea typeface="Carlito"/>
                <a:cs typeface="Carlito"/>
              </a:defRPr>
            </a:lvl6pPr>
            <a:lvl7pPr algn="l">
              <a:defRPr sz="1500" b="0" i="0">
                <a:solidFill>
                  <a:srgbClr val="E2E9F0"/>
                </a:solidFill>
                <a:latin typeface="Carlito"/>
                <a:ea typeface="Carlito"/>
                <a:cs typeface="Carlito"/>
              </a:defRPr>
            </a:lvl7pPr>
            <a:lvl8pPr algn="l">
              <a:defRPr sz="1500" b="0" i="0">
                <a:solidFill>
                  <a:srgbClr val="E2E9F0"/>
                </a:solidFill>
                <a:latin typeface="Carlito"/>
                <a:ea typeface="Carlito"/>
                <a:cs typeface="Carlito"/>
              </a:defRPr>
            </a:lvl8pPr>
            <a:lvl9pPr algn="l">
              <a:defRPr sz="1500" b="0" i="0">
                <a:solidFill>
                  <a:srgbClr val="E2E9F0"/>
                </a:solidFill>
                <a:latin typeface="Carlito"/>
                <a:ea typeface="Carlito"/>
                <a:cs typeface="Carlito"/>
              </a:defRPr>
            </a:lvl9pPr>
          </a:lstStyle>
          <a:p>
            <a:pPr algn="l">
              <a:defRPr sz="1500" b="0" i="0">
                <a:solidFill>
                  <a:srgbClr val="E2E9F0"/>
                </a:solidFill>
                <a:latin typeface="Carlito"/>
                <a:ea typeface="Carlito"/>
                <a:cs typeface="Carlito"/>
              </a:defRPr>
            </a:pPr>
            <a:r>
              <a:rPr sz="1500" b="0" i="0">
                <a:solidFill>
                  <a:srgbClr val="E2E9F0"/>
                </a:solidFill>
                <a:latin typeface="Carlito"/>
                <a:ea typeface="Carlito"/>
                <a:cs typeface="Carlito"/>
              </a:rPr>
              <a:t>Age is missing for 5.3% of ASEAN records; height and weight are missing for about 17.5%.</a:t>
            </a:r>
          </a:p>
        </p:txBody>
      </p:sp>
      <p:sp>
        <p:nvSpPr>
          <p:cNvPr id="22" name="Rectangle 21">
            <a:extLst>
              <a:ext uri="{FF2B5EF4-FFF2-40B4-BE49-F238E27FC236}">
                <a16:creationId xmlns:a16="http://schemas.microsoft.com/office/drawing/2014/main" id="{D094AEFA-C021-410D-9290-E77D21CC7B61}"/>
              </a:ext>
            </a:extLst>
          </p:cNvPr>
          <p:cNvSpPr>
            <a:spLocks noGrp="1"/>
          </p:cNvSpPr>
          <p:nvPr/>
        </p:nvSpPr>
        <p:spPr>
          <a:xfrm>
            <a:off x="7524750" y="4733925"/>
            <a:ext cx="171450" cy="514350"/>
          </a:xfrm>
          <a:prstGeom prst="rect">
            <a:avLst/>
          </a:prstGeom>
          <a:noFill/>
          <a:ln w="0">
            <a:noFill/>
            <a:prstDash val="solid"/>
          </a:ln>
        </p:spPr>
        <p:txBody>
          <a:bodyPr wrap="square" lIns="0" tIns="0" rIns="0" bIns="0" anchor="t">
            <a:normAutofit/>
          </a:bodyPr>
          <a:lstStyle>
            <a:defPPr algn="l">
              <a:defRPr sz="1500" b="1" i="0">
                <a:solidFill>
                  <a:srgbClr val="A7A9AC"/>
                </a:solidFill>
                <a:latin typeface="Carlito"/>
                <a:ea typeface="Carlito"/>
                <a:cs typeface="Carlito"/>
              </a:defRPr>
            </a:defPPr>
            <a:lvl1pPr algn="l">
              <a:defRPr sz="1500" b="1" i="0">
                <a:solidFill>
                  <a:srgbClr val="A7A9AC"/>
                </a:solidFill>
                <a:latin typeface="Carlito"/>
                <a:ea typeface="Carlito"/>
                <a:cs typeface="Carlito"/>
              </a:defRPr>
            </a:lvl1pPr>
            <a:lvl2pPr algn="l">
              <a:defRPr sz="1500" b="1" i="0">
                <a:solidFill>
                  <a:srgbClr val="A7A9AC"/>
                </a:solidFill>
                <a:latin typeface="Carlito"/>
                <a:ea typeface="Carlito"/>
                <a:cs typeface="Carlito"/>
              </a:defRPr>
            </a:lvl2pPr>
            <a:lvl3pPr algn="l">
              <a:defRPr sz="1500" b="1" i="0">
                <a:solidFill>
                  <a:srgbClr val="A7A9AC"/>
                </a:solidFill>
                <a:latin typeface="Carlito"/>
                <a:ea typeface="Carlito"/>
                <a:cs typeface="Carlito"/>
              </a:defRPr>
            </a:lvl3pPr>
            <a:lvl4pPr algn="l">
              <a:defRPr sz="1500" b="1" i="0">
                <a:solidFill>
                  <a:srgbClr val="A7A9AC"/>
                </a:solidFill>
                <a:latin typeface="Carlito"/>
                <a:ea typeface="Carlito"/>
                <a:cs typeface="Carlito"/>
              </a:defRPr>
            </a:lvl4pPr>
            <a:lvl5pPr algn="l">
              <a:defRPr sz="1500" b="1" i="0">
                <a:solidFill>
                  <a:srgbClr val="A7A9AC"/>
                </a:solidFill>
                <a:latin typeface="Carlito"/>
                <a:ea typeface="Carlito"/>
                <a:cs typeface="Carlito"/>
              </a:defRPr>
            </a:lvl5pPr>
            <a:lvl6pPr algn="l">
              <a:defRPr sz="1500" b="1" i="0">
                <a:solidFill>
                  <a:srgbClr val="A7A9AC"/>
                </a:solidFill>
                <a:latin typeface="Carlito"/>
                <a:ea typeface="Carlito"/>
                <a:cs typeface="Carlito"/>
              </a:defRPr>
            </a:lvl6pPr>
            <a:lvl7pPr algn="l">
              <a:defRPr sz="1500" b="1" i="0">
                <a:solidFill>
                  <a:srgbClr val="A7A9AC"/>
                </a:solidFill>
                <a:latin typeface="Carlito"/>
                <a:ea typeface="Carlito"/>
                <a:cs typeface="Carlito"/>
              </a:defRPr>
            </a:lvl7pPr>
            <a:lvl8pPr algn="l">
              <a:defRPr sz="1500" b="1" i="0">
                <a:solidFill>
                  <a:srgbClr val="A7A9AC"/>
                </a:solidFill>
                <a:latin typeface="Carlito"/>
                <a:ea typeface="Carlito"/>
                <a:cs typeface="Carlito"/>
              </a:defRPr>
            </a:lvl8pPr>
            <a:lvl9pPr algn="l">
              <a:defRPr sz="1500" b="1" i="0">
                <a:solidFill>
                  <a:srgbClr val="A7A9AC"/>
                </a:solidFill>
                <a:latin typeface="Carlito"/>
                <a:ea typeface="Carlito"/>
                <a:cs typeface="Carlito"/>
              </a:defRPr>
            </a:lvl9pPr>
          </a:lstStyle>
          <a:p>
            <a:pPr algn="l">
              <a:defRPr sz="1500" b="1" i="0">
                <a:solidFill>
                  <a:srgbClr val="A7A9AC"/>
                </a:solidFill>
                <a:latin typeface="Carlito"/>
                <a:ea typeface="Carlito"/>
                <a:cs typeface="Carlito"/>
              </a:defRPr>
            </a:pPr>
            <a:r>
              <a:rPr sz="1500" b="1" i="0">
                <a:solidFill>
                  <a:srgbClr val="A7A9AC"/>
                </a:solidFill>
                <a:latin typeface="Carlito"/>
                <a:ea typeface="Carlito"/>
                <a:cs typeface="Carlito"/>
              </a:rPr>
              <a:t>•</a:t>
            </a:r>
          </a:p>
        </p:txBody>
      </p:sp>
      <p:sp>
        <p:nvSpPr>
          <p:cNvPr id="23" name="Rectangle 22">
            <a:extLst>
              <a:ext uri="{FF2B5EF4-FFF2-40B4-BE49-F238E27FC236}">
                <a16:creationId xmlns:a16="http://schemas.microsoft.com/office/drawing/2014/main" id="{D28AF453-554C-4FA1-9384-663B0B27E3EE}"/>
              </a:ext>
            </a:extLst>
          </p:cNvPr>
          <p:cNvSpPr>
            <a:spLocks noGrp="1"/>
          </p:cNvSpPr>
          <p:nvPr/>
        </p:nvSpPr>
        <p:spPr>
          <a:xfrm>
            <a:off x="7753350" y="4733925"/>
            <a:ext cx="3581400" cy="514350"/>
          </a:xfrm>
          <a:prstGeom prst="rect">
            <a:avLst/>
          </a:prstGeom>
          <a:noFill/>
          <a:ln w="0">
            <a:noFill/>
            <a:prstDash val="solid"/>
          </a:ln>
        </p:spPr>
        <p:txBody>
          <a:bodyPr wrap="square" lIns="0" tIns="0" rIns="0" bIns="0" anchor="t">
            <a:normAutofit/>
          </a:bodyPr>
          <a:lstStyle>
            <a:defPPr algn="l">
              <a:defRPr sz="1500" b="0" i="0">
                <a:solidFill>
                  <a:srgbClr val="E2E9F0"/>
                </a:solidFill>
                <a:latin typeface="Carlito"/>
                <a:ea typeface="Carlito"/>
                <a:cs typeface="Carlito"/>
              </a:defRPr>
            </a:defPPr>
            <a:lvl1pPr algn="l">
              <a:defRPr sz="1500" b="0" i="0">
                <a:solidFill>
                  <a:srgbClr val="E2E9F0"/>
                </a:solidFill>
                <a:latin typeface="Carlito"/>
                <a:ea typeface="Carlito"/>
                <a:cs typeface="Carlito"/>
              </a:defRPr>
            </a:lvl1pPr>
            <a:lvl2pPr algn="l">
              <a:defRPr sz="1500" b="0" i="0">
                <a:solidFill>
                  <a:srgbClr val="E2E9F0"/>
                </a:solidFill>
                <a:latin typeface="Carlito"/>
                <a:ea typeface="Carlito"/>
                <a:cs typeface="Carlito"/>
              </a:defRPr>
            </a:lvl2pPr>
            <a:lvl3pPr algn="l">
              <a:defRPr sz="1500" b="0" i="0">
                <a:solidFill>
                  <a:srgbClr val="E2E9F0"/>
                </a:solidFill>
                <a:latin typeface="Carlito"/>
                <a:ea typeface="Carlito"/>
                <a:cs typeface="Carlito"/>
              </a:defRPr>
            </a:lvl3pPr>
            <a:lvl4pPr algn="l">
              <a:defRPr sz="1500" b="0" i="0">
                <a:solidFill>
                  <a:srgbClr val="E2E9F0"/>
                </a:solidFill>
                <a:latin typeface="Carlito"/>
                <a:ea typeface="Carlito"/>
                <a:cs typeface="Carlito"/>
              </a:defRPr>
            </a:lvl4pPr>
            <a:lvl5pPr algn="l">
              <a:defRPr sz="1500" b="0" i="0">
                <a:solidFill>
                  <a:srgbClr val="E2E9F0"/>
                </a:solidFill>
                <a:latin typeface="Carlito"/>
                <a:ea typeface="Carlito"/>
                <a:cs typeface="Carlito"/>
              </a:defRPr>
            </a:lvl5pPr>
            <a:lvl6pPr algn="l">
              <a:defRPr sz="1500" b="0" i="0">
                <a:solidFill>
                  <a:srgbClr val="E2E9F0"/>
                </a:solidFill>
                <a:latin typeface="Carlito"/>
                <a:ea typeface="Carlito"/>
                <a:cs typeface="Carlito"/>
              </a:defRPr>
            </a:lvl6pPr>
            <a:lvl7pPr algn="l">
              <a:defRPr sz="1500" b="0" i="0">
                <a:solidFill>
                  <a:srgbClr val="E2E9F0"/>
                </a:solidFill>
                <a:latin typeface="Carlito"/>
                <a:ea typeface="Carlito"/>
                <a:cs typeface="Carlito"/>
              </a:defRPr>
            </a:lvl7pPr>
            <a:lvl8pPr algn="l">
              <a:defRPr sz="1500" b="0" i="0">
                <a:solidFill>
                  <a:srgbClr val="E2E9F0"/>
                </a:solidFill>
                <a:latin typeface="Carlito"/>
                <a:ea typeface="Carlito"/>
                <a:cs typeface="Carlito"/>
              </a:defRPr>
            </a:lvl8pPr>
            <a:lvl9pPr algn="l">
              <a:defRPr sz="1500" b="0" i="0">
                <a:solidFill>
                  <a:srgbClr val="E2E9F0"/>
                </a:solidFill>
                <a:latin typeface="Carlito"/>
                <a:ea typeface="Carlito"/>
                <a:cs typeface="Carlito"/>
              </a:defRPr>
            </a:lvl9pPr>
          </a:lstStyle>
          <a:p>
            <a:pPr algn="l">
              <a:defRPr sz="1500" b="0" i="0">
                <a:solidFill>
                  <a:srgbClr val="E2E9F0"/>
                </a:solidFill>
                <a:latin typeface="Carlito"/>
                <a:ea typeface="Carlito"/>
                <a:cs typeface="Carlito"/>
              </a:defRPr>
            </a:pPr>
            <a:r>
              <a:rPr sz="1500" b="0" i="0">
                <a:solidFill>
                  <a:srgbClr val="E2E9F0"/>
                </a:solidFill>
                <a:latin typeface="Carlito"/>
                <a:ea typeface="Carlito"/>
                <a:cs typeface="Carlito"/>
              </a:rPr>
              <a:t>The medal-yield ratio is descriptive and does not establish causation.</a:t>
            </a:r>
          </a:p>
        </p:txBody>
      </p:sp>
      <p:sp>
        <p:nvSpPr>
          <p:cNvPr id="24" name="Rectangle 23">
            <a:extLst>
              <a:ext uri="{FF2B5EF4-FFF2-40B4-BE49-F238E27FC236}">
                <a16:creationId xmlns:a16="http://schemas.microsoft.com/office/drawing/2014/main" id="{78E26201-4489-43C6-9DDC-558416BCC7F7}"/>
              </a:ext>
            </a:extLst>
          </p:cNvPr>
          <p:cNvSpPr>
            <a:spLocks noGrp="1"/>
          </p:cNvSpPr>
          <p:nvPr/>
        </p:nvSpPr>
        <p:spPr>
          <a:xfrm>
            <a:off x="609600" y="5600700"/>
            <a:ext cx="10972800" cy="9525"/>
          </a:xfrm>
          <a:prstGeom prst="rect">
            <a:avLst/>
          </a:prstGeom>
          <a:solidFill>
            <a:srgbClr val="36516E"/>
          </a:solidFill>
          <a:ln w="0">
            <a:noFill/>
            <a:prstDash val="solid"/>
          </a:ln>
        </p:spPr>
        <p:txBody>
          <a:bodyPr/>
          <a:lstStyle/>
          <a:p>
            <a:endParaRPr lang="en-SG"/>
          </a:p>
        </p:txBody>
      </p:sp>
      <p:sp>
        <p:nvSpPr>
          <p:cNvPr id="25" name="Rectangle 24">
            <a:extLst>
              <a:ext uri="{FF2B5EF4-FFF2-40B4-BE49-F238E27FC236}">
                <a16:creationId xmlns:a16="http://schemas.microsoft.com/office/drawing/2014/main" id="{7864D7AF-2D9E-409C-A463-7E93A7E52D37}"/>
              </a:ext>
            </a:extLst>
          </p:cNvPr>
          <p:cNvSpPr>
            <a:spLocks noGrp="1"/>
          </p:cNvSpPr>
          <p:nvPr/>
        </p:nvSpPr>
        <p:spPr>
          <a:xfrm>
            <a:off x="609600" y="5829300"/>
            <a:ext cx="2190750" cy="266700"/>
          </a:xfrm>
          <a:prstGeom prst="rect">
            <a:avLst/>
          </a:prstGeom>
          <a:noFill/>
          <a:ln w="0">
            <a:noFill/>
            <a:prstDash val="solid"/>
          </a:ln>
        </p:spPr>
        <p:txBody>
          <a:bodyPr wrap="square" lIns="0" tIns="0" rIns="0" bIns="0" anchor="t">
            <a:normAutofit/>
          </a:bodyPr>
          <a:lstStyle>
            <a:defPPr algn="l">
              <a:defRPr sz="1600" b="1" i="0">
                <a:solidFill>
                  <a:srgbClr val="D4AF37"/>
                </a:solidFill>
                <a:latin typeface="Carlito"/>
                <a:ea typeface="Carlito"/>
                <a:cs typeface="Carlito"/>
              </a:defRPr>
            </a:defPPr>
            <a:lvl1pPr algn="l">
              <a:defRPr sz="1600" b="1" i="0">
                <a:solidFill>
                  <a:srgbClr val="D4AF37"/>
                </a:solidFill>
                <a:latin typeface="Carlito"/>
                <a:ea typeface="Carlito"/>
                <a:cs typeface="Carlito"/>
              </a:defRPr>
            </a:lvl1pPr>
            <a:lvl2pPr algn="l">
              <a:defRPr sz="1600" b="1" i="0">
                <a:solidFill>
                  <a:srgbClr val="D4AF37"/>
                </a:solidFill>
                <a:latin typeface="Carlito"/>
                <a:ea typeface="Carlito"/>
                <a:cs typeface="Carlito"/>
              </a:defRPr>
            </a:lvl2pPr>
            <a:lvl3pPr algn="l">
              <a:defRPr sz="1600" b="1" i="0">
                <a:solidFill>
                  <a:srgbClr val="D4AF37"/>
                </a:solidFill>
                <a:latin typeface="Carlito"/>
                <a:ea typeface="Carlito"/>
                <a:cs typeface="Carlito"/>
              </a:defRPr>
            </a:lvl3pPr>
            <a:lvl4pPr algn="l">
              <a:defRPr sz="1600" b="1" i="0">
                <a:solidFill>
                  <a:srgbClr val="D4AF37"/>
                </a:solidFill>
                <a:latin typeface="Carlito"/>
                <a:ea typeface="Carlito"/>
                <a:cs typeface="Carlito"/>
              </a:defRPr>
            </a:lvl4pPr>
            <a:lvl5pPr algn="l">
              <a:defRPr sz="1600" b="1" i="0">
                <a:solidFill>
                  <a:srgbClr val="D4AF37"/>
                </a:solidFill>
                <a:latin typeface="Carlito"/>
                <a:ea typeface="Carlito"/>
                <a:cs typeface="Carlito"/>
              </a:defRPr>
            </a:lvl5pPr>
            <a:lvl6pPr algn="l">
              <a:defRPr sz="1600" b="1" i="0">
                <a:solidFill>
                  <a:srgbClr val="D4AF37"/>
                </a:solidFill>
                <a:latin typeface="Carlito"/>
                <a:ea typeface="Carlito"/>
                <a:cs typeface="Carlito"/>
              </a:defRPr>
            </a:lvl6pPr>
            <a:lvl7pPr algn="l">
              <a:defRPr sz="1600" b="1" i="0">
                <a:solidFill>
                  <a:srgbClr val="D4AF37"/>
                </a:solidFill>
                <a:latin typeface="Carlito"/>
                <a:ea typeface="Carlito"/>
                <a:cs typeface="Carlito"/>
              </a:defRPr>
            </a:lvl7pPr>
            <a:lvl8pPr algn="l">
              <a:defRPr sz="1600" b="1" i="0">
                <a:solidFill>
                  <a:srgbClr val="D4AF37"/>
                </a:solidFill>
                <a:latin typeface="Carlito"/>
                <a:ea typeface="Carlito"/>
                <a:cs typeface="Carlito"/>
              </a:defRPr>
            </a:lvl8pPr>
            <a:lvl9pPr algn="l">
              <a:defRPr sz="1600" b="1" i="0">
                <a:solidFill>
                  <a:srgbClr val="D4AF37"/>
                </a:solidFill>
                <a:latin typeface="Carlito"/>
                <a:ea typeface="Carlito"/>
                <a:cs typeface="Carlito"/>
              </a:defRPr>
            </a:lvl9pPr>
          </a:lstStyle>
          <a:p>
            <a:pPr algn="l">
              <a:defRPr sz="1600" b="1" i="0">
                <a:solidFill>
                  <a:srgbClr val="D4AF37"/>
                </a:solidFill>
                <a:latin typeface="Carlito"/>
                <a:ea typeface="Carlito"/>
                <a:cs typeface="Carlito"/>
              </a:defRPr>
            </a:pPr>
            <a:r>
              <a:rPr sz="1600" b="1" i="0">
                <a:solidFill>
                  <a:srgbClr val="D4AF37"/>
                </a:solidFill>
                <a:latin typeface="Carlito"/>
                <a:ea typeface="Carlito"/>
                <a:cs typeface="Carlito"/>
              </a:rPr>
              <a:t>Next analytical step</a:t>
            </a:r>
          </a:p>
        </p:txBody>
      </p:sp>
      <p:sp>
        <p:nvSpPr>
          <p:cNvPr id="26" name="Rectangle 25">
            <a:extLst>
              <a:ext uri="{FF2B5EF4-FFF2-40B4-BE49-F238E27FC236}">
                <a16:creationId xmlns:a16="http://schemas.microsoft.com/office/drawing/2014/main" id="{A2992A5F-6B01-4A26-9983-7BCF846081A3}"/>
              </a:ext>
            </a:extLst>
          </p:cNvPr>
          <p:cNvSpPr>
            <a:spLocks noGrp="1"/>
          </p:cNvSpPr>
          <p:nvPr/>
        </p:nvSpPr>
        <p:spPr>
          <a:xfrm>
            <a:off x="2857500" y="5810250"/>
            <a:ext cx="7810500" cy="457200"/>
          </a:xfrm>
          <a:prstGeom prst="rect">
            <a:avLst/>
          </a:prstGeom>
          <a:noFill/>
          <a:ln w="0">
            <a:noFill/>
            <a:prstDash val="solid"/>
          </a:ln>
        </p:spPr>
        <p:txBody>
          <a:bodyPr wrap="square" lIns="0" tIns="0" rIns="0" bIns="0" anchor="t">
            <a:normAutofit fontScale="93750"/>
          </a:bodyPr>
          <a:lstStyle>
            <a:defPPr algn="l">
              <a:defRPr sz="1600" b="0" i="0">
                <a:solidFill>
                  <a:srgbClr val="FFFFFF"/>
                </a:solidFill>
                <a:latin typeface="Carlito"/>
                <a:ea typeface="Carlito"/>
                <a:cs typeface="Carlito"/>
              </a:defRPr>
            </a:defPPr>
            <a:lvl1pPr algn="l">
              <a:defRPr sz="1600" b="0" i="0">
                <a:solidFill>
                  <a:srgbClr val="FFFFFF"/>
                </a:solidFill>
                <a:latin typeface="Carlito"/>
                <a:ea typeface="Carlito"/>
                <a:cs typeface="Carlito"/>
              </a:defRPr>
            </a:lvl1pPr>
            <a:lvl2pPr algn="l">
              <a:defRPr sz="1600" b="0" i="0">
                <a:solidFill>
                  <a:srgbClr val="FFFFFF"/>
                </a:solidFill>
                <a:latin typeface="Carlito"/>
                <a:ea typeface="Carlito"/>
                <a:cs typeface="Carlito"/>
              </a:defRPr>
            </a:lvl2pPr>
            <a:lvl3pPr algn="l">
              <a:defRPr sz="1600" b="0" i="0">
                <a:solidFill>
                  <a:srgbClr val="FFFFFF"/>
                </a:solidFill>
                <a:latin typeface="Carlito"/>
                <a:ea typeface="Carlito"/>
                <a:cs typeface="Carlito"/>
              </a:defRPr>
            </a:lvl3pPr>
            <a:lvl4pPr algn="l">
              <a:defRPr sz="1600" b="0" i="0">
                <a:solidFill>
                  <a:srgbClr val="FFFFFF"/>
                </a:solidFill>
                <a:latin typeface="Carlito"/>
                <a:ea typeface="Carlito"/>
                <a:cs typeface="Carlito"/>
              </a:defRPr>
            </a:lvl4pPr>
            <a:lvl5pPr algn="l">
              <a:defRPr sz="1600" b="0" i="0">
                <a:solidFill>
                  <a:srgbClr val="FFFFFF"/>
                </a:solidFill>
                <a:latin typeface="Carlito"/>
                <a:ea typeface="Carlito"/>
                <a:cs typeface="Carlito"/>
              </a:defRPr>
            </a:lvl5pPr>
            <a:lvl6pPr algn="l">
              <a:defRPr sz="1600" b="0" i="0">
                <a:solidFill>
                  <a:srgbClr val="FFFFFF"/>
                </a:solidFill>
                <a:latin typeface="Carlito"/>
                <a:ea typeface="Carlito"/>
                <a:cs typeface="Carlito"/>
              </a:defRPr>
            </a:lvl6pPr>
            <a:lvl7pPr algn="l">
              <a:defRPr sz="1600" b="0" i="0">
                <a:solidFill>
                  <a:srgbClr val="FFFFFF"/>
                </a:solidFill>
                <a:latin typeface="Carlito"/>
                <a:ea typeface="Carlito"/>
                <a:cs typeface="Carlito"/>
              </a:defRPr>
            </a:lvl7pPr>
            <a:lvl8pPr algn="l">
              <a:defRPr sz="1600" b="0" i="0">
                <a:solidFill>
                  <a:srgbClr val="FFFFFF"/>
                </a:solidFill>
                <a:latin typeface="Carlito"/>
                <a:ea typeface="Carlito"/>
                <a:cs typeface="Carlito"/>
              </a:defRPr>
            </a:lvl8pPr>
            <a:lvl9pPr algn="l">
              <a:defRPr sz="1600" b="0" i="0">
                <a:solidFill>
                  <a:srgbClr val="FFFFFF"/>
                </a:solidFill>
                <a:latin typeface="Carlito"/>
                <a:ea typeface="Carlito"/>
                <a:cs typeface="Carlito"/>
              </a:defRPr>
            </a:lvl9pPr>
          </a:lstStyle>
          <a:p>
            <a:pPr algn="l">
              <a:defRPr sz="1600" b="0" i="0">
                <a:solidFill>
                  <a:srgbClr val="FFFFFF"/>
                </a:solidFill>
                <a:latin typeface="Carlito"/>
                <a:ea typeface="Carlito"/>
                <a:cs typeface="Carlito"/>
              </a:defRPr>
            </a:pPr>
            <a:r>
              <a:rPr sz="1600" b="0" i="0">
                <a:solidFill>
                  <a:srgbClr val="FFFFFF"/>
                </a:solidFill>
                <a:latin typeface="Carlito"/>
                <a:ea typeface="Carlito"/>
                <a:cs typeface="Carlito"/>
              </a:rPr>
              <a:t>Add current athlete-development, investment and competition data to test which factors are associated with medal outcomes.</a:t>
            </a:r>
          </a:p>
        </p:txBody>
      </p:sp>
      <p:sp>
        <p:nvSpPr>
          <p:cNvPr id="27" name="Rectangle 26">
            <a:extLst>
              <a:ext uri="{FF2B5EF4-FFF2-40B4-BE49-F238E27FC236}">
                <a16:creationId xmlns:a16="http://schemas.microsoft.com/office/drawing/2014/main" id="{0E5CB963-EB95-4E91-8856-CE9C95255106}"/>
              </a:ext>
            </a:extLst>
          </p:cNvPr>
          <p:cNvSpPr>
            <a:spLocks noGrp="1"/>
          </p:cNvSpPr>
          <p:nvPr/>
        </p:nvSpPr>
        <p:spPr>
          <a:xfrm>
            <a:off x="609600" y="6515100"/>
            <a:ext cx="4953000" cy="171450"/>
          </a:xfrm>
          <a:prstGeom prst="rect">
            <a:avLst/>
          </a:prstGeom>
          <a:noFill/>
          <a:ln w="0">
            <a:noFill/>
            <a:prstDash val="solid"/>
          </a:ln>
        </p:spPr>
        <p:txBody>
          <a:bodyPr wrap="square" lIns="0" tIns="0" rIns="0" bIns="0" anchor="t">
            <a:normAutofit/>
          </a:bodyPr>
          <a:lstStyle>
            <a:defPPr algn="l">
              <a:defRPr sz="900" b="0" i="0">
                <a:solidFill>
                  <a:srgbClr val="CBD6E2"/>
                </a:solidFill>
                <a:latin typeface="Carlito"/>
                <a:ea typeface="Carlito"/>
                <a:cs typeface="Carlito"/>
              </a:defRPr>
            </a:defPPr>
            <a:lvl1pPr algn="l">
              <a:defRPr sz="900" b="0" i="0">
                <a:solidFill>
                  <a:srgbClr val="CBD6E2"/>
                </a:solidFill>
                <a:latin typeface="Carlito"/>
                <a:ea typeface="Carlito"/>
                <a:cs typeface="Carlito"/>
              </a:defRPr>
            </a:lvl1pPr>
            <a:lvl2pPr algn="l">
              <a:defRPr sz="900" b="0" i="0">
                <a:solidFill>
                  <a:srgbClr val="CBD6E2"/>
                </a:solidFill>
                <a:latin typeface="Carlito"/>
                <a:ea typeface="Carlito"/>
                <a:cs typeface="Carlito"/>
              </a:defRPr>
            </a:lvl2pPr>
            <a:lvl3pPr algn="l">
              <a:defRPr sz="900" b="0" i="0">
                <a:solidFill>
                  <a:srgbClr val="CBD6E2"/>
                </a:solidFill>
                <a:latin typeface="Carlito"/>
                <a:ea typeface="Carlito"/>
                <a:cs typeface="Carlito"/>
              </a:defRPr>
            </a:lvl3pPr>
            <a:lvl4pPr algn="l">
              <a:defRPr sz="900" b="0" i="0">
                <a:solidFill>
                  <a:srgbClr val="CBD6E2"/>
                </a:solidFill>
                <a:latin typeface="Carlito"/>
                <a:ea typeface="Carlito"/>
                <a:cs typeface="Carlito"/>
              </a:defRPr>
            </a:lvl4pPr>
            <a:lvl5pPr algn="l">
              <a:defRPr sz="900" b="0" i="0">
                <a:solidFill>
                  <a:srgbClr val="CBD6E2"/>
                </a:solidFill>
                <a:latin typeface="Carlito"/>
                <a:ea typeface="Carlito"/>
                <a:cs typeface="Carlito"/>
              </a:defRPr>
            </a:lvl5pPr>
            <a:lvl6pPr algn="l">
              <a:defRPr sz="900" b="0" i="0">
                <a:solidFill>
                  <a:srgbClr val="CBD6E2"/>
                </a:solidFill>
                <a:latin typeface="Carlito"/>
                <a:ea typeface="Carlito"/>
                <a:cs typeface="Carlito"/>
              </a:defRPr>
            </a:lvl6pPr>
            <a:lvl7pPr algn="l">
              <a:defRPr sz="900" b="0" i="0">
                <a:solidFill>
                  <a:srgbClr val="CBD6E2"/>
                </a:solidFill>
                <a:latin typeface="Carlito"/>
                <a:ea typeface="Carlito"/>
                <a:cs typeface="Carlito"/>
              </a:defRPr>
            </a:lvl7pPr>
            <a:lvl8pPr algn="l">
              <a:defRPr sz="900" b="0" i="0">
                <a:solidFill>
                  <a:srgbClr val="CBD6E2"/>
                </a:solidFill>
                <a:latin typeface="Carlito"/>
                <a:ea typeface="Carlito"/>
                <a:cs typeface="Carlito"/>
              </a:defRPr>
            </a:lvl8pPr>
            <a:lvl9pPr algn="l">
              <a:defRPr sz="900" b="0" i="0">
                <a:solidFill>
                  <a:srgbClr val="CBD6E2"/>
                </a:solidFill>
                <a:latin typeface="Carlito"/>
                <a:ea typeface="Carlito"/>
                <a:cs typeface="Carlito"/>
              </a:defRPr>
            </a:lvl9pPr>
          </a:lstStyle>
          <a:p>
            <a:pPr algn="l">
              <a:defRPr sz="900" b="0" i="0">
                <a:solidFill>
                  <a:srgbClr val="CBD6E2"/>
                </a:solidFill>
                <a:latin typeface="Carlito"/>
                <a:ea typeface="Carlito"/>
                <a:cs typeface="Carlito"/>
              </a:defRPr>
            </a:pPr>
            <a:r>
              <a:rPr sz="900" b="0" i="0">
                <a:solidFill>
                  <a:srgbClr val="CBD6E2"/>
                </a:solidFill>
                <a:latin typeface="Carlito"/>
                <a:ea typeface="Carlito"/>
                <a:cs typeface="Carlito"/>
              </a:rPr>
              <a:t>ASEAN Olympic Performance Intelligence System</a:t>
            </a:r>
          </a:p>
        </p:txBody>
      </p:sp>
      <p:sp>
        <p:nvSpPr>
          <p:cNvPr id="28" name="Rectangle 27">
            <a:extLst>
              <a:ext uri="{FF2B5EF4-FFF2-40B4-BE49-F238E27FC236}">
                <a16:creationId xmlns:a16="http://schemas.microsoft.com/office/drawing/2014/main" id="{82DB0F90-97E4-4045-B852-DBAB2ABCB2A0}"/>
              </a:ext>
            </a:extLst>
          </p:cNvPr>
          <p:cNvSpPr>
            <a:spLocks noGrp="1"/>
          </p:cNvSpPr>
          <p:nvPr/>
        </p:nvSpPr>
        <p:spPr>
          <a:xfrm>
            <a:off x="11049000" y="6486525"/>
            <a:ext cx="533400" cy="190500"/>
          </a:xfrm>
          <a:prstGeom prst="rect">
            <a:avLst/>
          </a:prstGeom>
          <a:noFill/>
          <a:ln w="0">
            <a:noFill/>
            <a:prstDash val="solid"/>
          </a:ln>
        </p:spPr>
        <p:txBody>
          <a:bodyPr wrap="square" lIns="0" tIns="0" rIns="0" bIns="0" anchor="t">
            <a:normAutofit/>
          </a:bodyPr>
          <a:lstStyle>
            <a:defPPr algn="r">
              <a:defRPr sz="1000" b="1" i="0">
                <a:solidFill>
                  <a:srgbClr val="D4AF37"/>
                </a:solidFill>
                <a:latin typeface="Carlito"/>
                <a:ea typeface="Carlito"/>
                <a:cs typeface="Carlito"/>
              </a:defRPr>
            </a:defPPr>
            <a:lvl1pPr algn="r">
              <a:defRPr sz="1000" b="1" i="0">
                <a:solidFill>
                  <a:srgbClr val="D4AF37"/>
                </a:solidFill>
                <a:latin typeface="Carlito"/>
                <a:ea typeface="Carlito"/>
                <a:cs typeface="Carlito"/>
              </a:defRPr>
            </a:lvl1pPr>
            <a:lvl2pPr algn="r">
              <a:defRPr sz="1000" b="1" i="0">
                <a:solidFill>
                  <a:srgbClr val="D4AF37"/>
                </a:solidFill>
                <a:latin typeface="Carlito"/>
                <a:ea typeface="Carlito"/>
                <a:cs typeface="Carlito"/>
              </a:defRPr>
            </a:lvl2pPr>
            <a:lvl3pPr algn="r">
              <a:defRPr sz="1000" b="1" i="0">
                <a:solidFill>
                  <a:srgbClr val="D4AF37"/>
                </a:solidFill>
                <a:latin typeface="Carlito"/>
                <a:ea typeface="Carlito"/>
                <a:cs typeface="Carlito"/>
              </a:defRPr>
            </a:lvl3pPr>
            <a:lvl4pPr algn="r">
              <a:defRPr sz="1000" b="1" i="0">
                <a:solidFill>
                  <a:srgbClr val="D4AF37"/>
                </a:solidFill>
                <a:latin typeface="Carlito"/>
                <a:ea typeface="Carlito"/>
                <a:cs typeface="Carlito"/>
              </a:defRPr>
            </a:lvl4pPr>
            <a:lvl5pPr algn="r">
              <a:defRPr sz="1000" b="1" i="0">
                <a:solidFill>
                  <a:srgbClr val="D4AF37"/>
                </a:solidFill>
                <a:latin typeface="Carlito"/>
                <a:ea typeface="Carlito"/>
                <a:cs typeface="Carlito"/>
              </a:defRPr>
            </a:lvl5pPr>
            <a:lvl6pPr algn="r">
              <a:defRPr sz="1000" b="1" i="0">
                <a:solidFill>
                  <a:srgbClr val="D4AF37"/>
                </a:solidFill>
                <a:latin typeface="Carlito"/>
                <a:ea typeface="Carlito"/>
                <a:cs typeface="Carlito"/>
              </a:defRPr>
            </a:lvl6pPr>
            <a:lvl7pPr algn="r">
              <a:defRPr sz="1000" b="1" i="0">
                <a:solidFill>
                  <a:srgbClr val="D4AF37"/>
                </a:solidFill>
                <a:latin typeface="Carlito"/>
                <a:ea typeface="Carlito"/>
                <a:cs typeface="Carlito"/>
              </a:defRPr>
            </a:lvl7pPr>
            <a:lvl8pPr algn="r">
              <a:defRPr sz="1000" b="1" i="0">
                <a:solidFill>
                  <a:srgbClr val="D4AF37"/>
                </a:solidFill>
                <a:latin typeface="Carlito"/>
                <a:ea typeface="Carlito"/>
                <a:cs typeface="Carlito"/>
              </a:defRPr>
            </a:lvl8pPr>
            <a:lvl9pPr algn="r">
              <a:defRPr sz="1000" b="1" i="0">
                <a:solidFill>
                  <a:srgbClr val="D4AF37"/>
                </a:solidFill>
                <a:latin typeface="Carlito"/>
                <a:ea typeface="Carlito"/>
                <a:cs typeface="Carlito"/>
              </a:defRPr>
            </a:lvl9pPr>
          </a:lstStyle>
          <a:p>
            <a:pPr algn="r">
              <a:defRPr sz="1000" b="1" i="0">
                <a:solidFill>
                  <a:srgbClr val="D4AF37"/>
                </a:solidFill>
                <a:latin typeface="Carlito"/>
                <a:ea typeface="Carlito"/>
                <a:cs typeface="Carlito"/>
              </a:defRPr>
            </a:pPr>
            <a:r>
              <a:rPr sz="1000" b="1" i="0">
                <a:solidFill>
                  <a:srgbClr val="D4AF37"/>
                </a:solidFill>
                <a:latin typeface="Carlito"/>
                <a:ea typeface="Carlito"/>
                <a:cs typeface="Carlito"/>
              </a:rPr>
              <a:t>09</a:t>
            </a:r>
          </a:p>
        </p:txBody>
      </p:sp>
    </p:spTree>
    <p:extLst>
      <p:ext uri="{BB962C8B-B14F-4D97-AF65-F5344CB8AC3E}">
        <p14:creationId xmlns:p14="http://schemas.microsoft.com/office/powerpoint/2010/main" val="114191853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1483</Words>
  <Application>Microsoft Office PowerPoint</Application>
  <DocSecurity>0</DocSecurity>
  <PresentationFormat>Widescreen</PresentationFormat>
  <Paragraphs>157</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Aptos</vt:lpstr>
      <vt:lpstr>Carlito</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Terence Quek</cp:lastModifiedBy>
  <cp:revision>1</cp:revision>
  <dcterms:created xsi:type="dcterms:W3CDTF">2026-10-26T08:38:14Z</dcterms:created>
  <dcterms:modified xsi:type="dcterms:W3CDTF">2026-10-27T04:53:45Z</dcterms:modified>
</cp:coreProperties>
</file>